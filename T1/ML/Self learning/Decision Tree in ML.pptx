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320" r:id="rId3"/>
    <p:sldId id="328" r:id="rId4"/>
    <p:sldId id="319" r:id="rId5"/>
    <p:sldId id="314" r:id="rId6"/>
    <p:sldId id="322" r:id="rId7"/>
    <p:sldId id="321" r:id="rId8"/>
    <p:sldId id="323" r:id="rId9"/>
    <p:sldId id="324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9" r:id="rId20"/>
    <p:sldId id="338" r:id="rId21"/>
    <p:sldId id="34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iyush Rai" initials="PR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CC33"/>
    <a:srgbClr val="060A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9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92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079FB-1158-44A5-81BA-70742E8B8B87}" type="datetimeFigureOut">
              <a:rPr lang="en-IN" smtClean="0"/>
              <a:pPr/>
              <a:t>27/02/25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AC2274-7721-4180-95CA-BE03DFC6FB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326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502E8B-E765-4F58-A257-0E1E2EC1E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FB0D9F0-86A6-48DF-B30E-B84487765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67E9CD7-9DDA-4CF9-AA93-4DE94EF05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9955A-2DC5-4511-A53D-598F496EDEEE}" type="datetime1">
              <a:rPr lang="en-IN" smtClean="0"/>
              <a:pPr/>
              <a:t>27/02/25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5422E9-1D05-4AD0-BFC0-2527F712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BFB85C-0DA1-4C64-8F01-7A91FEF1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45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5BDEA5-031B-494A-B467-EFFEB2766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BAD22B5-97C1-4FAC-9285-AA741BFE1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85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4027FE-0F44-497F-BF33-83303D14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96ABBA3-F0E8-4C36-916A-E54529F14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6A16D18-BB11-4BFD-9E7A-8DFB408A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D7B4F-85E2-411C-AFB6-1A374A5D39B8}" type="datetime1">
              <a:rPr lang="en-IN" smtClean="0"/>
              <a:pPr/>
              <a:t>27/02/25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533F1CC-7685-4FAD-B5F7-982834C4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E65F9D9-79E8-4C23-9200-19A6857E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195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5A6550-E91F-4D00-83FE-943751994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4E5A4F-9318-4630-A9C7-16E2FD6AF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795E241-2474-417E-B544-69CF28611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49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BF0B88-78D9-4019-8BFF-8F7C0DCD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60B707-0551-48AD-BAF3-CE20FCE94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A6066B9-A417-4624-91D6-6D6295C21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B5A6971-440D-4631-80F7-B3123104A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D684CD4-B32C-429C-8FDB-C3993DE51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2C11BC8-FB4C-4B9C-8A71-BB4D1F6A2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1E0-72C8-4CC8-AE53-DCEAAFB58B8B}" type="datetime1">
              <a:rPr lang="en-IN" smtClean="0"/>
              <a:pPr/>
              <a:t>27/02/25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783E117-C4A9-4FF3-9C91-FFD40695E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B29C272-E75C-4778-96BF-8B2BC996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606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DBDEF5-DE48-45E6-AB10-8EDCE19D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E021AE6-4821-4359-BA0A-71E21BF0B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9225-93B0-4D75-98A5-1AA74F5D545B}" type="datetime1">
              <a:rPr lang="en-IN" smtClean="0"/>
              <a:pPr/>
              <a:t>27/02/25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C427195-022D-4F59-91AC-F6EF60F07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ABCDE4F-8C95-4584-8FBF-AF73E2F5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3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F937068-89ED-42F9-9A72-92111C5A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F8A65-8968-44A1-8A19-3117F08B5A38}" type="datetime1">
              <a:rPr lang="en-IN" smtClean="0"/>
              <a:pPr/>
              <a:t>27/02/25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FD62B2C-1FE1-496D-9296-45C99FB4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FBFDE75-9B7A-49B3-9B56-475889999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04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1639A8-6449-4746-8F81-EF24B3122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88EEFD-9C86-41A8-9E20-FB51AE365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C7D5B7E-7597-4AD6-A029-CB20B9FBF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10E2B30-B4F2-4EC2-B501-40677FFA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3029C-FE30-49AA-946C-8160924AD21C}" type="datetime1">
              <a:rPr lang="en-IN" smtClean="0"/>
              <a:pPr/>
              <a:t>27/02/25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FD346B0-D5A7-4730-8667-0678E784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B353FD6-F916-41FC-BA8C-069D6DA0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53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09521F-28F4-406E-9485-88EB85F4D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B4819DE-9E94-437E-8A68-6E165BAA9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C872149-A870-4DC0-8F9C-DDB1FD582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FF4BED7-7934-4480-A6EE-DA8954235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F262-89E0-4714-A1CF-8A83C222FB9B}" type="datetime1">
              <a:rPr lang="en-IN" smtClean="0"/>
              <a:pPr/>
              <a:t>27/02/25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C7CB16A-A6D8-4778-B7F0-21B6BFD2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C254C42-23E8-4F2C-AC3E-A5BBDF4E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17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99F842-6D8B-4C86-8F39-4F97C9A08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B19E737-F70E-42FA-A4AC-876FA6F16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611A242-E710-4C98-92C7-184F6C186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AA5C-2D5F-4D58-9A50-D19B643441D4}" type="datetime1">
              <a:rPr lang="en-IN" smtClean="0"/>
              <a:pPr/>
              <a:t>27/02/25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4C3ABB8-F14F-4280-A105-4070853E6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CF30805-AFD9-468A-8350-47B0059B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91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553CE3C8-84F1-4290-9648-5C9E9A232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9CFA146-680D-4C44-80AE-61ACEA18E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12229F1-7D33-4055-BCFB-C0B4E177D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1576-788D-4E35-9930-DF0255718A2B}" type="datetime1">
              <a:rPr lang="en-IN" smtClean="0"/>
              <a:pPr/>
              <a:t>27/02/25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958B88A-8C21-46C7-8EDF-2F9AEE5A2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161208B-689D-4C89-B6D0-6D893F5C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702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B49AE5-850C-4D68-B1A0-D1411569DCF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313" y="5372525"/>
            <a:ext cx="1224973" cy="11663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7F7CEE4-2B80-48B3-9B66-3F5A2C62C75F}"/>
              </a:ext>
            </a:extLst>
          </p:cNvPr>
          <p:cNvSpPr txBox="1"/>
          <p:nvPr userDrawn="1"/>
        </p:nvSpPr>
        <p:spPr>
          <a:xfrm>
            <a:off x="10456460" y="6492875"/>
            <a:ext cx="173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accent4"/>
                </a:solidFill>
              </a:rPr>
              <a:t>CS771: Intro to ML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83DB4A9-B55E-4623-A2D9-A87B7B55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7CCFFDC-2115-4CD1-967C-545001D0D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9EF888-538C-4F90-BE4E-FDD77BCBC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76463-DA8A-478C-9FC8-00C83590963D}" type="datetime1">
              <a:rPr lang="en-IN" smtClean="0"/>
              <a:pPr/>
              <a:t>27/02/25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65CDA8E-891B-4E76-B24D-670B7EB40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FF6AB6D-2CD0-4185-A303-317BFF965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ED9D3-AF84-488D-8A6A-726D5349CDA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12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tags" Target="../tags/tag3.x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4.png"/><Relationship Id="rId1" Type="http://schemas.openxmlformats.org/officeDocument/2006/relationships/tags" Target="../tags/tag4.x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ecision_tree_learning" TargetMode="External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4.png"/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21.png"/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1" Type="http://schemas.openxmlformats.org/officeDocument/2006/relationships/tags" Target="../tags/tag11.xml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1" Type="http://schemas.openxmlformats.org/officeDocument/2006/relationships/tags" Target="../tags/tag12.xml"/><Relationship Id="rId2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1" Type="http://schemas.openxmlformats.org/officeDocument/2006/relationships/tags" Target="../tags/tag14.xml"/><Relationship Id="rId2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15.png"/><Relationship Id="rId1" Type="http://schemas.openxmlformats.org/officeDocument/2006/relationships/tags" Target="../tags/tag16.xml"/><Relationship Id="rId2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.png"/><Relationship Id="rId1" Type="http://schemas.openxmlformats.org/officeDocument/2006/relationships/tags" Target="../tags/tag18.xml"/><Relationship Id="rId2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1" Type="http://schemas.openxmlformats.org/officeDocument/2006/relationships/tags" Target="../tags/tag19.xml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E7AC89-BE04-43C0-8DE4-613238CF2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541" y="2247311"/>
            <a:ext cx="11492918" cy="1410758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Garamond" panose="02020404030301010803" pitchFamily="18" charset="0"/>
                <a:cs typeface="Aldhabi" panose="020B0604020202020204" pitchFamily="2" charset="-78"/>
              </a:rPr>
              <a:t/>
            </a:r>
            <a:br>
              <a:rPr lang="en-GB" b="1" dirty="0">
                <a:solidFill>
                  <a:schemeClr val="bg1"/>
                </a:solidFill>
                <a:latin typeface="Garamond" panose="02020404030301010803" pitchFamily="18" charset="0"/>
                <a:cs typeface="Aldhabi" panose="020B0604020202020204" pitchFamily="2" charset="-78"/>
              </a:rPr>
            </a:br>
            <a:r>
              <a:rPr lang="en-GB" b="1" dirty="0">
                <a:solidFill>
                  <a:schemeClr val="bg1"/>
                </a:solidFill>
                <a:latin typeface="Garamond" panose="02020404030301010803" pitchFamily="18" charset="0"/>
                <a:cs typeface="Aldhabi" panose="020B0604020202020204" pitchFamily="2" charset="-78"/>
              </a:rPr>
              <a:t/>
            </a:r>
            <a:br>
              <a:rPr lang="en-GB" b="1" dirty="0">
                <a:solidFill>
                  <a:schemeClr val="bg1"/>
                </a:solidFill>
                <a:latin typeface="Garamond" panose="02020404030301010803" pitchFamily="18" charset="0"/>
                <a:cs typeface="Aldhabi" panose="020B0604020202020204" pitchFamily="2" charset="-78"/>
              </a:rPr>
            </a:br>
            <a:r>
              <a:rPr lang="en-GB" sz="4800" b="1" dirty="0">
                <a:solidFill>
                  <a:schemeClr val="bg1"/>
                </a:solidFill>
                <a:latin typeface="Garamond" panose="02020404030301010803" pitchFamily="18" charset="0"/>
                <a:cs typeface="Aldhabi" panose="020B0604020202020204" pitchFamily="2" charset="-78"/>
              </a:rPr>
              <a:t/>
            </a:r>
            <a:br>
              <a:rPr lang="en-GB" sz="4800" b="1" dirty="0">
                <a:solidFill>
                  <a:schemeClr val="bg1"/>
                </a:solidFill>
                <a:latin typeface="Garamond" panose="02020404030301010803" pitchFamily="18" charset="0"/>
                <a:cs typeface="Aldhabi" panose="020B0604020202020204" pitchFamily="2" charset="-78"/>
              </a:rPr>
            </a:br>
            <a:r>
              <a:rPr lang="en-GB" sz="4800" b="1" dirty="0">
                <a:solidFill>
                  <a:schemeClr val="bg1"/>
                </a:solidFill>
                <a:latin typeface="Garamond" panose="02020404030301010803" pitchFamily="18" charset="0"/>
                <a:cs typeface="Aldhabi" panose="020B0604020202020204" pitchFamily="2" charset="-78"/>
              </a:rPr>
              <a:t>Learning using Decision Trees</a:t>
            </a:r>
            <a:endParaRPr lang="en-IN" sz="4800" b="1" dirty="0">
              <a:solidFill>
                <a:schemeClr val="bg1"/>
              </a:solidFill>
              <a:latin typeface="Garamond" panose="02020404030301010803" pitchFamily="18" charset="0"/>
              <a:cs typeface="Aldhabi" panose="020B0604020202020204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8A059B3-A292-45C9-BE13-9562DE36C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6763" y="4830266"/>
            <a:ext cx="6282137" cy="821886"/>
          </a:xfrm>
        </p:spPr>
        <p:txBody>
          <a:bodyPr>
            <a:noAutofit/>
          </a:bodyPr>
          <a:lstStyle/>
          <a:p>
            <a:endParaRPr lang="en-IN" sz="27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22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40"/>
    </mc:Choice>
    <mc:Fallback xmlns="">
      <p:transition spd="slow" advTm="1254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Decision Trees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2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5" name="Content Placeholder 2">
            <a:extLst>
              <a:ext uri="{FF2B5EF4-FFF2-40B4-BE49-F238E27FC236}">
                <a16:creationId xmlns:a16="http://schemas.microsoft.com/office/drawing/2014/main" xmlns="" id="{DB073934-0758-43B0-8270-D0FA7626E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740617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badi Extra Light" panose="020B0204020104020204" pitchFamily="34" charset="0"/>
              </a:rPr>
              <a:t>A Decision Tree (DT) defines a hierarchy of rules to make a prediction</a:t>
            </a: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Root and internal nodes test rules. Leaf nodes make predictions</a:t>
            </a:r>
          </a:p>
          <a:p>
            <a:pPr marL="0" indent="0">
              <a:buNone/>
            </a:pPr>
            <a:endParaRPr lang="en-GB" sz="9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Decision Tree (DT) learning is about learning such a tree from labeled data</a:t>
            </a: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11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1100" dirty="0">
              <a:latin typeface="Abadi Extra Light" panose="020B0204020104020204" pitchFamily="34" charset="0"/>
            </a:endParaRPr>
          </a:p>
        </p:txBody>
      </p:sp>
      <p:sp>
        <p:nvSpPr>
          <p:cNvPr id="63" name="AutoShape 2">
            <a:extLst>
              <a:ext uri="{FF2B5EF4-FFF2-40B4-BE49-F238E27FC236}">
                <a16:creationId xmlns:a16="http://schemas.microsoft.com/office/drawing/2014/main" xmlns="" id="{FD6E3656-0C94-4932-B9F3-D779659CE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353" y="1767110"/>
            <a:ext cx="1223962" cy="1221029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IN" altLang="en-US" sz="1600" dirty="0"/>
              <a:t>Body </a:t>
            </a:r>
          </a:p>
          <a:p>
            <a:pPr eaLnBrk="1" hangingPunct="1"/>
            <a:r>
              <a:rPr lang="en-IN" altLang="en-US" sz="1600" dirty="0"/>
              <a:t>temp.</a:t>
            </a:r>
          </a:p>
        </p:txBody>
      </p:sp>
      <p:cxnSp>
        <p:nvCxnSpPr>
          <p:cNvPr id="65" name="AutoShape 4">
            <a:extLst>
              <a:ext uri="{FF2B5EF4-FFF2-40B4-BE49-F238E27FC236}">
                <a16:creationId xmlns:a16="http://schemas.microsoft.com/office/drawing/2014/main" xmlns="" id="{34B63522-6AA6-4F98-B227-2E8EF8C9D3BE}"/>
              </a:ext>
            </a:extLst>
          </p:cNvPr>
          <p:cNvCxnSpPr>
            <a:cxnSpLocks noChangeShapeType="1"/>
            <a:stCxn id="63" idx="3"/>
          </p:cNvCxnSpPr>
          <p:nvPr/>
        </p:nvCxnSpPr>
        <p:spPr bwMode="auto">
          <a:xfrm>
            <a:off x="6937315" y="2377625"/>
            <a:ext cx="1555263" cy="610515"/>
          </a:xfrm>
          <a:prstGeom prst="bentConnector2">
            <a:avLst/>
          </a:prstGeom>
          <a:noFill/>
          <a:ln w="381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6" name="AutoShape 5">
            <a:extLst>
              <a:ext uri="{FF2B5EF4-FFF2-40B4-BE49-F238E27FC236}">
                <a16:creationId xmlns:a16="http://schemas.microsoft.com/office/drawing/2014/main" xmlns="" id="{115F95AC-0536-4C71-925A-EDEA86E96F52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4023860" y="2402367"/>
            <a:ext cx="1632446" cy="1128091"/>
          </a:xfrm>
          <a:prstGeom prst="bentConnector3">
            <a:avLst>
              <a:gd name="adj1" fmla="val 100269"/>
            </a:avLst>
          </a:prstGeom>
          <a:noFill/>
          <a:ln w="381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" name="AutoShape 10">
            <a:extLst>
              <a:ext uri="{FF2B5EF4-FFF2-40B4-BE49-F238E27FC236}">
                <a16:creationId xmlns:a16="http://schemas.microsoft.com/office/drawing/2014/main" xmlns="" id="{7B11D1DD-9197-4412-A878-39C3D463DE59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2872665" y="3943880"/>
            <a:ext cx="679218" cy="611089"/>
          </a:xfrm>
          <a:prstGeom prst="bentConnector2">
            <a:avLst/>
          </a:prstGeom>
          <a:noFill/>
          <a:ln w="381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2" name="AutoShape 11">
            <a:extLst>
              <a:ext uri="{FF2B5EF4-FFF2-40B4-BE49-F238E27FC236}">
                <a16:creationId xmlns:a16="http://schemas.microsoft.com/office/drawing/2014/main" xmlns="" id="{D009A30A-F8B2-4810-BC5A-9BA9F251A62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95836" y="3943881"/>
            <a:ext cx="553113" cy="611089"/>
          </a:xfrm>
          <a:prstGeom prst="bentConnector2">
            <a:avLst/>
          </a:prstGeom>
          <a:noFill/>
          <a:ln w="381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5" name="Rectangle 14">
            <a:extLst>
              <a:ext uri="{FF2B5EF4-FFF2-40B4-BE49-F238E27FC236}">
                <a16:creationId xmlns:a16="http://schemas.microsoft.com/office/drawing/2014/main" xmlns="" id="{297CC1E9-3DF1-4B76-8424-6AA4BCB65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3095" y="7123236"/>
            <a:ext cx="102269" cy="87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09" name="AutoShape 2">
            <a:extLst>
              <a:ext uri="{FF2B5EF4-FFF2-40B4-BE49-F238E27FC236}">
                <a16:creationId xmlns:a16="http://schemas.microsoft.com/office/drawing/2014/main" xmlns="" id="{04048551-39DF-4071-9DF0-DD5F3C210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064" y="3509550"/>
            <a:ext cx="1223962" cy="1221029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IN" altLang="en-US" sz="1600" dirty="0"/>
              <a:t>Gives </a:t>
            </a:r>
          </a:p>
          <a:p>
            <a:pPr eaLnBrk="1" hangingPunct="1"/>
            <a:r>
              <a:rPr lang="en-IN" altLang="en-US" sz="1600" dirty="0"/>
              <a:t>birth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9F6C746-2B6F-4F18-906E-40F8451B9490}"/>
              </a:ext>
            </a:extLst>
          </p:cNvPr>
          <p:cNvSpPr txBox="1"/>
          <p:nvPr/>
        </p:nvSpPr>
        <p:spPr>
          <a:xfrm>
            <a:off x="7273517" y="2353429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Cold</a:t>
            </a:r>
          </a:p>
        </p:txBody>
      </p:sp>
      <p:sp>
        <p:nvSpPr>
          <p:cNvPr id="157" name="AutoShape 7">
            <a:extLst>
              <a:ext uri="{FF2B5EF4-FFF2-40B4-BE49-F238E27FC236}">
                <a16:creationId xmlns:a16="http://schemas.microsoft.com/office/drawing/2014/main" xmlns="" id="{00365FC1-7474-4AF4-88CC-67C882F5C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5844" y="3012336"/>
            <a:ext cx="1508502" cy="5452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IN" altLang="en-US" dirty="0"/>
              <a:t>Non-mammal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xmlns="" id="{6D1FCE40-7965-41B1-871F-1AEF0EF04F15}"/>
              </a:ext>
            </a:extLst>
          </p:cNvPr>
          <p:cNvSpPr txBox="1"/>
          <p:nvPr/>
        </p:nvSpPr>
        <p:spPr>
          <a:xfrm>
            <a:off x="2895105" y="3913639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Yes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xmlns="" id="{60CE3EC7-4995-4871-A92F-66637A95D4A6}"/>
              </a:ext>
            </a:extLst>
          </p:cNvPr>
          <p:cNvSpPr txBox="1"/>
          <p:nvPr/>
        </p:nvSpPr>
        <p:spPr>
          <a:xfrm>
            <a:off x="4593375" y="3892410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</a:t>
            </a:r>
          </a:p>
        </p:txBody>
      </p:sp>
      <p:sp>
        <p:nvSpPr>
          <p:cNvPr id="160" name="AutoShape 7">
            <a:extLst>
              <a:ext uri="{FF2B5EF4-FFF2-40B4-BE49-F238E27FC236}">
                <a16:creationId xmlns:a16="http://schemas.microsoft.com/office/drawing/2014/main" xmlns="" id="{0B7CFDFC-0899-412D-8115-8D8BE85CC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6906" y="4550321"/>
            <a:ext cx="1508502" cy="5452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IN" altLang="en-US" dirty="0"/>
              <a:t>Non-mammal</a:t>
            </a:r>
          </a:p>
        </p:txBody>
      </p:sp>
      <p:sp>
        <p:nvSpPr>
          <p:cNvPr id="161" name="AutoShape 7">
            <a:extLst>
              <a:ext uri="{FF2B5EF4-FFF2-40B4-BE49-F238E27FC236}">
                <a16:creationId xmlns:a16="http://schemas.microsoft.com/office/drawing/2014/main" xmlns="" id="{B988A67E-2E67-449E-A55E-4F5C9D13E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8413" y="4597541"/>
            <a:ext cx="1508502" cy="5452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IN" altLang="en-US" dirty="0"/>
              <a:t>    Mammal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7E8061DD-46D5-43A1-A8C0-0715CE02D39D}"/>
              </a:ext>
            </a:extLst>
          </p:cNvPr>
          <p:cNvSpPr txBox="1"/>
          <p:nvPr/>
        </p:nvSpPr>
        <p:spPr>
          <a:xfrm>
            <a:off x="5021159" y="1616917"/>
            <a:ext cx="1186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00FF"/>
                </a:solidFill>
              </a:rPr>
              <a:t>Root Node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xmlns="" id="{890C4BE1-66DF-4707-AFBA-F263DEC7BF8F}"/>
              </a:ext>
            </a:extLst>
          </p:cNvPr>
          <p:cNvSpPr txBox="1"/>
          <p:nvPr/>
        </p:nvSpPr>
        <p:spPr>
          <a:xfrm>
            <a:off x="4023859" y="3178421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00FF"/>
                </a:solidFill>
              </a:rPr>
              <a:t>An Internal Node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xmlns="" id="{176386BA-071D-4130-AB9F-EE8E4E52A22D}"/>
              </a:ext>
            </a:extLst>
          </p:cNvPr>
          <p:cNvSpPr txBox="1"/>
          <p:nvPr/>
        </p:nvSpPr>
        <p:spPr>
          <a:xfrm>
            <a:off x="4650258" y="2385073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Warm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xmlns="" id="{53D11050-9A50-49CB-B340-850E09D03F48}"/>
              </a:ext>
            </a:extLst>
          </p:cNvPr>
          <p:cNvSpPr txBox="1"/>
          <p:nvPr/>
        </p:nvSpPr>
        <p:spPr>
          <a:xfrm>
            <a:off x="9084346" y="3267392"/>
            <a:ext cx="1324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00FF"/>
                </a:solidFill>
              </a:rPr>
              <a:t>A Leaf Node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900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119"/>
    </mc:Choice>
    <mc:Fallback xmlns="">
      <p:transition spd="slow" advTm="1301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uiExpand="1" build="p"/>
      <p:bldP spid="63" grpId="0" animBg="1"/>
      <p:bldP spid="109" grpId="0" animBg="1"/>
      <p:bldP spid="32" grpId="0"/>
      <p:bldP spid="157" grpId="0" animBg="1"/>
      <p:bldP spid="158" grpId="0"/>
      <p:bldP spid="159" grpId="0"/>
      <p:bldP spid="160" grpId="0" animBg="1"/>
      <p:bldP spid="161" grpId="0" animBg="1"/>
      <p:bldP spid="33" grpId="0"/>
      <p:bldP spid="162" grpId="0"/>
      <p:bldP spid="163" grpId="0"/>
      <p:bldP spid="16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A decision tree friendly problem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3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906526" y="2365953"/>
            <a:ext cx="4458323" cy="3086531"/>
          </a:xfrm>
        </p:spPr>
      </p:pic>
      <p:sp>
        <p:nvSpPr>
          <p:cNvPr id="6" name="TextBox 5"/>
          <p:cNvSpPr txBox="1"/>
          <p:nvPr/>
        </p:nvSpPr>
        <p:spPr>
          <a:xfrm>
            <a:off x="1054444" y="1556951"/>
            <a:ext cx="7463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Loan approval prediction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167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039"/>
    </mc:Choice>
    <mc:Fallback xmlns="">
      <p:transition spd="slow" advTm="104039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20">
            <a:extLst>
              <a:ext uri="{FF2B5EF4-FFF2-40B4-BE49-F238E27FC236}">
                <a16:creationId xmlns:a16="http://schemas.microsoft.com/office/drawing/2014/main" xmlns="" id="{1B288B9E-4B30-4C22-9AEC-3A0D8126FFFA}"/>
              </a:ext>
            </a:extLst>
          </p:cNvPr>
          <p:cNvGrpSpPr/>
          <p:nvPr/>
        </p:nvGrpSpPr>
        <p:grpSpPr>
          <a:xfrm>
            <a:off x="4386092" y="2384154"/>
            <a:ext cx="4451759" cy="3688126"/>
            <a:chOff x="687413" y="3948021"/>
            <a:chExt cx="3006781" cy="2491012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xmlns="" id="{90A9A383-ADDA-46B9-AC71-4AD5468D39E5}"/>
                </a:ext>
              </a:extLst>
            </p:cNvPr>
            <p:cNvGrpSpPr/>
            <p:nvPr/>
          </p:nvGrpSpPr>
          <p:grpSpPr>
            <a:xfrm>
              <a:off x="687413" y="3948021"/>
              <a:ext cx="3006781" cy="2491012"/>
              <a:chOff x="481137" y="3535052"/>
              <a:chExt cx="3006781" cy="2491012"/>
            </a:xfrm>
          </p:grpSpPr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xmlns="" id="{A2108E22-22E4-46D8-8C1E-E480DFE8C2A0}"/>
                  </a:ext>
                </a:extLst>
              </p:cNvPr>
              <p:cNvCxnSpPr/>
              <p:nvPr/>
            </p:nvCxnSpPr>
            <p:spPr>
              <a:xfrm>
                <a:off x="678729" y="3535052"/>
                <a:ext cx="0" cy="249101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xmlns="" id="{17829848-8B1A-4B1A-98BB-10C0C84DAB36}"/>
                  </a:ext>
                </a:extLst>
              </p:cNvPr>
              <p:cNvCxnSpPr/>
              <p:nvPr/>
            </p:nvCxnSpPr>
            <p:spPr>
              <a:xfrm>
                <a:off x="481137" y="5854045"/>
                <a:ext cx="300678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xmlns="" id="{EF809C50-66D2-4C6D-A707-AE29B6646F51}"/>
                </a:ext>
              </a:extLst>
            </p:cNvPr>
            <p:cNvSpPr/>
            <p:nvPr/>
          </p:nvSpPr>
          <p:spPr>
            <a:xfrm>
              <a:off x="1058239" y="4009422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xmlns="" id="{59104C0F-262A-452D-A012-B1F11FD3D179}"/>
                </a:ext>
              </a:extLst>
            </p:cNvPr>
            <p:cNvSpPr/>
            <p:nvPr/>
          </p:nvSpPr>
          <p:spPr>
            <a:xfrm>
              <a:off x="1921571" y="4016132"/>
              <a:ext cx="190835" cy="190835"/>
            </a:xfrm>
            <a:prstGeom prst="ellipse">
              <a:avLst/>
            </a:prstGeom>
            <a:solidFill>
              <a:srgbClr val="2ECC7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xmlns="" id="{FF94CA64-F87E-48F3-953E-916715AF4DAE}"/>
                </a:ext>
              </a:extLst>
            </p:cNvPr>
            <p:cNvSpPr/>
            <p:nvPr/>
          </p:nvSpPr>
          <p:spPr>
            <a:xfrm>
              <a:off x="1446837" y="4456201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xmlns="" id="{BF27A722-541F-4097-AA6E-A799E99F4CB5}"/>
                </a:ext>
              </a:extLst>
            </p:cNvPr>
            <p:cNvSpPr/>
            <p:nvPr/>
          </p:nvSpPr>
          <p:spPr>
            <a:xfrm>
              <a:off x="1441590" y="4016132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xmlns="" id="{5F0E4C95-96F6-4A42-80FE-CF84044BFA18}"/>
                </a:ext>
              </a:extLst>
            </p:cNvPr>
            <p:cNvSpPr/>
            <p:nvPr/>
          </p:nvSpPr>
          <p:spPr>
            <a:xfrm>
              <a:off x="2043736" y="4771861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xmlns="" id="{618E094C-52C6-4DBB-9CAE-FCE848E3F00C}"/>
                </a:ext>
              </a:extLst>
            </p:cNvPr>
            <p:cNvSpPr/>
            <p:nvPr/>
          </p:nvSpPr>
          <p:spPr>
            <a:xfrm>
              <a:off x="2043736" y="5137965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xmlns="" id="{21CD320A-B6C4-461B-B96F-A51F29019244}"/>
                </a:ext>
              </a:extLst>
            </p:cNvPr>
            <p:cNvSpPr/>
            <p:nvPr/>
          </p:nvSpPr>
          <p:spPr>
            <a:xfrm>
              <a:off x="2043736" y="5504068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xmlns="" id="{41BBF04F-3BBA-4D6B-9DE4-3EC5DBEF6604}"/>
                </a:ext>
              </a:extLst>
            </p:cNvPr>
            <p:cNvSpPr/>
            <p:nvPr/>
          </p:nvSpPr>
          <p:spPr>
            <a:xfrm>
              <a:off x="1058238" y="4810377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xmlns="" id="{C722D264-A8FB-4A2B-94FC-A14D06B3726A}"/>
                </a:ext>
              </a:extLst>
            </p:cNvPr>
            <p:cNvSpPr/>
            <p:nvPr/>
          </p:nvSpPr>
          <p:spPr>
            <a:xfrm>
              <a:off x="1446797" y="4817814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xmlns="" id="{BB4A7FFE-4852-4778-974A-074CD06E209E}"/>
                </a:ext>
              </a:extLst>
            </p:cNvPr>
            <p:cNvSpPr/>
            <p:nvPr/>
          </p:nvSpPr>
          <p:spPr>
            <a:xfrm>
              <a:off x="1439357" y="5193006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xmlns="" id="{999F112C-2335-4AC6-9DCF-D66F1757573E}"/>
                </a:ext>
              </a:extLst>
            </p:cNvPr>
            <p:cNvSpPr/>
            <p:nvPr/>
          </p:nvSpPr>
          <p:spPr>
            <a:xfrm>
              <a:off x="1050981" y="5536383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xmlns="" id="{EAAEAADC-A54F-4F89-88CD-0E3BFCCBE8E4}"/>
                </a:ext>
              </a:extLst>
            </p:cNvPr>
            <p:cNvSpPr/>
            <p:nvPr/>
          </p:nvSpPr>
          <p:spPr>
            <a:xfrm>
              <a:off x="1439357" y="5930069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xmlns="" id="{A4A28538-E578-4FFF-8D1C-5A8EB7A628B6}"/>
                </a:ext>
              </a:extLst>
            </p:cNvPr>
            <p:cNvSpPr/>
            <p:nvPr/>
          </p:nvSpPr>
          <p:spPr>
            <a:xfrm>
              <a:off x="2337231" y="4016132"/>
              <a:ext cx="190835" cy="190835"/>
            </a:xfrm>
            <a:prstGeom prst="ellipse">
              <a:avLst/>
            </a:prstGeom>
            <a:solidFill>
              <a:srgbClr val="2ECC7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xmlns="" id="{F82DC4B9-092E-443E-9AE3-35E1EC03E5E8}"/>
                </a:ext>
              </a:extLst>
            </p:cNvPr>
            <p:cNvSpPr/>
            <p:nvPr/>
          </p:nvSpPr>
          <p:spPr>
            <a:xfrm>
              <a:off x="2337231" y="4407241"/>
              <a:ext cx="190835" cy="190835"/>
            </a:xfrm>
            <a:prstGeom prst="ellipse">
              <a:avLst/>
            </a:prstGeom>
            <a:solidFill>
              <a:srgbClr val="2ECC7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xmlns="" id="{7E7B2060-C4D7-49A6-BADA-3E8028ABC750}"/>
                </a:ext>
              </a:extLst>
            </p:cNvPr>
            <p:cNvSpPr/>
            <p:nvPr/>
          </p:nvSpPr>
          <p:spPr>
            <a:xfrm>
              <a:off x="2686930" y="4407241"/>
              <a:ext cx="190835" cy="190835"/>
            </a:xfrm>
            <a:prstGeom prst="ellipse">
              <a:avLst/>
            </a:prstGeom>
            <a:solidFill>
              <a:srgbClr val="2ECC7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xmlns="" id="{62F45286-1A77-48AD-B55A-3A048CAB479B}"/>
                </a:ext>
              </a:extLst>
            </p:cNvPr>
            <p:cNvSpPr/>
            <p:nvPr/>
          </p:nvSpPr>
          <p:spPr>
            <a:xfrm>
              <a:off x="2528066" y="4754613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xmlns="" id="{DF7AB144-EFE1-454A-BB9C-8B5E39A3053A}"/>
                </a:ext>
              </a:extLst>
            </p:cNvPr>
            <p:cNvSpPr/>
            <p:nvPr/>
          </p:nvSpPr>
          <p:spPr>
            <a:xfrm>
              <a:off x="2976491" y="4754613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xmlns="" id="{24462DEB-F47F-4FB8-93DA-DF6A8239789F}"/>
                </a:ext>
              </a:extLst>
            </p:cNvPr>
            <p:cNvSpPr/>
            <p:nvPr/>
          </p:nvSpPr>
          <p:spPr>
            <a:xfrm>
              <a:off x="3414805" y="4754613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xmlns="" id="{E41DF84E-3E16-41C7-8268-4D25E68EE615}"/>
                </a:ext>
              </a:extLst>
            </p:cNvPr>
            <p:cNvSpPr/>
            <p:nvPr/>
          </p:nvSpPr>
          <p:spPr>
            <a:xfrm>
              <a:off x="3211577" y="5042760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xmlns="" id="{7B153CDB-B978-414B-A11D-DFE0D50F196E}"/>
                </a:ext>
              </a:extLst>
            </p:cNvPr>
            <p:cNvSpPr/>
            <p:nvPr/>
          </p:nvSpPr>
          <p:spPr>
            <a:xfrm>
              <a:off x="2743440" y="5053580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xmlns="" id="{F0EFCAE3-15BA-4DC1-9A38-3058BD29B36F}"/>
                </a:ext>
              </a:extLst>
            </p:cNvPr>
            <p:cNvSpPr/>
            <p:nvPr/>
          </p:nvSpPr>
          <p:spPr>
            <a:xfrm>
              <a:off x="2528066" y="5407482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xmlns="" id="{D16C2B23-AAFF-4031-B295-1E25503E27CD}"/>
                </a:ext>
              </a:extLst>
            </p:cNvPr>
            <p:cNvSpPr/>
            <p:nvPr/>
          </p:nvSpPr>
          <p:spPr>
            <a:xfrm>
              <a:off x="2528066" y="5722376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xmlns="" id="{4C3394FE-62B3-4F5B-8824-B0A6D465447B}"/>
                </a:ext>
              </a:extLst>
            </p:cNvPr>
            <p:cNvSpPr/>
            <p:nvPr/>
          </p:nvSpPr>
          <p:spPr>
            <a:xfrm>
              <a:off x="2528066" y="6025486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xmlns="" id="{CC72F701-C3FB-4F7B-AFDF-F39CBB4A4191}"/>
                </a:ext>
              </a:extLst>
            </p:cNvPr>
            <p:cNvSpPr/>
            <p:nvPr/>
          </p:nvSpPr>
          <p:spPr>
            <a:xfrm>
              <a:off x="2864021" y="6025486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xmlns="" id="{59691CBB-AD84-4BAF-A01A-047C955EC63E}"/>
                </a:ext>
              </a:extLst>
            </p:cNvPr>
            <p:cNvSpPr/>
            <p:nvPr/>
          </p:nvSpPr>
          <p:spPr>
            <a:xfrm>
              <a:off x="2864022" y="5725177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xmlns="" id="{1A53F011-823E-4C31-8C9B-9A0AB5D8B051}"/>
                </a:ext>
              </a:extLst>
            </p:cNvPr>
            <p:cNvSpPr/>
            <p:nvPr/>
          </p:nvSpPr>
          <p:spPr>
            <a:xfrm>
              <a:off x="2864023" y="5403735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xmlns="" id="{670AB02F-1498-43FC-BD7C-CA3CD23D0A24}"/>
                </a:ext>
              </a:extLst>
            </p:cNvPr>
            <p:cNvSpPr/>
            <p:nvPr/>
          </p:nvSpPr>
          <p:spPr>
            <a:xfrm>
              <a:off x="2042118" y="5930069"/>
              <a:ext cx="190835" cy="190835"/>
            </a:xfrm>
            <a:prstGeom prst="ellipse">
              <a:avLst/>
            </a:prstGeom>
            <a:solidFill>
              <a:srgbClr val="2ECC7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xmlns="" id="{15D70DA7-86C2-482F-909A-9695D4BD1733}"/>
                </a:ext>
              </a:extLst>
            </p:cNvPr>
            <p:cNvSpPr/>
            <p:nvPr/>
          </p:nvSpPr>
          <p:spPr>
            <a:xfrm>
              <a:off x="3064743" y="4024623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xmlns="" id="{5157D29D-6FD8-48B6-AE0F-4638E502418C}"/>
                </a:ext>
              </a:extLst>
            </p:cNvPr>
            <p:cNvSpPr/>
            <p:nvPr/>
          </p:nvSpPr>
          <p:spPr>
            <a:xfrm>
              <a:off x="3384372" y="4388342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xmlns="" id="{84F0C637-566C-4C53-860C-18C1E63A6DD9}"/>
                </a:ext>
              </a:extLst>
            </p:cNvPr>
            <p:cNvSpPr/>
            <p:nvPr/>
          </p:nvSpPr>
          <p:spPr>
            <a:xfrm>
              <a:off x="3334949" y="5391750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xmlns="" id="{ABF3252D-74C2-431F-9671-3C205C61760B}"/>
                </a:ext>
              </a:extLst>
            </p:cNvPr>
            <p:cNvSpPr/>
            <p:nvPr/>
          </p:nvSpPr>
          <p:spPr>
            <a:xfrm>
              <a:off x="3334949" y="6021304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xmlns="" id="{C2DE93E5-C657-4B02-B8E2-3647F687D277}"/>
                </a:ext>
              </a:extLst>
            </p:cNvPr>
            <p:cNvSpPr/>
            <p:nvPr/>
          </p:nvSpPr>
          <p:spPr>
            <a:xfrm>
              <a:off x="1050981" y="5925886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Learning Decision Trees with Supervision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4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5" name="Content Placeholder 2">
            <a:extLst>
              <a:ext uri="{FF2B5EF4-FFF2-40B4-BE49-F238E27FC236}">
                <a16:creationId xmlns:a16="http://schemas.microsoft.com/office/drawing/2014/main" xmlns="" id="{DB073934-0758-43B0-8270-D0FA7626E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740617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badi Extra Light" panose="020B0204020104020204" pitchFamily="34" charset="0"/>
              </a:rPr>
              <a:t>The basic idea is very simple</a:t>
            </a:r>
          </a:p>
          <a:p>
            <a:pPr marL="0" indent="0">
              <a:buNone/>
            </a:pPr>
            <a:endParaRPr lang="en-IN" sz="9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badi Extra Light" panose="020B0204020104020204" pitchFamily="34" charset="0"/>
              </a:rPr>
              <a:t>Recursively partition the training data into homogeneous regions</a:t>
            </a:r>
          </a:p>
          <a:p>
            <a:pPr marL="0" indent="0">
              <a:buNone/>
            </a:pPr>
            <a:endParaRPr lang="en-IN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badi Extra Light" panose="020B0204020104020204" pitchFamily="34" charset="0"/>
              </a:rPr>
              <a:t>Within each group, fit a simple supervised learner (e.g., predict the majority label)</a:t>
            </a:r>
            <a:endParaRPr lang="en-GB" dirty="0">
              <a:solidFill>
                <a:srgbClr val="0000FF"/>
              </a:solidFill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11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1100" dirty="0">
              <a:latin typeface="Abadi Extra Light" panose="020B020402010402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xmlns="" id="{5A24D53E-ACBE-4A2F-AB45-AC8CC41C5629}"/>
              </a:ext>
            </a:extLst>
          </p:cNvPr>
          <p:cNvSpPr/>
          <p:nvPr/>
        </p:nvSpPr>
        <p:spPr>
          <a:xfrm>
            <a:off x="6937098" y="4416731"/>
            <a:ext cx="1141968" cy="140746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xmlns="" id="{E94027C3-595C-4B58-89C0-642F7CA60F50}"/>
              </a:ext>
            </a:extLst>
          </p:cNvPr>
          <p:cNvSpPr/>
          <p:nvPr/>
        </p:nvSpPr>
        <p:spPr>
          <a:xfrm>
            <a:off x="6079049" y="2396789"/>
            <a:ext cx="1696190" cy="1025962"/>
          </a:xfrm>
          <a:prstGeom prst="rect">
            <a:avLst/>
          </a:prstGeom>
          <a:solidFill>
            <a:srgbClr val="2ECC71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42F35FE4-8E4B-43E0-91C0-189AA33C117C}"/>
              </a:ext>
            </a:extLst>
          </p:cNvPr>
          <p:cNvSpPr/>
          <p:nvPr/>
        </p:nvSpPr>
        <p:spPr>
          <a:xfrm>
            <a:off x="4680458" y="2900308"/>
            <a:ext cx="1428386" cy="2910680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xmlns="" id="{B4E8F283-298C-475D-9CD3-0FA997D7BB17}"/>
              </a:ext>
            </a:extLst>
          </p:cNvPr>
          <p:cNvSpPr/>
          <p:nvPr/>
        </p:nvSpPr>
        <p:spPr>
          <a:xfrm>
            <a:off x="4694693" y="2382435"/>
            <a:ext cx="1399158" cy="50995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xmlns="" id="{344C106F-BE5A-42E4-878D-9DCD0C9961FA}"/>
              </a:ext>
            </a:extLst>
          </p:cNvPr>
          <p:cNvSpPr/>
          <p:nvPr/>
        </p:nvSpPr>
        <p:spPr>
          <a:xfrm>
            <a:off x="6109602" y="3419097"/>
            <a:ext cx="813909" cy="178206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xmlns="" id="{B10E0B3A-71E7-4F8F-A3D0-859796CD02DA}"/>
              </a:ext>
            </a:extLst>
          </p:cNvPr>
          <p:cNvCxnSpPr>
            <a:cxnSpLocks/>
          </p:cNvCxnSpPr>
          <p:nvPr/>
        </p:nvCxnSpPr>
        <p:spPr>
          <a:xfrm>
            <a:off x="6093852" y="2384154"/>
            <a:ext cx="1" cy="34334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xmlns="" id="{0B82568F-6831-4CBE-B52E-8FD9F1263301}"/>
              </a:ext>
            </a:extLst>
          </p:cNvPr>
          <p:cNvCxnSpPr>
            <a:cxnSpLocks/>
          </p:cNvCxnSpPr>
          <p:nvPr/>
        </p:nvCxnSpPr>
        <p:spPr>
          <a:xfrm flipV="1">
            <a:off x="6093852" y="3416462"/>
            <a:ext cx="2721140" cy="41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xmlns="" id="{5EB72EC9-D9D2-4405-9F88-A6CEB2588A5F}"/>
              </a:ext>
            </a:extLst>
          </p:cNvPr>
          <p:cNvCxnSpPr>
            <a:cxnSpLocks/>
          </p:cNvCxnSpPr>
          <p:nvPr/>
        </p:nvCxnSpPr>
        <p:spPr>
          <a:xfrm>
            <a:off x="6933281" y="3409856"/>
            <a:ext cx="1" cy="24011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xmlns="" id="{9DA6A126-A325-4F3B-8B36-5086248648A1}"/>
              </a:ext>
            </a:extLst>
          </p:cNvPr>
          <p:cNvCxnSpPr>
            <a:cxnSpLocks/>
          </p:cNvCxnSpPr>
          <p:nvPr/>
        </p:nvCxnSpPr>
        <p:spPr>
          <a:xfrm>
            <a:off x="6918982" y="4410441"/>
            <a:ext cx="19014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xmlns="" id="{D8C617C2-0444-4DE1-ADCC-9AFDD25D612E}"/>
              </a:ext>
            </a:extLst>
          </p:cNvPr>
          <p:cNvCxnSpPr>
            <a:cxnSpLocks/>
          </p:cNvCxnSpPr>
          <p:nvPr/>
        </p:nvCxnSpPr>
        <p:spPr>
          <a:xfrm flipV="1">
            <a:off x="4667435" y="2900308"/>
            <a:ext cx="14264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xmlns="" id="{00CB69E9-193E-4A65-9833-CD317D508EBB}"/>
              </a:ext>
            </a:extLst>
          </p:cNvPr>
          <p:cNvCxnSpPr>
            <a:cxnSpLocks/>
          </p:cNvCxnSpPr>
          <p:nvPr/>
        </p:nvCxnSpPr>
        <p:spPr>
          <a:xfrm>
            <a:off x="7775239" y="2396789"/>
            <a:ext cx="759" cy="10196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xmlns="" id="{4D4EDC92-AEA4-4CDF-A643-F31BE34FE3CB}"/>
              </a:ext>
            </a:extLst>
          </p:cNvPr>
          <p:cNvCxnSpPr>
            <a:cxnSpLocks/>
          </p:cNvCxnSpPr>
          <p:nvPr/>
        </p:nvCxnSpPr>
        <p:spPr>
          <a:xfrm>
            <a:off x="6093852" y="5198512"/>
            <a:ext cx="839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xmlns="" id="{39C40B2F-2C39-4773-84D5-A793D95E62C8}"/>
              </a:ext>
            </a:extLst>
          </p:cNvPr>
          <p:cNvCxnSpPr>
            <a:cxnSpLocks/>
          </p:cNvCxnSpPr>
          <p:nvPr/>
        </p:nvCxnSpPr>
        <p:spPr>
          <a:xfrm>
            <a:off x="8079068" y="4406245"/>
            <a:ext cx="0" cy="14179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xmlns="" id="{961FC68A-E640-4577-B68C-0B3DF94DFC98}"/>
              </a:ext>
            </a:extLst>
          </p:cNvPr>
          <p:cNvSpPr/>
          <p:nvPr/>
        </p:nvSpPr>
        <p:spPr>
          <a:xfrm>
            <a:off x="7775239" y="2401967"/>
            <a:ext cx="1039753" cy="1020783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xmlns="" id="{8446D747-84E4-4FDC-B7C6-66B10021DC6F}"/>
              </a:ext>
            </a:extLst>
          </p:cNvPr>
          <p:cNvSpPr/>
          <p:nvPr/>
        </p:nvSpPr>
        <p:spPr>
          <a:xfrm>
            <a:off x="6093851" y="5201162"/>
            <a:ext cx="839428" cy="629782"/>
          </a:xfrm>
          <a:prstGeom prst="rect">
            <a:avLst/>
          </a:prstGeom>
          <a:solidFill>
            <a:srgbClr val="2ECC71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xmlns="" id="{4AA85403-A956-4744-BD71-3EF33DE4C73D}"/>
              </a:ext>
            </a:extLst>
          </p:cNvPr>
          <p:cNvSpPr/>
          <p:nvPr/>
        </p:nvSpPr>
        <p:spPr>
          <a:xfrm>
            <a:off x="8079067" y="4417865"/>
            <a:ext cx="735926" cy="1383290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xmlns="" id="{97BAEF57-C8BB-4F7F-85F4-F030491C774E}"/>
              </a:ext>
            </a:extLst>
          </p:cNvPr>
          <p:cNvSpPr/>
          <p:nvPr/>
        </p:nvSpPr>
        <p:spPr>
          <a:xfrm>
            <a:off x="6933281" y="3420657"/>
            <a:ext cx="1881712" cy="98558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4" name="Picture 2">
            <a:extLst>
              <a:ext uri="{FF2B5EF4-FFF2-40B4-BE49-F238E27FC236}">
                <a16:creationId xmlns:a16="http://schemas.microsoft.com/office/drawing/2014/main" xmlns="" id="{68F579DC-66D1-42D3-A3A3-47847E065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936" y="2689424"/>
            <a:ext cx="11811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5" name="Speech Bubble: Rectangle 164">
            <a:extLst>
              <a:ext uri="{FF2B5EF4-FFF2-40B4-BE49-F238E27FC236}">
                <a16:creationId xmlns:a16="http://schemas.microsoft.com/office/drawing/2014/main" xmlns="" id="{AFB6820F-88BB-45E3-87F2-21FFCB202AB2}"/>
              </a:ext>
            </a:extLst>
          </p:cNvPr>
          <p:cNvSpPr/>
          <p:nvPr/>
        </p:nvSpPr>
        <p:spPr>
          <a:xfrm>
            <a:off x="782076" y="2645049"/>
            <a:ext cx="2062062" cy="988593"/>
          </a:xfrm>
          <a:prstGeom prst="wedgeRectCallout">
            <a:avLst>
              <a:gd name="adj1" fmla="val 72019"/>
              <a:gd name="adj2" fmla="val 21347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What do you mean by “homogeneous” regions?</a:t>
            </a: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xmlns="" id="{0ABD9AE8-31E1-4DDE-9113-09881F3E1B1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95036" y="4355648"/>
            <a:ext cx="1010687" cy="965223"/>
          </a:xfrm>
          <a:prstGeom prst="rect">
            <a:avLst/>
          </a:prstGeom>
        </p:spPr>
      </p:pic>
      <p:sp>
        <p:nvSpPr>
          <p:cNvPr id="167" name="Speech Bubble: Rectangle 166">
            <a:extLst>
              <a:ext uri="{FF2B5EF4-FFF2-40B4-BE49-F238E27FC236}">
                <a16:creationId xmlns:a16="http://schemas.microsoft.com/office/drawing/2014/main" xmlns="" id="{4C35C510-5118-4B8C-97DF-01DB46EE9867}"/>
              </a:ext>
            </a:extLst>
          </p:cNvPr>
          <p:cNvSpPr/>
          <p:nvPr/>
        </p:nvSpPr>
        <p:spPr>
          <a:xfrm>
            <a:off x="492007" y="4035593"/>
            <a:ext cx="2743193" cy="1263379"/>
          </a:xfrm>
          <a:prstGeom prst="wedgeRectCallout">
            <a:avLst>
              <a:gd name="adj1" fmla="val 64304"/>
              <a:gd name="adj2" fmla="val 5789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A homogeneous regio</a:t>
            </a:r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n will have all (or a majority of) training inputs with the same/similar outputs</a:t>
            </a:r>
            <a:endParaRPr lang="en-IN" sz="20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B3DA9406-D917-489A-85E2-87F83154C685}"/>
              </a:ext>
            </a:extLst>
          </p:cNvPr>
          <p:cNvSpPr/>
          <p:nvPr/>
        </p:nvSpPr>
        <p:spPr>
          <a:xfrm>
            <a:off x="5006802" y="4249677"/>
            <a:ext cx="252000" cy="25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xmlns="" id="{A1EA26B7-E776-4199-8602-E207CD28B701}"/>
              </a:ext>
            </a:extLst>
          </p:cNvPr>
          <p:cNvSpPr/>
          <p:nvPr/>
        </p:nvSpPr>
        <p:spPr>
          <a:xfrm>
            <a:off x="7375209" y="4857510"/>
            <a:ext cx="252000" cy="252000"/>
          </a:xfrm>
          <a:prstGeom prst="ellipse">
            <a:avLst/>
          </a:prstGeom>
          <a:solidFill>
            <a:srgbClr val="33CC33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0" name="Picture 169">
            <a:extLst>
              <a:ext uri="{FF2B5EF4-FFF2-40B4-BE49-F238E27FC236}">
                <a16:creationId xmlns:a16="http://schemas.microsoft.com/office/drawing/2014/main" xmlns="" id="{FD42F1F1-2266-4241-A0BC-A983487308F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181313" y="1792385"/>
            <a:ext cx="1010687" cy="965223"/>
          </a:xfrm>
          <a:prstGeom prst="rect">
            <a:avLst/>
          </a:prstGeom>
        </p:spPr>
      </p:pic>
      <p:sp>
        <p:nvSpPr>
          <p:cNvPr id="171" name="Speech Bubble: Rectangle 170">
            <a:extLst>
              <a:ext uri="{FF2B5EF4-FFF2-40B4-BE49-F238E27FC236}">
                <a16:creationId xmlns:a16="http://schemas.microsoft.com/office/drawing/2014/main" xmlns="" id="{67750570-3F83-4572-9AD6-DCBCD7DD5CBE}"/>
              </a:ext>
            </a:extLst>
          </p:cNvPr>
          <p:cNvSpPr/>
          <p:nvPr/>
        </p:nvSpPr>
        <p:spPr>
          <a:xfrm>
            <a:off x="9113803" y="2952888"/>
            <a:ext cx="2743193" cy="2878056"/>
          </a:xfrm>
          <a:prstGeom prst="wedgeRectCallout">
            <a:avLst>
              <a:gd name="adj1" fmla="val 37381"/>
              <a:gd name="adj2" fmla="val -66308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Even though the rule within each grou</a:t>
            </a:r>
            <a:r>
              <a:rPr lang="en-IN" dirty="0">
                <a:solidFill>
                  <a:schemeClr val="tx1"/>
                </a:solidFill>
                <a:latin typeface="Abadi Extra Light" panose="020B0204020104020204" pitchFamily="34" charset="0"/>
              </a:rPr>
              <a:t>p is simple, we are able to learn a fairly sophisticated model overall (note in this example, each rule is a simple horizontal/vertical classifier but the overall decision boundary is rather sophisticated</a:t>
            </a:r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)</a:t>
            </a:r>
            <a:endParaRPr lang="en-IN" sz="20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264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8777"/>
    </mc:Choice>
    <mc:Fallback xmlns="">
      <p:transition spd="slow" advTm="4787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uiExpand="1" build="p"/>
      <p:bldP spid="96" grpId="0" animBg="1"/>
      <p:bldP spid="97" grpId="0" animBg="1"/>
      <p:bldP spid="98" grpId="0" animBg="1"/>
      <p:bldP spid="100" grpId="0" animBg="1"/>
      <p:bldP spid="102" grpId="0" animBg="1"/>
      <p:bldP spid="117" grpId="0" animBg="1"/>
      <p:bldP spid="118" grpId="0" animBg="1"/>
      <p:bldP spid="119" grpId="0" animBg="1"/>
      <p:bldP spid="120" grpId="0" animBg="1"/>
      <p:bldP spid="165" grpId="0" animBg="1"/>
      <p:bldP spid="167" grpId="0" animBg="1"/>
      <p:bldP spid="18" grpId="0" animBg="1"/>
      <p:bldP spid="169" grpId="0" animBg="1"/>
      <p:bldP spid="17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DD893F13-D3F0-4CFC-927C-717BF6AB10CA}"/>
              </a:ext>
            </a:extLst>
          </p:cNvPr>
          <p:cNvSpPr/>
          <p:nvPr/>
        </p:nvSpPr>
        <p:spPr>
          <a:xfrm>
            <a:off x="3193771" y="1228134"/>
            <a:ext cx="2104686" cy="1385997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8F6DD28-3C78-4045-9FA4-37C5785A1CF0}"/>
              </a:ext>
            </a:extLst>
          </p:cNvPr>
          <p:cNvSpPr/>
          <p:nvPr/>
        </p:nvSpPr>
        <p:spPr>
          <a:xfrm>
            <a:off x="761358" y="1219209"/>
            <a:ext cx="4537099" cy="332255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bg1">
                <a:lumMod val="85000"/>
                <a:alpha val="9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Decision Trees for Classification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5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3" name="Oval 9">
            <a:extLst>
              <a:ext uri="{FF2B5EF4-FFF2-40B4-BE49-F238E27FC236}">
                <a16:creationId xmlns:a16="http://schemas.microsoft.com/office/drawing/2014/main" xmlns="" id="{BDE0799D-4664-4043-B2B9-A92DD6DC2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3211" y="1624569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35" name="Oval 9">
            <a:extLst>
              <a:ext uri="{FF2B5EF4-FFF2-40B4-BE49-F238E27FC236}">
                <a16:creationId xmlns:a16="http://schemas.microsoft.com/office/drawing/2014/main" xmlns="" id="{482A9334-C703-4B18-BF68-6BC65D7A4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5424" y="1780616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36" name="Oval 9">
            <a:extLst>
              <a:ext uri="{FF2B5EF4-FFF2-40B4-BE49-F238E27FC236}">
                <a16:creationId xmlns:a16="http://schemas.microsoft.com/office/drawing/2014/main" xmlns="" id="{78B0C695-00FD-416E-8BF7-A8DBDEF52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4" y="1261889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37" name="Oval 9">
            <a:extLst>
              <a:ext uri="{FF2B5EF4-FFF2-40B4-BE49-F238E27FC236}">
                <a16:creationId xmlns:a16="http://schemas.microsoft.com/office/drawing/2014/main" xmlns="" id="{2BCD588C-B793-4832-B443-244D94234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3062" y="2311136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38" name="Oval 9">
            <a:extLst>
              <a:ext uri="{FF2B5EF4-FFF2-40B4-BE49-F238E27FC236}">
                <a16:creationId xmlns:a16="http://schemas.microsoft.com/office/drawing/2014/main" xmlns="" id="{CDD8CE60-F8AC-4B99-9F9B-31C366BDB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840" y="1317709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39" name="Oval 9">
            <a:extLst>
              <a:ext uri="{FF2B5EF4-FFF2-40B4-BE49-F238E27FC236}">
                <a16:creationId xmlns:a16="http://schemas.microsoft.com/office/drawing/2014/main" xmlns="" id="{696CB172-5C71-4329-909F-1429F9DF6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948" y="1832066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" name="Oval 9">
            <a:extLst>
              <a:ext uri="{FF2B5EF4-FFF2-40B4-BE49-F238E27FC236}">
                <a16:creationId xmlns:a16="http://schemas.microsoft.com/office/drawing/2014/main" xmlns="" id="{02679E8F-9B36-46D6-AB82-85B5ECC68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502" y="1822474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1" name="Oval 9">
            <a:extLst>
              <a:ext uri="{FF2B5EF4-FFF2-40B4-BE49-F238E27FC236}">
                <a16:creationId xmlns:a16="http://schemas.microsoft.com/office/drawing/2014/main" xmlns="" id="{F7BAD65C-1D32-49FE-BE08-8B4597797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010" y="2297465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2" name="Oval 9">
            <a:extLst>
              <a:ext uri="{FF2B5EF4-FFF2-40B4-BE49-F238E27FC236}">
                <a16:creationId xmlns:a16="http://schemas.microsoft.com/office/drawing/2014/main" xmlns="" id="{98226EF2-8981-4751-9285-CA34D59DE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143" y="1499400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3" name="Oval 9">
            <a:extLst>
              <a:ext uri="{FF2B5EF4-FFF2-40B4-BE49-F238E27FC236}">
                <a16:creationId xmlns:a16="http://schemas.microsoft.com/office/drawing/2014/main" xmlns="" id="{DBA84320-E17A-4091-83A6-7CCEAF9D0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4538" y="2033152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4" name="Oval 9">
            <a:extLst>
              <a:ext uri="{FF2B5EF4-FFF2-40B4-BE49-F238E27FC236}">
                <a16:creationId xmlns:a16="http://schemas.microsoft.com/office/drawing/2014/main" xmlns="" id="{431CEA02-B414-447E-9A00-7E453BB2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5310" y="1244815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5" name="Oval 9">
            <a:extLst>
              <a:ext uri="{FF2B5EF4-FFF2-40B4-BE49-F238E27FC236}">
                <a16:creationId xmlns:a16="http://schemas.microsoft.com/office/drawing/2014/main" xmlns="" id="{C9735E16-34E7-489B-AC5A-48A3AD44D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585" y="2260258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6" name="Oval 9">
            <a:extLst>
              <a:ext uri="{FF2B5EF4-FFF2-40B4-BE49-F238E27FC236}">
                <a16:creationId xmlns:a16="http://schemas.microsoft.com/office/drawing/2014/main" xmlns="" id="{4486431F-5F3D-4340-8DE6-57E32ED46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6911" y="1261889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7" name="Oval 9">
            <a:extLst>
              <a:ext uri="{FF2B5EF4-FFF2-40B4-BE49-F238E27FC236}">
                <a16:creationId xmlns:a16="http://schemas.microsoft.com/office/drawing/2014/main" xmlns="" id="{E2BB83B0-5CAC-42B5-8E48-C757DF2F0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453" y="1866030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" name="Oval 9">
            <a:extLst>
              <a:ext uri="{FF2B5EF4-FFF2-40B4-BE49-F238E27FC236}">
                <a16:creationId xmlns:a16="http://schemas.microsoft.com/office/drawing/2014/main" xmlns="" id="{80679F1B-3054-499B-B9DD-D43CAAE5C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125" y="1721383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9" name="Oval 9">
            <a:extLst>
              <a:ext uri="{FF2B5EF4-FFF2-40B4-BE49-F238E27FC236}">
                <a16:creationId xmlns:a16="http://schemas.microsoft.com/office/drawing/2014/main" xmlns="" id="{8DC4D318-40D3-4F27-9AC4-508F53DAC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539" y="2366758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50" name="Oval 9">
            <a:extLst>
              <a:ext uri="{FF2B5EF4-FFF2-40B4-BE49-F238E27FC236}">
                <a16:creationId xmlns:a16="http://schemas.microsoft.com/office/drawing/2014/main" xmlns="" id="{AD1C0420-72E4-4C44-984E-04E37FB46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0139" y="1867355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51" name="Oval 9">
            <a:extLst>
              <a:ext uri="{FF2B5EF4-FFF2-40B4-BE49-F238E27FC236}">
                <a16:creationId xmlns:a16="http://schemas.microsoft.com/office/drawing/2014/main" xmlns="" id="{F1171659-45CE-4A15-BAEE-2322C4E59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0048" y="2200815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52" name="Oval 9">
            <a:extLst>
              <a:ext uri="{FF2B5EF4-FFF2-40B4-BE49-F238E27FC236}">
                <a16:creationId xmlns:a16="http://schemas.microsoft.com/office/drawing/2014/main" xmlns="" id="{16769378-A137-4D55-979C-20508440D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3967" y="1261889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53" name="Oval 9">
            <a:extLst>
              <a:ext uri="{FF2B5EF4-FFF2-40B4-BE49-F238E27FC236}">
                <a16:creationId xmlns:a16="http://schemas.microsoft.com/office/drawing/2014/main" xmlns="" id="{6C2BBF82-C9B1-4299-9255-1BAAA05A2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724" y="2195236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54" name="Oval 9">
            <a:extLst>
              <a:ext uri="{FF2B5EF4-FFF2-40B4-BE49-F238E27FC236}">
                <a16:creationId xmlns:a16="http://schemas.microsoft.com/office/drawing/2014/main" xmlns="" id="{9B4C367D-15F1-46E9-84C3-8E6DDC864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539" y="1293605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55" name="Oval 9">
            <a:extLst>
              <a:ext uri="{FF2B5EF4-FFF2-40B4-BE49-F238E27FC236}">
                <a16:creationId xmlns:a16="http://schemas.microsoft.com/office/drawing/2014/main" xmlns="" id="{EC668988-4AF8-4CB2-A419-3F8BADB3D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7024" y="1585816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56" name="Oval 9">
            <a:extLst>
              <a:ext uri="{FF2B5EF4-FFF2-40B4-BE49-F238E27FC236}">
                <a16:creationId xmlns:a16="http://schemas.microsoft.com/office/drawing/2014/main" xmlns="" id="{8B51EDE9-2AA7-43ED-BF88-BB731495F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414" y="2374214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57" name="Oval 9">
            <a:extLst>
              <a:ext uri="{FF2B5EF4-FFF2-40B4-BE49-F238E27FC236}">
                <a16:creationId xmlns:a16="http://schemas.microsoft.com/office/drawing/2014/main" xmlns="" id="{B99D3D0D-FF7E-4DD5-82CB-55BE01386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06" y="2871568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58" name="Oval 9">
            <a:extLst>
              <a:ext uri="{FF2B5EF4-FFF2-40B4-BE49-F238E27FC236}">
                <a16:creationId xmlns:a16="http://schemas.microsoft.com/office/drawing/2014/main" xmlns="" id="{E9436275-D47F-4639-9E0E-14A96C697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0648" y="2989880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59" name="Oval 9">
            <a:extLst>
              <a:ext uri="{FF2B5EF4-FFF2-40B4-BE49-F238E27FC236}">
                <a16:creationId xmlns:a16="http://schemas.microsoft.com/office/drawing/2014/main" xmlns="" id="{3D257BE8-C656-447F-856C-C4EA04267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697" y="3521238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60" name="Oval 9">
            <a:extLst>
              <a:ext uri="{FF2B5EF4-FFF2-40B4-BE49-F238E27FC236}">
                <a16:creationId xmlns:a16="http://schemas.microsoft.com/office/drawing/2014/main" xmlns="" id="{85A21BD8-80F0-40E7-80B8-4BAB3FFC4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0415" y="3032425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61" name="Oval 9">
            <a:extLst>
              <a:ext uri="{FF2B5EF4-FFF2-40B4-BE49-F238E27FC236}">
                <a16:creationId xmlns:a16="http://schemas.microsoft.com/office/drawing/2014/main" xmlns="" id="{AA6D1661-9430-45A6-80E9-41BF7A373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2503" y="3840241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62" name="Oval 9">
            <a:extLst>
              <a:ext uri="{FF2B5EF4-FFF2-40B4-BE49-F238E27FC236}">
                <a16:creationId xmlns:a16="http://schemas.microsoft.com/office/drawing/2014/main" xmlns="" id="{5DDAA1F6-DA45-4D09-9385-66ACB9FF8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535" y="2708197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63" name="Oval 9">
            <a:extLst>
              <a:ext uri="{FF2B5EF4-FFF2-40B4-BE49-F238E27FC236}">
                <a16:creationId xmlns:a16="http://schemas.microsoft.com/office/drawing/2014/main" xmlns="" id="{35E85925-0C20-4A24-B422-352935731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838" y="3561066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64" name="Oval 9">
            <a:extLst>
              <a:ext uri="{FF2B5EF4-FFF2-40B4-BE49-F238E27FC236}">
                <a16:creationId xmlns:a16="http://schemas.microsoft.com/office/drawing/2014/main" xmlns="" id="{136B4032-30A8-4EEF-97BB-04D2CB389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1404" y="3330791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65" name="Oval 9">
            <a:extLst>
              <a:ext uri="{FF2B5EF4-FFF2-40B4-BE49-F238E27FC236}">
                <a16:creationId xmlns:a16="http://schemas.microsoft.com/office/drawing/2014/main" xmlns="" id="{535E8643-C088-469A-974C-8805AFB32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051" y="4256874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66" name="Oval 9">
            <a:extLst>
              <a:ext uri="{FF2B5EF4-FFF2-40B4-BE49-F238E27FC236}">
                <a16:creationId xmlns:a16="http://schemas.microsoft.com/office/drawing/2014/main" xmlns="" id="{83BD0111-DFAD-4CF7-9954-82E8D9DC4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673" y="2972125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67" name="Oval 9">
            <a:extLst>
              <a:ext uri="{FF2B5EF4-FFF2-40B4-BE49-F238E27FC236}">
                <a16:creationId xmlns:a16="http://schemas.microsoft.com/office/drawing/2014/main" xmlns="" id="{0278A1E9-CF81-44A0-9E3A-0A57DDC08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881" y="4229116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68" name="Oval 9">
            <a:extLst>
              <a:ext uri="{FF2B5EF4-FFF2-40B4-BE49-F238E27FC236}">
                <a16:creationId xmlns:a16="http://schemas.microsoft.com/office/drawing/2014/main" xmlns="" id="{24BA26B7-9030-4925-813C-5B6A107BE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9249" y="4020111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69" name="Oval 9">
            <a:extLst>
              <a:ext uri="{FF2B5EF4-FFF2-40B4-BE49-F238E27FC236}">
                <a16:creationId xmlns:a16="http://schemas.microsoft.com/office/drawing/2014/main" xmlns="" id="{B51736E6-C3EC-4762-9997-6F84EB8A6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513" y="4183937"/>
            <a:ext cx="224510" cy="236658"/>
          </a:xfrm>
          <a:prstGeom prst="ellipse">
            <a:avLst/>
          </a:prstGeom>
          <a:solidFill>
            <a:srgbClr val="FF000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70" name="Oval 9">
            <a:extLst>
              <a:ext uri="{FF2B5EF4-FFF2-40B4-BE49-F238E27FC236}">
                <a16:creationId xmlns:a16="http://schemas.microsoft.com/office/drawing/2014/main" xmlns="" id="{953E7521-EFCC-4D94-9C94-1A22059C4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095" y="3303385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71" name="Oval 9">
            <a:extLst>
              <a:ext uri="{FF2B5EF4-FFF2-40B4-BE49-F238E27FC236}">
                <a16:creationId xmlns:a16="http://schemas.microsoft.com/office/drawing/2014/main" xmlns="" id="{6BD6F2F8-935D-4481-AF76-4915F13DA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457" y="2986789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72" name="Oval 9">
            <a:extLst>
              <a:ext uri="{FF2B5EF4-FFF2-40B4-BE49-F238E27FC236}">
                <a16:creationId xmlns:a16="http://schemas.microsoft.com/office/drawing/2014/main" xmlns="" id="{9DB0638C-5119-44A6-A893-96DE9D00D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745" y="3063398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73" name="Oval 9">
            <a:extLst>
              <a:ext uri="{FF2B5EF4-FFF2-40B4-BE49-F238E27FC236}">
                <a16:creationId xmlns:a16="http://schemas.microsoft.com/office/drawing/2014/main" xmlns="" id="{34E32A99-B1CF-4105-9CBA-B2FA29896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733" y="3485285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74" name="Oval 9">
            <a:extLst>
              <a:ext uri="{FF2B5EF4-FFF2-40B4-BE49-F238E27FC236}">
                <a16:creationId xmlns:a16="http://schemas.microsoft.com/office/drawing/2014/main" xmlns="" id="{3B7B1513-A21C-4058-BFF4-16BF62AD1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2150" y="2657506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75" name="Oval 9">
            <a:extLst>
              <a:ext uri="{FF2B5EF4-FFF2-40B4-BE49-F238E27FC236}">
                <a16:creationId xmlns:a16="http://schemas.microsoft.com/office/drawing/2014/main" xmlns="" id="{ECBB27A5-CE93-4485-B1FD-2DFC44C5D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231" y="3681577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76" name="Oval 9">
            <a:extLst>
              <a:ext uri="{FF2B5EF4-FFF2-40B4-BE49-F238E27FC236}">
                <a16:creationId xmlns:a16="http://schemas.microsoft.com/office/drawing/2014/main" xmlns="" id="{D022E5F6-BCA0-415A-8355-2E0F69D78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563" y="3042951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77" name="Oval 9">
            <a:extLst>
              <a:ext uri="{FF2B5EF4-FFF2-40B4-BE49-F238E27FC236}">
                <a16:creationId xmlns:a16="http://schemas.microsoft.com/office/drawing/2014/main" xmlns="" id="{9744FEDE-2890-468F-B921-389FAFAC8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869" y="4059204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78" name="Oval 9">
            <a:extLst>
              <a:ext uri="{FF2B5EF4-FFF2-40B4-BE49-F238E27FC236}">
                <a16:creationId xmlns:a16="http://schemas.microsoft.com/office/drawing/2014/main" xmlns="" id="{7E8F6DB2-C796-45A6-94F8-F257DCEA1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7478" y="2739572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79" name="Oval 9">
            <a:extLst>
              <a:ext uri="{FF2B5EF4-FFF2-40B4-BE49-F238E27FC236}">
                <a16:creationId xmlns:a16="http://schemas.microsoft.com/office/drawing/2014/main" xmlns="" id="{3D8D2903-07F6-468D-9CA8-383DC3402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9035" y="4229116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80" name="Oval 9">
            <a:extLst>
              <a:ext uri="{FF2B5EF4-FFF2-40B4-BE49-F238E27FC236}">
                <a16:creationId xmlns:a16="http://schemas.microsoft.com/office/drawing/2014/main" xmlns="" id="{75768394-BBCF-44D5-9B36-DA83C0521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266" y="3781069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81" name="Oval 9">
            <a:extLst>
              <a:ext uri="{FF2B5EF4-FFF2-40B4-BE49-F238E27FC236}">
                <a16:creationId xmlns:a16="http://schemas.microsoft.com/office/drawing/2014/main" xmlns="" id="{44B7D1FC-ACA2-4984-8821-90F6EA158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3119" y="4145775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xmlns="" id="{11969463-8898-43DA-8E65-9B92A0E2A3EB}"/>
              </a:ext>
            </a:extLst>
          </p:cNvPr>
          <p:cNvCxnSpPr>
            <a:cxnSpLocks/>
          </p:cNvCxnSpPr>
          <p:nvPr/>
        </p:nvCxnSpPr>
        <p:spPr>
          <a:xfrm>
            <a:off x="3167591" y="1219209"/>
            <a:ext cx="7226" cy="13892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xmlns="" id="{20255379-4F09-4B06-B61A-1A9976F0163B}"/>
              </a:ext>
            </a:extLst>
          </p:cNvPr>
          <p:cNvCxnSpPr>
            <a:cxnSpLocks/>
          </p:cNvCxnSpPr>
          <p:nvPr/>
        </p:nvCxnSpPr>
        <p:spPr>
          <a:xfrm flipH="1">
            <a:off x="3167590" y="2605873"/>
            <a:ext cx="2130945" cy="220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xmlns="" id="{BB2A5670-8EAF-4F49-9E62-6E9228E880E0}"/>
              </a:ext>
            </a:extLst>
          </p:cNvPr>
          <p:cNvSpPr txBox="1"/>
          <p:nvPr/>
        </p:nvSpPr>
        <p:spPr>
          <a:xfrm>
            <a:off x="1225279" y="4493932"/>
            <a:ext cx="346593" cy="36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xmlns="" id="{50C1EE1D-1F93-47EC-A179-D2FDA3546D24}"/>
              </a:ext>
            </a:extLst>
          </p:cNvPr>
          <p:cNvSpPr txBox="1"/>
          <p:nvPr/>
        </p:nvSpPr>
        <p:spPr>
          <a:xfrm>
            <a:off x="1990189" y="4492817"/>
            <a:ext cx="346593" cy="36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xmlns="" id="{1BD05CB4-01C4-42E0-A6FB-015AFF3D539C}"/>
              </a:ext>
            </a:extLst>
          </p:cNvPr>
          <p:cNvSpPr txBox="1"/>
          <p:nvPr/>
        </p:nvSpPr>
        <p:spPr>
          <a:xfrm>
            <a:off x="2627364" y="4498541"/>
            <a:ext cx="346593" cy="36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xmlns="" id="{1AA05506-32C8-476E-A9DC-AF3664317BCE}"/>
              </a:ext>
            </a:extLst>
          </p:cNvPr>
          <p:cNvSpPr txBox="1"/>
          <p:nvPr/>
        </p:nvSpPr>
        <p:spPr>
          <a:xfrm>
            <a:off x="3456792" y="4495009"/>
            <a:ext cx="346593" cy="36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xmlns="" id="{7ED70314-5750-4EC8-AE83-861F27F1712E}"/>
              </a:ext>
            </a:extLst>
          </p:cNvPr>
          <p:cNvSpPr txBox="1"/>
          <p:nvPr/>
        </p:nvSpPr>
        <p:spPr>
          <a:xfrm>
            <a:off x="4184980" y="4490160"/>
            <a:ext cx="346593" cy="36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xmlns="" id="{AF359AFB-94F5-4C13-BD24-3392720EC9A8}"/>
              </a:ext>
            </a:extLst>
          </p:cNvPr>
          <p:cNvSpPr txBox="1"/>
          <p:nvPr/>
        </p:nvSpPr>
        <p:spPr>
          <a:xfrm>
            <a:off x="4916012" y="4501610"/>
            <a:ext cx="346593" cy="36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xmlns="" id="{CA519A03-B8F6-44B0-98A9-9F56A5E6638A}"/>
              </a:ext>
            </a:extLst>
          </p:cNvPr>
          <p:cNvCxnSpPr>
            <a:cxnSpLocks/>
          </p:cNvCxnSpPr>
          <p:nvPr/>
        </p:nvCxnSpPr>
        <p:spPr>
          <a:xfrm>
            <a:off x="3160414" y="3307514"/>
            <a:ext cx="6998" cy="12570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xmlns="" id="{C731009D-0D39-4E63-ABB1-02ECACEC6324}"/>
              </a:ext>
            </a:extLst>
          </p:cNvPr>
          <p:cNvCxnSpPr>
            <a:cxnSpLocks/>
          </p:cNvCxnSpPr>
          <p:nvPr/>
        </p:nvCxnSpPr>
        <p:spPr>
          <a:xfrm flipH="1">
            <a:off x="730228" y="3300280"/>
            <a:ext cx="2422385" cy="144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TextBox 300">
            <a:extLst>
              <a:ext uri="{FF2B5EF4-FFF2-40B4-BE49-F238E27FC236}">
                <a16:creationId xmlns:a16="http://schemas.microsoft.com/office/drawing/2014/main" xmlns="" id="{E61629AC-C0AB-4007-BEB2-13FBE88E1B09}"/>
              </a:ext>
            </a:extLst>
          </p:cNvPr>
          <p:cNvSpPr txBox="1"/>
          <p:nvPr/>
        </p:nvSpPr>
        <p:spPr>
          <a:xfrm>
            <a:off x="491891" y="3750635"/>
            <a:ext cx="346593" cy="36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xmlns="" id="{505AF348-6B6C-477B-8ECC-715AE86FDFF4}"/>
              </a:ext>
            </a:extLst>
          </p:cNvPr>
          <p:cNvSpPr txBox="1"/>
          <p:nvPr/>
        </p:nvSpPr>
        <p:spPr>
          <a:xfrm>
            <a:off x="497668" y="3102921"/>
            <a:ext cx="346593" cy="36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xmlns="" id="{889DA43D-E69D-4229-82FB-E2C1E6F88CD5}"/>
              </a:ext>
            </a:extLst>
          </p:cNvPr>
          <p:cNvSpPr txBox="1"/>
          <p:nvPr/>
        </p:nvSpPr>
        <p:spPr>
          <a:xfrm>
            <a:off x="496820" y="2421906"/>
            <a:ext cx="346593" cy="36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xmlns="" id="{D7824C60-3CAE-4C05-BA06-89F5B729F92E}"/>
              </a:ext>
            </a:extLst>
          </p:cNvPr>
          <p:cNvSpPr txBox="1"/>
          <p:nvPr/>
        </p:nvSpPr>
        <p:spPr>
          <a:xfrm>
            <a:off x="496182" y="1771140"/>
            <a:ext cx="346593" cy="36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xmlns="" id="{7376ED41-D81C-4BB2-BB77-5C8B1ABD34E9}"/>
              </a:ext>
            </a:extLst>
          </p:cNvPr>
          <p:cNvSpPr txBox="1"/>
          <p:nvPr/>
        </p:nvSpPr>
        <p:spPr>
          <a:xfrm>
            <a:off x="474970" y="1023925"/>
            <a:ext cx="346593" cy="36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xmlns="" id="{DA7EA184-BC1D-4472-A8D2-F6B2DD480F09}"/>
              </a:ext>
            </a:extLst>
          </p:cNvPr>
          <p:cNvSpPr/>
          <p:nvPr/>
        </p:nvSpPr>
        <p:spPr>
          <a:xfrm>
            <a:off x="8317427" y="1275951"/>
            <a:ext cx="998290" cy="8215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3F2A3B55-3D04-4484-8426-33906C5DAE22}"/>
                  </a:ext>
                </a:extLst>
              </p:cNvPr>
              <p:cNvSpPr txBox="1"/>
              <p:nvPr/>
            </p:nvSpPr>
            <p:spPr>
              <a:xfrm>
                <a:off x="2316774" y="4769869"/>
                <a:ext cx="14895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N" b="0" dirty="0"/>
                  <a:t>Feature 1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F2A3B55-3D04-4484-8426-33906C5DA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774" y="4769869"/>
                <a:ext cx="1489576" cy="276999"/>
              </a:xfrm>
              <a:prstGeom prst="rect">
                <a:avLst/>
              </a:prstGeom>
              <a:blipFill>
                <a:blip r:embed="rId3" cstate="print"/>
                <a:stretch>
                  <a:fillRect l="-9426" t="-28261" b="-5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E45C1CBA-F436-4678-B330-CB205A0DC30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-432282" y="2675013"/>
            <a:ext cx="1489576" cy="276999"/>
          </a:xfrm>
          <a:prstGeom prst="rect">
            <a:avLst/>
          </a:prstGeom>
          <a:blipFill>
            <a:blip r:embed="rId4" cstate="print"/>
            <a:stretch>
              <a:fillRect l="-28889" r="-51111" b="-9388"/>
            </a:stretch>
          </a:blipFill>
        </p:spPr>
        <p:txBody>
          <a:bodyPr/>
          <a:lstStyle/>
          <a:p>
            <a:endParaRPr lang="en-IN" dirty="0">
              <a:noFill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3459064D-14AB-4ED6-BFC6-D5D71B43275F}"/>
                  </a:ext>
                </a:extLst>
              </p:cNvPr>
              <p:cNvSpPr txBox="1"/>
              <p:nvPr/>
            </p:nvSpPr>
            <p:spPr>
              <a:xfrm>
                <a:off x="8440509" y="1569712"/>
                <a:ext cx="79861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&gt;3.5 ?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459064D-14AB-4ED6-BFC6-D5D71B432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509" y="1569712"/>
                <a:ext cx="798616" cy="215444"/>
              </a:xfrm>
              <a:prstGeom prst="rect">
                <a:avLst/>
              </a:prstGeom>
              <a:blipFill>
                <a:blip r:embed="rId5" cstate="print"/>
                <a:stretch>
                  <a:fillRect l="-3053" r="-4580"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Flowchart: Decision 71">
            <a:extLst>
              <a:ext uri="{FF2B5EF4-FFF2-40B4-BE49-F238E27FC236}">
                <a16:creationId xmlns:a16="http://schemas.microsoft.com/office/drawing/2014/main" xmlns="" id="{1B0557DC-7355-42DD-B767-A340D0BA1A8C}"/>
              </a:ext>
            </a:extLst>
          </p:cNvPr>
          <p:cNvSpPr/>
          <p:nvPr/>
        </p:nvSpPr>
        <p:spPr>
          <a:xfrm>
            <a:off x="9861352" y="2168380"/>
            <a:ext cx="998290" cy="8215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="" xmlns:a16="http://schemas.microsoft.com/office/drawing/2014/main" id="{A0D481F5-804E-497D-AB4F-A79B0280ED65}"/>
                  </a:ext>
                </a:extLst>
              </p:cNvPr>
              <p:cNvSpPr txBox="1"/>
              <p:nvPr/>
            </p:nvSpPr>
            <p:spPr>
              <a:xfrm>
                <a:off x="10028300" y="2454058"/>
                <a:ext cx="66652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&gt;3 ?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0D481F5-804E-497D-AB4F-A79B0280E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8300" y="2454058"/>
                <a:ext cx="666529" cy="215444"/>
              </a:xfrm>
              <a:prstGeom prst="rect">
                <a:avLst/>
              </a:prstGeom>
              <a:blipFill>
                <a:blip r:embed="rId6" cstate="print"/>
                <a:stretch>
                  <a:fillRect l="-2752" r="-5505" b="-1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6FF86312-6889-4948-8B9E-22F7969E5657}"/>
              </a:ext>
            </a:extLst>
          </p:cNvPr>
          <p:cNvSpPr/>
          <p:nvPr/>
        </p:nvSpPr>
        <p:spPr>
          <a:xfrm>
            <a:off x="10824785" y="3462128"/>
            <a:ext cx="998290" cy="596013"/>
          </a:xfrm>
          <a:prstGeom prst="roundRect">
            <a:avLst/>
          </a:prstGeom>
          <a:solidFill>
            <a:srgbClr val="FF0000">
              <a:alpha val="36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Predict Red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xmlns="" id="{52A74C8E-EF64-41E4-B0C7-6883B7A9E478}"/>
              </a:ext>
            </a:extLst>
          </p:cNvPr>
          <p:cNvSpPr/>
          <p:nvPr/>
        </p:nvSpPr>
        <p:spPr>
          <a:xfrm>
            <a:off x="8955055" y="3463191"/>
            <a:ext cx="998290" cy="596013"/>
          </a:xfrm>
          <a:prstGeom prst="roundRect">
            <a:avLst/>
          </a:prstGeom>
          <a:solidFill>
            <a:srgbClr val="00B050">
              <a:alpha val="36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Predict Green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xmlns="" id="{C7E7D0FE-6BB0-4A54-B7AF-4E3D7F80AAFC}"/>
              </a:ext>
            </a:extLst>
          </p:cNvPr>
          <p:cNvCxnSpPr>
            <a:stCxn id="3" idx="3"/>
            <a:endCxn id="72" idx="0"/>
          </p:cNvCxnSpPr>
          <p:nvPr/>
        </p:nvCxnSpPr>
        <p:spPr>
          <a:xfrm>
            <a:off x="9315717" y="1686701"/>
            <a:ext cx="1044780" cy="48167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xmlns="" id="{702E7665-EDC9-4E19-B404-E4624CEA60CE}"/>
              </a:ext>
            </a:extLst>
          </p:cNvPr>
          <p:cNvCxnSpPr>
            <a:cxnSpLocks/>
            <a:stCxn id="72" idx="3"/>
            <a:endCxn id="7" idx="0"/>
          </p:cNvCxnSpPr>
          <p:nvPr/>
        </p:nvCxnSpPr>
        <p:spPr>
          <a:xfrm>
            <a:off x="10859642" y="2579130"/>
            <a:ext cx="464288" cy="88299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xmlns="" id="{E41ABDA2-FB33-409C-B971-D7EF711E106D}"/>
              </a:ext>
            </a:extLst>
          </p:cNvPr>
          <p:cNvCxnSpPr>
            <a:cxnSpLocks/>
            <a:stCxn id="72" idx="1"/>
            <a:endCxn id="75" idx="0"/>
          </p:cNvCxnSpPr>
          <p:nvPr/>
        </p:nvCxnSpPr>
        <p:spPr>
          <a:xfrm rot="10800000" flipV="1">
            <a:off x="9454200" y="2579129"/>
            <a:ext cx="407152" cy="88406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Flowchart: Decision 87">
            <a:extLst>
              <a:ext uri="{FF2B5EF4-FFF2-40B4-BE49-F238E27FC236}">
                <a16:creationId xmlns:a16="http://schemas.microsoft.com/office/drawing/2014/main" xmlns="" id="{D05A7370-1893-4D7D-ADCE-9FA7A1EDC906}"/>
              </a:ext>
            </a:extLst>
          </p:cNvPr>
          <p:cNvSpPr/>
          <p:nvPr/>
        </p:nvSpPr>
        <p:spPr>
          <a:xfrm>
            <a:off x="6706400" y="2191537"/>
            <a:ext cx="998290" cy="8215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="" xmlns:a16="http://schemas.microsoft.com/office/drawing/2014/main" id="{9AC9C284-F488-4015-BEF3-1BE114A3C58D}"/>
                  </a:ext>
                </a:extLst>
              </p:cNvPr>
              <p:cNvSpPr txBox="1"/>
              <p:nvPr/>
            </p:nvSpPr>
            <p:spPr>
              <a:xfrm>
                <a:off x="6873348" y="2477215"/>
                <a:ext cx="66652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&gt;2 ?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AC9C284-F488-4015-BEF3-1BE114A3C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348" y="2477215"/>
                <a:ext cx="666529" cy="215444"/>
              </a:xfrm>
              <a:prstGeom prst="rect">
                <a:avLst/>
              </a:prstGeom>
              <a:blipFill>
                <a:blip r:embed="rId7" cstate="print"/>
                <a:stretch>
                  <a:fillRect l="-3670" r="-5505"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xmlns="" id="{8623AE54-C9DA-4401-B788-82B48D8B2983}"/>
              </a:ext>
            </a:extLst>
          </p:cNvPr>
          <p:cNvSpPr/>
          <p:nvPr/>
        </p:nvSpPr>
        <p:spPr>
          <a:xfrm>
            <a:off x="7669833" y="3485285"/>
            <a:ext cx="998290" cy="596013"/>
          </a:xfrm>
          <a:prstGeom prst="roundRect">
            <a:avLst/>
          </a:prstGeom>
          <a:solidFill>
            <a:srgbClr val="00B050">
              <a:alpha val="36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Predict Green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xmlns="" id="{53087F36-5E04-4B1D-B92E-5531784DED6B}"/>
              </a:ext>
            </a:extLst>
          </p:cNvPr>
          <p:cNvSpPr/>
          <p:nvPr/>
        </p:nvSpPr>
        <p:spPr>
          <a:xfrm>
            <a:off x="5800103" y="3486348"/>
            <a:ext cx="998290" cy="596013"/>
          </a:xfrm>
          <a:prstGeom prst="roundRect">
            <a:avLst/>
          </a:prstGeom>
          <a:solidFill>
            <a:srgbClr val="FF0000">
              <a:alpha val="36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Predict Red</a:t>
            </a:r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xmlns="" id="{DFB12FC2-F115-4BAA-9354-D7828C687D9D}"/>
              </a:ext>
            </a:extLst>
          </p:cNvPr>
          <p:cNvCxnSpPr>
            <a:cxnSpLocks/>
            <a:stCxn id="88" idx="3"/>
            <a:endCxn id="90" idx="0"/>
          </p:cNvCxnSpPr>
          <p:nvPr/>
        </p:nvCxnSpPr>
        <p:spPr>
          <a:xfrm>
            <a:off x="7704690" y="2602287"/>
            <a:ext cx="464288" cy="88299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xmlns="" id="{51C4D225-B775-44C6-B1FC-4FB260CAFDA6}"/>
              </a:ext>
            </a:extLst>
          </p:cNvPr>
          <p:cNvCxnSpPr>
            <a:cxnSpLocks/>
            <a:stCxn id="88" idx="1"/>
            <a:endCxn id="91" idx="0"/>
          </p:cNvCxnSpPr>
          <p:nvPr/>
        </p:nvCxnSpPr>
        <p:spPr>
          <a:xfrm rot="10800000" flipV="1">
            <a:off x="6299248" y="2602286"/>
            <a:ext cx="407152" cy="88406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xmlns="" id="{FCD86159-59E4-4502-800F-4F9877A3BE9E}"/>
              </a:ext>
            </a:extLst>
          </p:cNvPr>
          <p:cNvCxnSpPr>
            <a:cxnSpLocks/>
            <a:stCxn id="3" idx="1"/>
            <a:endCxn id="88" idx="0"/>
          </p:cNvCxnSpPr>
          <p:nvPr/>
        </p:nvCxnSpPr>
        <p:spPr>
          <a:xfrm rot="10800000" flipV="1">
            <a:off x="7205545" y="1686701"/>
            <a:ext cx="1111882" cy="50483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xmlns="" id="{B837F797-5FCB-48EF-B29B-077DF2BC41B3}"/>
              </a:ext>
            </a:extLst>
          </p:cNvPr>
          <p:cNvCxnSpPr>
            <a:cxnSpLocks/>
          </p:cNvCxnSpPr>
          <p:nvPr/>
        </p:nvCxnSpPr>
        <p:spPr>
          <a:xfrm flipH="1">
            <a:off x="3159543" y="1213058"/>
            <a:ext cx="11902" cy="33515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xmlns="" id="{4AEAC0D0-1C2D-478B-BE74-42DDF2341D95}"/>
              </a:ext>
            </a:extLst>
          </p:cNvPr>
          <p:cNvCxnSpPr>
            <a:cxnSpLocks/>
          </p:cNvCxnSpPr>
          <p:nvPr/>
        </p:nvCxnSpPr>
        <p:spPr>
          <a:xfrm flipH="1">
            <a:off x="745028" y="3285963"/>
            <a:ext cx="4584559" cy="239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A0839AB2-128C-4BAD-B984-640820038810}"/>
              </a:ext>
            </a:extLst>
          </p:cNvPr>
          <p:cNvSpPr txBox="1"/>
          <p:nvPr/>
        </p:nvSpPr>
        <p:spPr>
          <a:xfrm>
            <a:off x="7529647" y="1317369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xmlns="" id="{5551EBF7-7DF8-4295-9C37-3C384B8D1996}"/>
              </a:ext>
            </a:extLst>
          </p:cNvPr>
          <p:cNvSpPr txBox="1"/>
          <p:nvPr/>
        </p:nvSpPr>
        <p:spPr>
          <a:xfrm>
            <a:off x="9581786" y="1317368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xmlns="" id="{FF5E484C-6A75-42C2-9446-A35610F5722B}"/>
              </a:ext>
            </a:extLst>
          </p:cNvPr>
          <p:cNvSpPr txBox="1"/>
          <p:nvPr/>
        </p:nvSpPr>
        <p:spPr>
          <a:xfrm>
            <a:off x="6251483" y="2270596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1F755DE1-FBDA-422D-A88F-45465963A7AD}"/>
              </a:ext>
            </a:extLst>
          </p:cNvPr>
          <p:cNvSpPr txBox="1"/>
          <p:nvPr/>
        </p:nvSpPr>
        <p:spPr>
          <a:xfrm>
            <a:off x="7656337" y="2253079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xmlns="" id="{676EFC8F-ECE5-4E7E-AFE1-E2A0C9401A10}"/>
              </a:ext>
            </a:extLst>
          </p:cNvPr>
          <p:cNvSpPr txBox="1"/>
          <p:nvPr/>
        </p:nvSpPr>
        <p:spPr>
          <a:xfrm>
            <a:off x="10793213" y="2244799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xmlns="" id="{D3946EEF-2C64-4249-A018-CAEBC5D6830F}"/>
              </a:ext>
            </a:extLst>
          </p:cNvPr>
          <p:cNvSpPr txBox="1"/>
          <p:nvPr/>
        </p:nvSpPr>
        <p:spPr>
          <a:xfrm>
            <a:off x="9425810" y="2252807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xmlns="" id="{3CE06481-2715-44A7-AB42-268EA83B1CFB}"/>
              </a:ext>
            </a:extLst>
          </p:cNvPr>
          <p:cNvCxnSpPr>
            <a:cxnSpLocks/>
          </p:cNvCxnSpPr>
          <p:nvPr/>
        </p:nvCxnSpPr>
        <p:spPr>
          <a:xfrm flipH="1">
            <a:off x="739030" y="2606045"/>
            <a:ext cx="4577985" cy="482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xmlns="" id="{D45D473F-1321-406E-8CE5-71729460AF01}"/>
              </a:ext>
            </a:extLst>
          </p:cNvPr>
          <p:cNvSpPr/>
          <p:nvPr/>
        </p:nvSpPr>
        <p:spPr>
          <a:xfrm>
            <a:off x="766059" y="3339235"/>
            <a:ext cx="2386554" cy="1202527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xmlns="" id="{AFE27D4D-D146-48E3-B034-231A14A245DF}"/>
              </a:ext>
            </a:extLst>
          </p:cNvPr>
          <p:cNvSpPr/>
          <p:nvPr/>
        </p:nvSpPr>
        <p:spPr>
          <a:xfrm>
            <a:off x="772351" y="1229933"/>
            <a:ext cx="2424714" cy="2084816"/>
          </a:xfrm>
          <a:prstGeom prst="rect">
            <a:avLst/>
          </a:prstGeom>
          <a:solidFill>
            <a:srgbClr val="00B05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xmlns="" id="{32382602-1F3B-49CC-9A68-974867924F9E}"/>
              </a:ext>
            </a:extLst>
          </p:cNvPr>
          <p:cNvSpPr/>
          <p:nvPr/>
        </p:nvSpPr>
        <p:spPr>
          <a:xfrm>
            <a:off x="3187091" y="2638918"/>
            <a:ext cx="2124846" cy="1911769"/>
          </a:xfrm>
          <a:prstGeom prst="rect">
            <a:avLst/>
          </a:prstGeom>
          <a:solidFill>
            <a:srgbClr val="00B05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Oval 9">
            <a:extLst>
              <a:ext uri="{FF2B5EF4-FFF2-40B4-BE49-F238E27FC236}">
                <a16:creationId xmlns:a16="http://schemas.microsoft.com/office/drawing/2014/main" xmlns="" id="{EC373842-CAF9-4CE0-82FD-C001EE5FD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788" y="1920225"/>
            <a:ext cx="224510" cy="236658"/>
          </a:xfrm>
          <a:prstGeom prst="ellipse">
            <a:avLst/>
          </a:prstGeom>
          <a:solidFill>
            <a:schemeClr val="tx1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17" name="Oval 9">
            <a:extLst>
              <a:ext uri="{FF2B5EF4-FFF2-40B4-BE49-F238E27FC236}">
                <a16:creationId xmlns:a16="http://schemas.microsoft.com/office/drawing/2014/main" xmlns="" id="{901BE860-CCC0-4321-A0E3-8F5EEEA52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4317" y="1305149"/>
            <a:ext cx="224510" cy="236658"/>
          </a:xfrm>
          <a:prstGeom prst="ellipse">
            <a:avLst/>
          </a:prstGeom>
          <a:solidFill>
            <a:schemeClr val="tx1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24" name="Oval 9">
            <a:extLst>
              <a:ext uri="{FF2B5EF4-FFF2-40B4-BE49-F238E27FC236}">
                <a16:creationId xmlns:a16="http://schemas.microsoft.com/office/drawing/2014/main" xmlns="" id="{8F09DA14-EB94-4C34-BDA0-F6F573FB0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6574" y="3632306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25" name="Oval 9">
            <a:extLst>
              <a:ext uri="{FF2B5EF4-FFF2-40B4-BE49-F238E27FC236}">
                <a16:creationId xmlns:a16="http://schemas.microsoft.com/office/drawing/2014/main" xmlns="" id="{2259AF09-BFAD-428B-B60A-09F9C3982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788" y="1920225"/>
            <a:ext cx="224510" cy="236658"/>
          </a:xfrm>
          <a:prstGeom prst="ellipse">
            <a:avLst/>
          </a:prstGeom>
          <a:solidFill>
            <a:srgbClr val="00B050"/>
          </a:solidFill>
          <a:ln w="9525" cap="flat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A98E7331-A8F9-4EB7-974C-016D7421D0C6}"/>
              </a:ext>
            </a:extLst>
          </p:cNvPr>
          <p:cNvSpPr txBox="1"/>
          <p:nvPr/>
        </p:nvSpPr>
        <p:spPr>
          <a:xfrm>
            <a:off x="1293387" y="1657824"/>
            <a:ext cx="1104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Test input</a:t>
            </a:r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xmlns="" id="{6538264D-2BDD-4859-B982-56E3F9599D0B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88043" y="5482885"/>
            <a:ext cx="1010687" cy="965223"/>
          </a:xfrm>
          <a:prstGeom prst="rect">
            <a:avLst/>
          </a:prstGeom>
        </p:spPr>
      </p:pic>
      <p:sp>
        <p:nvSpPr>
          <p:cNvPr id="128" name="Speech Bubble: Rectangle 127">
            <a:extLst>
              <a:ext uri="{FF2B5EF4-FFF2-40B4-BE49-F238E27FC236}">
                <a16:creationId xmlns:a16="http://schemas.microsoft.com/office/drawing/2014/main" xmlns="" id="{C47B5C28-83AA-40ED-8F8E-FEA24A15B7BA}"/>
              </a:ext>
            </a:extLst>
          </p:cNvPr>
          <p:cNvSpPr/>
          <p:nvPr/>
        </p:nvSpPr>
        <p:spPr>
          <a:xfrm>
            <a:off x="1854956" y="5209858"/>
            <a:ext cx="5241882" cy="1478460"/>
          </a:xfrm>
          <a:prstGeom prst="wedgeRectCallout">
            <a:avLst>
              <a:gd name="adj1" fmla="val -58734"/>
              <a:gd name="adj2" fmla="val 7027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DT is very efficient at test time: </a:t>
            </a:r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To predict the label of a test point, nearest </a:t>
            </a:r>
            <a:r>
              <a:rPr lang="en-IN" sz="2000" b="0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neighbors</a:t>
            </a:r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 will require computing distances from 48 training inputs. DT predicts the label </a:t>
            </a:r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by doing just 2 feature-value comparisons! Way </a:t>
            </a:r>
            <a:r>
              <a:rPr lang="en-IN" sz="2000" dirty="0" smtClean="0">
                <a:solidFill>
                  <a:schemeClr val="tx1"/>
                </a:solidFill>
                <a:latin typeface="Abadi Extra Light" panose="020B0204020104020204" pitchFamily="34" charset="0"/>
              </a:rPr>
              <a:t>faster!</a:t>
            </a:r>
            <a:endParaRPr lang="en-IN" sz="20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xmlns="" id="{1973F262-BF93-415B-972C-B3C282565494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930465" y="4967851"/>
            <a:ext cx="1010687" cy="965223"/>
          </a:xfrm>
          <a:prstGeom prst="rect">
            <a:avLst/>
          </a:prstGeom>
        </p:spPr>
      </p:pic>
      <p:sp>
        <p:nvSpPr>
          <p:cNvPr id="131" name="Speech Bubble: Rectangle 130">
            <a:extLst>
              <a:ext uri="{FF2B5EF4-FFF2-40B4-BE49-F238E27FC236}">
                <a16:creationId xmlns:a16="http://schemas.microsoft.com/office/drawing/2014/main" xmlns="" id="{250BFE80-05A1-473C-B3C4-AB26891BDBC3}"/>
              </a:ext>
            </a:extLst>
          </p:cNvPr>
          <p:cNvSpPr/>
          <p:nvPr/>
        </p:nvSpPr>
        <p:spPr>
          <a:xfrm>
            <a:off x="7572134" y="4694316"/>
            <a:ext cx="3221079" cy="1238250"/>
          </a:xfrm>
          <a:prstGeom prst="wedgeRectCallout">
            <a:avLst>
              <a:gd name="adj1" fmla="val 59549"/>
              <a:gd name="adj2" fmla="val -1494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Remember: Root node contains all training inputs</a:t>
            </a:r>
          </a:p>
          <a:p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Each leaf node receives a subset of training inputs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74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5287"/>
    </mc:Choice>
    <mc:Fallback xmlns="">
      <p:transition spd="slow" advTm="4752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5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73 0.00787 L -0.00573 0.00787 C -0.01498 0.01365 -0.02136 0.01852 -0.03086 0.02153 C -0.03425 0.02245 -0.03789 0.02245 -0.04141 0.02315 C -0.04362 0.02361 -0.04584 0.02453 -0.04818 0.02477 C -0.05808 0.02615 -0.06797 0.02708 -0.078 0.02824 C -0.07982 0.02893 -0.08177 0.0294 -0.08373 0.03009 C -0.08659 0.03102 -0.08946 0.03264 -0.09232 0.03333 C -0.09623 0.03449 -0.1 0.03449 -0.10391 0.03518 C -0.10612 0.03565 -0.10834 0.03634 -0.11068 0.0368 C -0.11315 0.03634 -0.11576 0.03518 -0.11836 0.03518 C -0.12266 0.03518 -0.12852 0.04097 -0.13177 0.04375 C -0.13334 0.04815 -0.13542 0.05231 -0.13659 0.0574 C -0.13737 0.06065 -0.1375 0.06412 -0.1375 0.06759 C -0.1375 0.08819 -0.13711 0.10856 -0.13659 0.12916 C -0.13542 0.17338 -0.13568 0.10856 -0.13568 0.14467 L -0.13568 0.14467 L -0.04519 0.17708 C -0.04362 0.18102 -0.04141 0.18449 -0.04037 0.18912 C -0.03672 0.20694 -0.03672 0.21921 -0.03946 0.23703 C -0.04024 0.24236 -0.04206 0.24722 -0.04336 0.25231 C -0.04401 0.25509 -0.04453 0.2581 -0.04519 0.26088 C -0.04453 0.27963 -0.04336 0.29699 -0.04519 0.31551 C -0.04558 0.31944 -0.04818 0.32592 -0.04818 0.32592 L -0.04818 0.33796 " pathEditMode="relative" ptsTypes="AAAAAAAAAAAAAAAAAAAAAAAAA">
                                      <p:cBhvr>
                                        <p:cTn id="362" dur="5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5" grpId="0" animBg="1"/>
      <p:bldP spid="233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0" grpId="0" animBg="1"/>
      <p:bldP spid="281" grpId="0" animBg="1"/>
      <p:bldP spid="290" grpId="0"/>
      <p:bldP spid="291" grpId="0"/>
      <p:bldP spid="292" grpId="0"/>
      <p:bldP spid="294" grpId="0"/>
      <p:bldP spid="295" grpId="0"/>
      <p:bldP spid="296" grpId="0"/>
      <p:bldP spid="301" grpId="0"/>
      <p:bldP spid="302" grpId="0"/>
      <p:bldP spid="303" grpId="0"/>
      <p:bldP spid="304" grpId="0"/>
      <p:bldP spid="305" grpId="0"/>
      <p:bldP spid="3" grpId="0" animBg="1"/>
      <p:bldP spid="4" grpId="0" animBg="1"/>
      <p:bldP spid="70" grpId="0" animBg="1"/>
      <p:bldP spid="6" grpId="0" animBg="1"/>
      <p:bldP spid="72" grpId="0" animBg="1"/>
      <p:bldP spid="73" grpId="0" animBg="1"/>
      <p:bldP spid="7" grpId="0" animBg="1"/>
      <p:bldP spid="75" grpId="0" animBg="1"/>
      <p:bldP spid="88" grpId="0" animBg="1"/>
      <p:bldP spid="89" grpId="0" animBg="1"/>
      <p:bldP spid="90" grpId="0" animBg="1"/>
      <p:bldP spid="91" grpId="0" animBg="1"/>
      <p:bldP spid="23" grpId="0"/>
      <p:bldP spid="104" grpId="0"/>
      <p:bldP spid="105" grpId="0"/>
      <p:bldP spid="106" grpId="0"/>
      <p:bldP spid="107" grpId="0"/>
      <p:bldP spid="108" grpId="0"/>
      <p:bldP spid="112" grpId="0" animBg="1"/>
      <p:bldP spid="113" grpId="0" animBg="1"/>
      <p:bldP spid="114" grpId="0" animBg="1"/>
      <p:bldP spid="116" grpId="0" animBg="1"/>
      <p:bldP spid="116" grpId="1" animBg="1"/>
      <p:bldP spid="117" grpId="0" animBg="1"/>
      <p:bldP spid="117" grpId="1" animBg="1"/>
      <p:bldP spid="117" grpId="2" animBg="1"/>
      <p:bldP spid="124" grpId="0" animBg="1"/>
      <p:bldP spid="125" grpId="0" animBg="1"/>
      <p:bldP spid="26" grpId="0"/>
      <p:bldP spid="128" grpId="0" animBg="1"/>
      <p:bldP spid="1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Decision Trees for Classification: Another Example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6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0" name="Content Placeholder 2">
            <a:extLst>
              <a:ext uri="{FF2B5EF4-FFF2-40B4-BE49-F238E27FC236}">
                <a16:creationId xmlns:a16="http://schemas.microsoft.com/office/drawing/2014/main" xmlns="" id="{EFFD03E5-4B44-43BB-B43E-7089CC9B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740617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Deciding whether to play or not to play Tennis on a Saturday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Each input (Saturday) has 4 categorical features: Outlook, Temp., Humidity, Wind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A binary classification problem (play vs no-play)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Below Left: Training data, Below Right: A decision tree constructed using this data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11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1100" dirty="0">
              <a:latin typeface="Abadi Extra Light" panose="020B0204020104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C3E3B10D-4AF8-47EA-8CB9-BED418DDB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573" y="3238343"/>
            <a:ext cx="4179643" cy="3103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xmlns="" id="{969A23C2-4CB1-4879-AC9F-885F9FA5C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230" y="3152934"/>
            <a:ext cx="5847617" cy="318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C868095-19AD-486E-BC9C-F4CF4D19EDDC}"/>
              </a:ext>
            </a:extLst>
          </p:cNvPr>
          <p:cNvSpPr txBox="1"/>
          <p:nvPr/>
        </p:nvSpPr>
        <p:spPr>
          <a:xfrm>
            <a:off x="-4203" y="6606220"/>
            <a:ext cx="1707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Example credit: Tom Mitchell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146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349"/>
    </mc:Choice>
    <mc:Fallback xmlns="">
      <p:transition spd="slow" advTm="182349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78C5E284-6886-43FA-9499-D8A6DA147717}"/>
              </a:ext>
            </a:extLst>
          </p:cNvPr>
          <p:cNvSpPr/>
          <p:nvPr/>
        </p:nvSpPr>
        <p:spPr>
          <a:xfrm>
            <a:off x="265245" y="3089687"/>
            <a:ext cx="5009608" cy="1224405"/>
          </a:xfrm>
          <a:prstGeom prst="rect">
            <a:avLst/>
          </a:prstGeom>
          <a:solidFill>
            <a:srgbClr val="FF0000">
              <a:alpha val="2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Decision Trees: Some Considerations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19146" y="169682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7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xmlns="" id="{60A06722-EDF2-4418-9797-499014F6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740617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What should be the </a:t>
            </a:r>
            <a:r>
              <a:rPr lang="en-GB" dirty="0">
                <a:solidFill>
                  <a:srgbClr val="0000FF"/>
                </a:solidFill>
                <a:latin typeface="Abadi Extra Light" panose="020B0204020104020204" pitchFamily="34" charset="0"/>
              </a:rPr>
              <a:t>size/shape </a:t>
            </a:r>
            <a:r>
              <a:rPr lang="en-GB" dirty="0">
                <a:latin typeface="Abadi Extra Light" panose="020B0204020104020204" pitchFamily="34" charset="0"/>
              </a:rPr>
              <a:t>of the DT?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Number of internal and leaf nodes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Branching factor of internal nodes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Depth of the tree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9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Split criterion at internal nodes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Use another classifier?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Or maybe by doing a simpler test?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9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What to do at the leaf node? Some options: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Make a constant prediction for each test input reaching there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Use a nearest neighbor based prediction using training inputs at that leaf node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Train and predict using some other sophisticated supervised learner on that node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11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1100" dirty="0">
              <a:latin typeface="Abadi Extra Light" panose="020B0204020104020204" pitchFamily="34" charset="0"/>
            </a:endParaRPr>
          </a:p>
        </p:txBody>
      </p:sp>
      <p:sp>
        <p:nvSpPr>
          <p:cNvPr id="48" name="AutoShape 2">
            <a:extLst>
              <a:ext uri="{FF2B5EF4-FFF2-40B4-BE49-F238E27FC236}">
                <a16:creationId xmlns:a16="http://schemas.microsoft.com/office/drawing/2014/main" xmlns="" id="{18365918-6BED-45DA-B366-67C49D5CD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5785" y="1074293"/>
            <a:ext cx="794423" cy="733183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 sz="1600" dirty="0"/>
          </a:p>
        </p:txBody>
      </p:sp>
      <p:sp>
        <p:nvSpPr>
          <p:cNvPr id="55" name="AutoShape 7">
            <a:extLst>
              <a:ext uri="{FF2B5EF4-FFF2-40B4-BE49-F238E27FC236}">
                <a16:creationId xmlns:a16="http://schemas.microsoft.com/office/drawing/2014/main" xmlns="" id="{16EFF918-8A09-4C3E-92CB-C5A38C6AA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2157" y="3990056"/>
            <a:ext cx="792525" cy="5452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 dirty="0"/>
          </a:p>
        </p:txBody>
      </p:sp>
      <p:sp>
        <p:nvSpPr>
          <p:cNvPr id="67" name="AutoShape 2">
            <a:extLst>
              <a:ext uri="{FF2B5EF4-FFF2-40B4-BE49-F238E27FC236}">
                <a16:creationId xmlns:a16="http://schemas.microsoft.com/office/drawing/2014/main" xmlns="" id="{ACC68A2F-83EB-45C2-86FD-5AD2603D1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6152" y="2094827"/>
            <a:ext cx="794423" cy="733183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 sz="1600" dirty="0"/>
          </a:p>
        </p:txBody>
      </p:sp>
      <p:sp>
        <p:nvSpPr>
          <p:cNvPr id="83" name="AutoShape 2">
            <a:extLst>
              <a:ext uri="{FF2B5EF4-FFF2-40B4-BE49-F238E27FC236}">
                <a16:creationId xmlns:a16="http://schemas.microsoft.com/office/drawing/2014/main" xmlns="" id="{626836AC-AF7C-4EA0-8262-FE9307335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9421" y="2192545"/>
            <a:ext cx="794423" cy="733183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 sz="1600" dirty="0"/>
          </a:p>
        </p:txBody>
      </p:sp>
      <p:sp>
        <p:nvSpPr>
          <p:cNvPr id="84" name="AutoShape 2">
            <a:extLst>
              <a:ext uri="{FF2B5EF4-FFF2-40B4-BE49-F238E27FC236}">
                <a16:creationId xmlns:a16="http://schemas.microsoft.com/office/drawing/2014/main" xmlns="" id="{FFAD5B93-D104-49B4-9D1C-A4253628D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6617" y="3061845"/>
            <a:ext cx="794423" cy="733183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 sz="1600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xmlns="" id="{015CD124-3627-41E6-A7F2-5CEC2DBF8079}"/>
              </a:ext>
            </a:extLst>
          </p:cNvPr>
          <p:cNvCxnSpPr>
            <a:cxnSpLocks/>
            <a:stCxn id="48" idx="1"/>
            <a:endCxn id="67" idx="0"/>
          </p:cNvCxnSpPr>
          <p:nvPr/>
        </p:nvCxnSpPr>
        <p:spPr>
          <a:xfrm rot="10800000" flipV="1">
            <a:off x="6843365" y="1440885"/>
            <a:ext cx="1592421" cy="653942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xmlns="" id="{828CBDA8-6A70-4138-83F3-A6E130496A36}"/>
              </a:ext>
            </a:extLst>
          </p:cNvPr>
          <p:cNvCxnSpPr>
            <a:cxnSpLocks/>
            <a:stCxn id="48" idx="3"/>
            <a:endCxn id="83" idx="0"/>
          </p:cNvCxnSpPr>
          <p:nvPr/>
        </p:nvCxnSpPr>
        <p:spPr>
          <a:xfrm>
            <a:off x="9230208" y="1440885"/>
            <a:ext cx="1516425" cy="75166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xmlns="" id="{796469FC-8703-4126-A376-1D4FDA747834}"/>
              </a:ext>
            </a:extLst>
          </p:cNvPr>
          <p:cNvCxnSpPr>
            <a:cxnSpLocks/>
            <a:endCxn id="84" idx="0"/>
          </p:cNvCxnSpPr>
          <p:nvPr/>
        </p:nvCxnSpPr>
        <p:spPr>
          <a:xfrm rot="10800000" flipV="1">
            <a:off x="9323830" y="2594175"/>
            <a:ext cx="1025595" cy="46767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AutoShape 7">
            <a:extLst>
              <a:ext uri="{FF2B5EF4-FFF2-40B4-BE49-F238E27FC236}">
                <a16:creationId xmlns:a16="http://schemas.microsoft.com/office/drawing/2014/main" xmlns="" id="{C5824EF4-DEB1-4BCD-B638-24BFB053B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945" y="3035506"/>
            <a:ext cx="792525" cy="5452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 dirty="0"/>
          </a:p>
        </p:txBody>
      </p:sp>
      <p:sp>
        <p:nvSpPr>
          <p:cNvPr id="94" name="AutoShape 7">
            <a:extLst>
              <a:ext uri="{FF2B5EF4-FFF2-40B4-BE49-F238E27FC236}">
                <a16:creationId xmlns:a16="http://schemas.microsoft.com/office/drawing/2014/main" xmlns="" id="{8C7CC034-67B7-418B-B500-5866AA9B9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1218" y="4027677"/>
            <a:ext cx="792525" cy="5452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 dirty="0"/>
          </a:p>
        </p:txBody>
      </p:sp>
      <p:sp>
        <p:nvSpPr>
          <p:cNvPr id="102" name="AutoShape 7">
            <a:extLst>
              <a:ext uri="{FF2B5EF4-FFF2-40B4-BE49-F238E27FC236}">
                <a16:creationId xmlns:a16="http://schemas.microsoft.com/office/drawing/2014/main" xmlns="" id="{5D1AA9F5-5E1A-4C09-B505-560EF962A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5657" y="3033194"/>
            <a:ext cx="792525" cy="5452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 dirty="0"/>
          </a:p>
        </p:txBody>
      </p:sp>
      <p:sp>
        <p:nvSpPr>
          <p:cNvPr id="103" name="AutoShape 7">
            <a:extLst>
              <a:ext uri="{FF2B5EF4-FFF2-40B4-BE49-F238E27FC236}">
                <a16:creationId xmlns:a16="http://schemas.microsoft.com/office/drawing/2014/main" xmlns="" id="{DE96BB15-B6F5-4CEA-8D65-2FFB27886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8693" y="3033194"/>
            <a:ext cx="792525" cy="5452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 dirty="0"/>
          </a:p>
        </p:txBody>
      </p:sp>
      <p:sp>
        <p:nvSpPr>
          <p:cNvPr id="107" name="AutoShape 7">
            <a:extLst>
              <a:ext uri="{FF2B5EF4-FFF2-40B4-BE49-F238E27FC236}">
                <a16:creationId xmlns:a16="http://schemas.microsoft.com/office/drawing/2014/main" xmlns="" id="{B766D5DE-832E-4899-BFCC-BB5CDA060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9475" y="3061845"/>
            <a:ext cx="792525" cy="5452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 dirty="0"/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xmlns="" id="{880815D6-1810-437D-8A54-A9BF9A1DE64A}"/>
              </a:ext>
            </a:extLst>
          </p:cNvPr>
          <p:cNvCxnSpPr>
            <a:cxnSpLocks/>
            <a:stCxn id="83" idx="3"/>
            <a:endCxn id="107" idx="0"/>
          </p:cNvCxnSpPr>
          <p:nvPr/>
        </p:nvCxnSpPr>
        <p:spPr>
          <a:xfrm>
            <a:off x="11143844" y="2559137"/>
            <a:ext cx="651894" cy="50270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xmlns="" id="{3F706AFE-4626-4CAC-B6E9-5DBE66C26EDB}"/>
              </a:ext>
            </a:extLst>
          </p:cNvPr>
          <p:cNvCxnSpPr>
            <a:cxnSpLocks/>
            <a:stCxn id="84" idx="1"/>
          </p:cNvCxnSpPr>
          <p:nvPr/>
        </p:nvCxnSpPr>
        <p:spPr>
          <a:xfrm rot="10800000" flipV="1">
            <a:off x="8647481" y="3428436"/>
            <a:ext cx="279136" cy="58073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xmlns="" id="{E6486222-6E16-4943-ABA2-0B0C24072DB2}"/>
              </a:ext>
            </a:extLst>
          </p:cNvPr>
          <p:cNvCxnSpPr>
            <a:cxnSpLocks/>
            <a:stCxn id="84" idx="3"/>
            <a:endCxn id="55" idx="0"/>
          </p:cNvCxnSpPr>
          <p:nvPr/>
        </p:nvCxnSpPr>
        <p:spPr>
          <a:xfrm>
            <a:off x="9721040" y="3428437"/>
            <a:ext cx="267380" cy="56161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xmlns="" id="{111B6D52-31F6-4BCA-B642-58DBCDFC8786}"/>
              </a:ext>
            </a:extLst>
          </p:cNvPr>
          <p:cNvCxnSpPr>
            <a:cxnSpLocks/>
            <a:stCxn id="67" idx="1"/>
            <a:endCxn id="93" idx="0"/>
          </p:cNvCxnSpPr>
          <p:nvPr/>
        </p:nvCxnSpPr>
        <p:spPr>
          <a:xfrm rot="10800000" flipV="1">
            <a:off x="5795208" y="2461418"/>
            <a:ext cx="650944" cy="57408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xmlns="" id="{EF0E50B1-BB99-44BD-8CC7-19A4C9661F26}"/>
              </a:ext>
            </a:extLst>
          </p:cNvPr>
          <p:cNvCxnSpPr>
            <a:cxnSpLocks/>
            <a:stCxn id="67" idx="3"/>
            <a:endCxn id="103" idx="0"/>
          </p:cNvCxnSpPr>
          <p:nvPr/>
        </p:nvCxnSpPr>
        <p:spPr>
          <a:xfrm>
            <a:off x="7240575" y="2461419"/>
            <a:ext cx="614381" cy="57177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CA100736-D4E8-443C-8E9A-0C53E19F65B7}"/>
              </a:ext>
            </a:extLst>
          </p:cNvPr>
          <p:cNvCxnSpPr>
            <a:cxnSpLocks/>
            <a:stCxn id="67" idx="2"/>
            <a:endCxn id="102" idx="0"/>
          </p:cNvCxnSpPr>
          <p:nvPr/>
        </p:nvCxnSpPr>
        <p:spPr>
          <a:xfrm>
            <a:off x="6843364" y="2828010"/>
            <a:ext cx="8556" cy="2051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AutoShape 7">
            <a:extLst>
              <a:ext uri="{FF2B5EF4-FFF2-40B4-BE49-F238E27FC236}">
                <a16:creationId xmlns:a16="http://schemas.microsoft.com/office/drawing/2014/main" xmlns="" id="{DC72B99A-D084-4ECD-9993-1531B0107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1668" y="3074618"/>
            <a:ext cx="792525" cy="5452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 dirty="0"/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xmlns="" id="{7B36722D-B49E-4888-ACC3-C2BE6592503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098114" y="604502"/>
            <a:ext cx="1010687" cy="965223"/>
          </a:xfrm>
          <a:prstGeom prst="rect">
            <a:avLst/>
          </a:prstGeom>
        </p:spPr>
      </p:pic>
      <p:sp>
        <p:nvSpPr>
          <p:cNvPr id="120" name="Speech Bubble: Rectangle 119">
            <a:extLst>
              <a:ext uri="{FF2B5EF4-FFF2-40B4-BE49-F238E27FC236}">
                <a16:creationId xmlns:a16="http://schemas.microsoft.com/office/drawing/2014/main" xmlns="" id="{3B98B7E8-5D54-4C94-9DC4-58DC6EB145DC}"/>
              </a:ext>
            </a:extLst>
          </p:cNvPr>
          <p:cNvSpPr/>
          <p:nvPr/>
        </p:nvSpPr>
        <p:spPr>
          <a:xfrm>
            <a:off x="8687812" y="176069"/>
            <a:ext cx="2628395" cy="821499"/>
          </a:xfrm>
          <a:prstGeom prst="wedgeRectCallout">
            <a:avLst>
              <a:gd name="adj1" fmla="val 56239"/>
              <a:gd name="adj2" fmla="val 52713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Usually, cross-validation can be used to decide size/shape</a:t>
            </a: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xmlns="" id="{848ED10C-196C-40B6-BF5A-3571BB1C637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207195" y="5136430"/>
            <a:ext cx="1010687" cy="965223"/>
          </a:xfrm>
          <a:prstGeom prst="rect">
            <a:avLst/>
          </a:prstGeom>
        </p:spPr>
      </p:pic>
      <p:sp>
        <p:nvSpPr>
          <p:cNvPr id="122" name="Speech Bubble: Rectangle 121">
            <a:extLst>
              <a:ext uri="{FF2B5EF4-FFF2-40B4-BE49-F238E27FC236}">
                <a16:creationId xmlns:a16="http://schemas.microsoft.com/office/drawing/2014/main" xmlns="" id="{34046C09-9D12-475A-91EF-3DAB9C2FB20E}"/>
              </a:ext>
            </a:extLst>
          </p:cNvPr>
          <p:cNvSpPr/>
          <p:nvPr/>
        </p:nvSpPr>
        <p:spPr>
          <a:xfrm>
            <a:off x="8352587" y="4657939"/>
            <a:ext cx="2937786" cy="861419"/>
          </a:xfrm>
          <a:prstGeom prst="wedgeRectCallout">
            <a:avLst>
              <a:gd name="adj1" fmla="val 56239"/>
              <a:gd name="adj2" fmla="val 52713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Usually, constant prediction at leaf nodes used since it will be very fast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771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748"/>
    </mc:Choice>
    <mc:Fallback xmlns="">
      <p:transition spd="slow" advTm="3227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8" grpId="0" animBg="1"/>
      <p:bldP spid="55" grpId="0" animBg="1"/>
      <p:bldP spid="67" grpId="0" animBg="1"/>
      <p:bldP spid="83" grpId="0" animBg="1"/>
      <p:bldP spid="84" grpId="0" animBg="1"/>
      <p:bldP spid="93" grpId="0" animBg="1"/>
      <p:bldP spid="94" grpId="0" animBg="1"/>
      <p:bldP spid="102" grpId="0" animBg="1"/>
      <p:bldP spid="103" grpId="0" animBg="1"/>
      <p:bldP spid="107" grpId="0" animBg="1"/>
      <p:bldP spid="118" grpId="0" animBg="1"/>
      <p:bldP spid="118" grpId="1" animBg="1"/>
      <p:bldP spid="120" grpId="0" animBg="1"/>
      <p:bldP spid="1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How to Split at Internal Nodes?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xmlns="" id="{60A06722-EDF2-4418-9797-499014F6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354" y="991182"/>
            <a:ext cx="11740617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Recall that each internal node receives a subset of all the training inputs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Regardless of the criterion, the split should result in as “pure” groups as possible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A pure group means that the majority of the inputs have the same label/output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457200" lvl="1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For classification problems (discrete outputs), entropy is a measure of purity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Low entropy ⇒ high purity (less uniform label distribution)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Splits that give the largest reduction (before split vs after split) in entropy are preferred (this reduction is also known as “information gain”)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11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1100" dirty="0">
              <a:latin typeface="Abadi Extra Light" panose="020B02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43F0600-FAFB-4EEA-A70F-F31899D1B28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01965" y="2504658"/>
            <a:ext cx="2542513" cy="24839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4239692-6F9C-496B-97F0-5976A198F28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55553" y="2504658"/>
            <a:ext cx="2542513" cy="2419035"/>
          </a:xfrm>
          <a:prstGeom prst="rect">
            <a:avLst/>
          </a:prstGeom>
        </p:spPr>
      </p:pic>
      <p:sp>
        <p:nvSpPr>
          <p:cNvPr id="34" name="Slide Number Placeholder 11">
            <a:extLst>
              <a:ext uri="{FF2B5EF4-FFF2-40B4-BE49-F238E27FC236}">
                <a16:creationId xmlns:a16="http://schemas.microsoft.com/office/drawing/2014/main" xmlns="" id="{654534A6-6982-490D-B588-F4FDB5F5D6B9}"/>
              </a:ext>
            </a:extLst>
          </p:cNvPr>
          <p:cNvSpPr txBox="1">
            <a:spLocks/>
          </p:cNvSpPr>
          <p:nvPr/>
        </p:nvSpPr>
        <p:spPr>
          <a:xfrm>
            <a:off x="11419146" y="169682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8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6096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591"/>
    </mc:Choice>
    <mc:Fallback xmlns="">
      <p:transition spd="slow" advTm="3145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Techniques to Split at Internal </a:t>
            </a:r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Nodes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xmlns="" id="{60A06722-EDF2-4418-9797-499014F6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740617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Each internal node decides which outgoing branch an input should be sent </a:t>
            </a:r>
            <a:r>
              <a:rPr lang="en-GB" dirty="0" smtClean="0">
                <a:latin typeface="Abadi Extra Light" panose="020B0204020104020204" pitchFamily="34" charset="0"/>
              </a:rPr>
              <a:t>to</a:t>
            </a:r>
            <a:endParaRPr lang="en-GB" sz="8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This decision/split can be done using various ways, e.g.,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Testing the value of a single feature at a time (such internal node called “Decision Stump</a:t>
            </a:r>
            <a:r>
              <a:rPr lang="en-GB" dirty="0" smtClean="0">
                <a:latin typeface="Abadi Extra Light" panose="020B0204020104020204" pitchFamily="34" charset="0"/>
              </a:rPr>
              <a:t>”)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latin typeface="Abadi Extra Light" panose="020B0204020104020204" pitchFamily="34" charset="0"/>
              </a:rPr>
              <a:t>See here for more </a:t>
            </a:r>
            <a:r>
              <a:rPr lang="en-US" dirty="0" smtClean="0">
                <a:latin typeface="Abadi Extra Light" panose="020B0204020104020204" pitchFamily="34" charset="0"/>
                <a:hlinkClick r:id="rId3"/>
              </a:rPr>
              <a:t>details</a:t>
            </a:r>
            <a:endParaRPr lang="en-GB" dirty="0">
              <a:latin typeface="Abadi Extra Light" panose="020B0204020104020204" pitchFamily="34" charset="0"/>
            </a:endParaRPr>
          </a:p>
          <a:p>
            <a:pPr marL="457200" lvl="1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457200" lvl="1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457200" lvl="1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457200" lvl="1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457200" lvl="1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Learning a classifier (e.g., </a:t>
            </a:r>
            <a:r>
              <a:rPr lang="en-GB" dirty="0" err="1">
                <a:latin typeface="Abadi Extra Light" panose="020B0204020104020204" pitchFamily="34" charset="0"/>
              </a:rPr>
              <a:t>LwP</a:t>
            </a:r>
            <a:r>
              <a:rPr lang="en-GB" dirty="0">
                <a:latin typeface="Abadi Extra Light" panose="020B0204020104020204" pitchFamily="34" charset="0"/>
              </a:rPr>
              <a:t> or some more sophisticated classifier)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11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1100" dirty="0">
              <a:latin typeface="Abadi Extra Light" panose="020B020402010402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xmlns="" id="{B1986E47-A897-4158-B57A-585203215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615" y="2892954"/>
            <a:ext cx="58578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xmlns="" id="{B2BB9665-2DFF-4CB7-8E93-7D49B3C1C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223" y="5185967"/>
            <a:ext cx="5667375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xmlns="" id="{E8AA12DB-1E02-4252-B4CB-1932D8798C2F}"/>
              </a:ext>
            </a:extLst>
          </p:cNvPr>
          <p:cNvSpPr txBox="1">
            <a:spLocks/>
          </p:cNvSpPr>
          <p:nvPr/>
        </p:nvSpPr>
        <p:spPr>
          <a:xfrm>
            <a:off x="11419146" y="169682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9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E539F5F-0C1E-419F-8E8D-6C38EA625048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151686" y="2831117"/>
            <a:ext cx="1010687" cy="965223"/>
          </a:xfrm>
          <a:prstGeom prst="rect">
            <a:avLst/>
          </a:prstGeom>
        </p:spPr>
      </p:pic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xmlns="" id="{4C0B134F-8D51-499E-812F-DA32D4DCA807}"/>
              </a:ext>
            </a:extLst>
          </p:cNvPr>
          <p:cNvSpPr/>
          <p:nvPr/>
        </p:nvSpPr>
        <p:spPr>
          <a:xfrm>
            <a:off x="9246429" y="2711718"/>
            <a:ext cx="1827001" cy="1847850"/>
          </a:xfrm>
          <a:prstGeom prst="wedgeRectCallout">
            <a:avLst>
              <a:gd name="adj1" fmla="val 68829"/>
              <a:gd name="adj2" fmla="val -28172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  <a:latin typeface="Abadi Extra Light" panose="020B0204020104020204" pitchFamily="34" charset="0"/>
              </a:rPr>
              <a:t>DT methods based on testing a single feature at each internal node are faster and more popular (e.g., ID3, C4.5 algos)</a:t>
            </a:r>
            <a:endParaRPr lang="en-IN" sz="16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38CFC2D8-34E7-423B-AE61-ED68DAAD2560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011284" y="5496671"/>
            <a:ext cx="1010687" cy="965223"/>
          </a:xfrm>
          <a:prstGeom prst="rect">
            <a:avLst/>
          </a:prstGeom>
        </p:spPr>
      </p:pic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xmlns="" id="{6213A027-7B28-48C8-978B-885AC8AC08EF}"/>
              </a:ext>
            </a:extLst>
          </p:cNvPr>
          <p:cNvSpPr/>
          <p:nvPr/>
        </p:nvSpPr>
        <p:spPr>
          <a:xfrm>
            <a:off x="7886700" y="5244601"/>
            <a:ext cx="3091377" cy="1443717"/>
          </a:xfrm>
          <a:prstGeom prst="wedgeRectCallout">
            <a:avLst>
              <a:gd name="adj1" fmla="val 63696"/>
              <a:gd name="adj2" fmla="val 13700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  <a:latin typeface="Abadi Extra Light" panose="020B0204020104020204" pitchFamily="34" charset="0"/>
              </a:rPr>
              <a:t>DT methods based on learning and using a separate classifier at each internal node are less common. But this approach can be very powerful and are sometimes used in some advanced DT methods</a:t>
            </a:r>
            <a:endParaRPr lang="en-IN" sz="16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xmlns="" id="{D1C16A68-4EB1-4F15-A619-2B80206E1A83}"/>
              </a:ext>
            </a:extLst>
          </p:cNvPr>
          <p:cNvSpPr/>
          <p:nvPr/>
        </p:nvSpPr>
        <p:spPr>
          <a:xfrm>
            <a:off x="123947" y="2928856"/>
            <a:ext cx="2937786" cy="1770758"/>
          </a:xfrm>
          <a:prstGeom prst="wedgeRectCallout">
            <a:avLst>
              <a:gd name="adj1" fmla="val 58508"/>
              <a:gd name="adj2" fmla="val -31055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  <a:latin typeface="Abadi Extra Light" panose="020B0204020104020204" pitchFamily="34" charset="0"/>
              </a:rPr>
              <a:t>With this approach, all features and all possible values of each feature need to be evaluated in selecting the feature to be tested at each internal node</a:t>
            </a:r>
          </a:p>
          <a:p>
            <a:r>
              <a:rPr lang="en-IN" sz="16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(can be slow but can be made faster using some tricks)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740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5376"/>
    </mc:Choice>
    <mc:Fallback xmlns="">
      <p:transition spd="slow" advTm="2753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uiExpand="1" build="p"/>
      <p:bldP spid="10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Constructing Decision Trees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10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576AC9B4-1A92-4577-A67D-5755096C462D}"/>
              </a:ext>
            </a:extLst>
          </p:cNvPr>
          <p:cNvGrpSpPr/>
          <p:nvPr/>
        </p:nvGrpSpPr>
        <p:grpSpPr>
          <a:xfrm>
            <a:off x="265245" y="1223926"/>
            <a:ext cx="6829405" cy="2905009"/>
            <a:chOff x="245990" y="1627455"/>
            <a:chExt cx="11668324" cy="4096831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xmlns="" id="{32382602-1F3B-49CC-9A68-974867924F9E}"/>
                </a:ext>
              </a:extLst>
            </p:cNvPr>
            <p:cNvSpPr/>
            <p:nvPr/>
          </p:nvSpPr>
          <p:spPr>
            <a:xfrm>
              <a:off x="3278330" y="3205588"/>
              <a:ext cx="2124846" cy="1911769"/>
            </a:xfrm>
            <a:prstGeom prst="rect">
              <a:avLst/>
            </a:prstGeom>
            <a:solidFill>
              <a:srgbClr val="00B05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xmlns="" id="{AFE27D4D-D146-48E3-B034-231A14A245DF}"/>
                </a:ext>
              </a:extLst>
            </p:cNvPr>
            <p:cNvSpPr/>
            <p:nvPr/>
          </p:nvSpPr>
          <p:spPr>
            <a:xfrm>
              <a:off x="863590" y="1796603"/>
              <a:ext cx="2424714" cy="2084816"/>
            </a:xfrm>
            <a:prstGeom prst="rect">
              <a:avLst/>
            </a:prstGeom>
            <a:solidFill>
              <a:srgbClr val="00B05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DD893F13-D3F0-4CFC-927C-717BF6AB10CA}"/>
                </a:ext>
              </a:extLst>
            </p:cNvPr>
            <p:cNvSpPr/>
            <p:nvPr/>
          </p:nvSpPr>
          <p:spPr>
            <a:xfrm>
              <a:off x="3285010" y="1794804"/>
              <a:ext cx="2104686" cy="1385997"/>
            </a:xfrm>
            <a:prstGeom prst="rect">
              <a:avLst/>
            </a:prstGeom>
            <a:solidFill>
              <a:srgbClr val="FF00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38F6DD28-3C78-4045-9FA4-37C5785A1CF0}"/>
                </a:ext>
              </a:extLst>
            </p:cNvPr>
            <p:cNvSpPr/>
            <p:nvPr/>
          </p:nvSpPr>
          <p:spPr>
            <a:xfrm>
              <a:off x="852597" y="1785879"/>
              <a:ext cx="4537099" cy="3322553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solidFill>
                <a:schemeClr val="bg1">
                  <a:lumMod val="85000"/>
                  <a:alpha val="9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3" name="Oval 9">
              <a:extLst>
                <a:ext uri="{FF2B5EF4-FFF2-40B4-BE49-F238E27FC236}">
                  <a16:creationId xmlns:a16="http://schemas.microsoft.com/office/drawing/2014/main" xmlns="" id="{BDE0799D-4664-4043-B2B9-A92DD6DC2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4450" y="2191239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" name="Oval 9">
              <a:extLst>
                <a:ext uri="{FF2B5EF4-FFF2-40B4-BE49-F238E27FC236}">
                  <a16:creationId xmlns:a16="http://schemas.microsoft.com/office/drawing/2014/main" xmlns="" id="{482A9334-C703-4B18-BF68-6BC65D7A4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663" y="2347286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6" name="Oval 9">
              <a:extLst>
                <a:ext uri="{FF2B5EF4-FFF2-40B4-BE49-F238E27FC236}">
                  <a16:creationId xmlns:a16="http://schemas.microsoft.com/office/drawing/2014/main" xmlns="" id="{78B0C695-00FD-416E-8BF7-A8DBDEF52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6623" y="1828559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" name="Oval 9">
              <a:extLst>
                <a:ext uri="{FF2B5EF4-FFF2-40B4-BE49-F238E27FC236}">
                  <a16:creationId xmlns:a16="http://schemas.microsoft.com/office/drawing/2014/main" xmlns="" id="{2BCD588C-B793-4832-B443-244D94234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4301" y="2877806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8" name="Oval 9">
              <a:extLst>
                <a:ext uri="{FF2B5EF4-FFF2-40B4-BE49-F238E27FC236}">
                  <a16:creationId xmlns:a16="http://schemas.microsoft.com/office/drawing/2014/main" xmlns="" id="{CDD8CE60-F8AC-4B99-9F9B-31C366BDB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079" y="1884379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9" name="Oval 9">
              <a:extLst>
                <a:ext uri="{FF2B5EF4-FFF2-40B4-BE49-F238E27FC236}">
                  <a16:creationId xmlns:a16="http://schemas.microsoft.com/office/drawing/2014/main" xmlns="" id="{696CB172-5C71-4329-909F-1429F9DF6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187" y="2398736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0" name="Oval 9">
              <a:extLst>
                <a:ext uri="{FF2B5EF4-FFF2-40B4-BE49-F238E27FC236}">
                  <a16:creationId xmlns:a16="http://schemas.microsoft.com/office/drawing/2014/main" xmlns="" id="{02679E8F-9B36-46D6-AB82-85B5ECC68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1741" y="2389144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1" name="Oval 9">
              <a:extLst>
                <a:ext uri="{FF2B5EF4-FFF2-40B4-BE49-F238E27FC236}">
                  <a16:creationId xmlns:a16="http://schemas.microsoft.com/office/drawing/2014/main" xmlns="" id="{F7BAD65C-1D32-49FE-BE08-8B4597797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8249" y="2864135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2" name="Oval 9">
              <a:extLst>
                <a:ext uri="{FF2B5EF4-FFF2-40B4-BE49-F238E27FC236}">
                  <a16:creationId xmlns:a16="http://schemas.microsoft.com/office/drawing/2014/main" xmlns="" id="{98226EF2-8981-4751-9285-CA34D59DE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382" y="2066070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3" name="Oval 9">
              <a:extLst>
                <a:ext uri="{FF2B5EF4-FFF2-40B4-BE49-F238E27FC236}">
                  <a16:creationId xmlns:a16="http://schemas.microsoft.com/office/drawing/2014/main" xmlns="" id="{DBA84320-E17A-4091-83A6-7CCEAF9D0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777" y="2599822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4" name="Oval 9">
              <a:extLst>
                <a:ext uri="{FF2B5EF4-FFF2-40B4-BE49-F238E27FC236}">
                  <a16:creationId xmlns:a16="http://schemas.microsoft.com/office/drawing/2014/main" xmlns="" id="{431CEA02-B414-447E-9A00-7E453BB21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6549" y="1811485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5" name="Oval 9">
              <a:extLst>
                <a:ext uri="{FF2B5EF4-FFF2-40B4-BE49-F238E27FC236}">
                  <a16:creationId xmlns:a16="http://schemas.microsoft.com/office/drawing/2014/main" xmlns="" id="{C9735E16-34E7-489B-AC5A-48A3AD44D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4824" y="2826928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6" name="Oval 9">
              <a:extLst>
                <a:ext uri="{FF2B5EF4-FFF2-40B4-BE49-F238E27FC236}">
                  <a16:creationId xmlns:a16="http://schemas.microsoft.com/office/drawing/2014/main" xmlns="" id="{4486431F-5F3D-4340-8DE6-57E32ED46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8150" y="1828559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7" name="Oval 9">
              <a:extLst>
                <a:ext uri="{FF2B5EF4-FFF2-40B4-BE49-F238E27FC236}">
                  <a16:creationId xmlns:a16="http://schemas.microsoft.com/office/drawing/2014/main" xmlns="" id="{E2BB83B0-5CAC-42B5-8E48-C757DF2F0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692" y="2432700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8" name="Oval 9">
              <a:extLst>
                <a:ext uri="{FF2B5EF4-FFF2-40B4-BE49-F238E27FC236}">
                  <a16:creationId xmlns:a16="http://schemas.microsoft.com/office/drawing/2014/main" xmlns="" id="{80679F1B-3054-499B-B9DD-D43CAAE5C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364" y="2288053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9" name="Oval 9">
              <a:extLst>
                <a:ext uri="{FF2B5EF4-FFF2-40B4-BE49-F238E27FC236}">
                  <a16:creationId xmlns:a16="http://schemas.microsoft.com/office/drawing/2014/main" xmlns="" id="{8DC4D318-40D3-4F27-9AC4-508F53DAC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9778" y="2933428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0" name="Oval 9">
              <a:extLst>
                <a:ext uri="{FF2B5EF4-FFF2-40B4-BE49-F238E27FC236}">
                  <a16:creationId xmlns:a16="http://schemas.microsoft.com/office/drawing/2014/main" xmlns="" id="{AD1C0420-72E4-4C44-984E-04E37FB46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1378" y="243402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1" name="Oval 9">
              <a:extLst>
                <a:ext uri="{FF2B5EF4-FFF2-40B4-BE49-F238E27FC236}">
                  <a16:creationId xmlns:a16="http://schemas.microsoft.com/office/drawing/2014/main" xmlns="" id="{F1171659-45CE-4A15-BAEE-2322C4E59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1287" y="276748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2" name="Oval 9">
              <a:extLst>
                <a:ext uri="{FF2B5EF4-FFF2-40B4-BE49-F238E27FC236}">
                  <a16:creationId xmlns:a16="http://schemas.microsoft.com/office/drawing/2014/main" xmlns="" id="{16769378-A137-4D55-979C-20508440D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5206" y="1828559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3" name="Oval 9">
              <a:extLst>
                <a:ext uri="{FF2B5EF4-FFF2-40B4-BE49-F238E27FC236}">
                  <a16:creationId xmlns:a16="http://schemas.microsoft.com/office/drawing/2014/main" xmlns="" id="{6C2BBF82-C9B1-4299-9255-1BAAA05A2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6963" y="2761906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4" name="Oval 9">
              <a:extLst>
                <a:ext uri="{FF2B5EF4-FFF2-40B4-BE49-F238E27FC236}">
                  <a16:creationId xmlns:a16="http://schemas.microsoft.com/office/drawing/2014/main" xmlns="" id="{9B4C367D-15F1-46E9-84C3-8E6DDC864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778" y="186027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5" name="Oval 9">
              <a:extLst>
                <a:ext uri="{FF2B5EF4-FFF2-40B4-BE49-F238E27FC236}">
                  <a16:creationId xmlns:a16="http://schemas.microsoft.com/office/drawing/2014/main" xmlns="" id="{EC668988-4AF8-4CB2-A419-3F8BADB3D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8263" y="2152486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6" name="Oval 9">
              <a:extLst>
                <a:ext uri="{FF2B5EF4-FFF2-40B4-BE49-F238E27FC236}">
                  <a16:creationId xmlns:a16="http://schemas.microsoft.com/office/drawing/2014/main" xmlns="" id="{8B51EDE9-2AA7-43ED-BF88-BB731495F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4653" y="2940884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7" name="Oval 9">
              <a:extLst>
                <a:ext uri="{FF2B5EF4-FFF2-40B4-BE49-F238E27FC236}">
                  <a16:creationId xmlns:a16="http://schemas.microsoft.com/office/drawing/2014/main" xmlns="" id="{B99D3D0D-FF7E-4DD5-82CB-55BE01386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845" y="3438238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8" name="Oval 9">
              <a:extLst>
                <a:ext uri="{FF2B5EF4-FFF2-40B4-BE49-F238E27FC236}">
                  <a16:creationId xmlns:a16="http://schemas.microsoft.com/office/drawing/2014/main" xmlns="" id="{E9436275-D47F-4639-9E0E-14A96C697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1887" y="3556550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9" name="Oval 9">
              <a:extLst>
                <a:ext uri="{FF2B5EF4-FFF2-40B4-BE49-F238E27FC236}">
                  <a16:creationId xmlns:a16="http://schemas.microsoft.com/office/drawing/2014/main" xmlns="" id="{3D257BE8-C656-447F-856C-C4EA04267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936" y="4087908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0" name="Oval 9">
              <a:extLst>
                <a:ext uri="{FF2B5EF4-FFF2-40B4-BE49-F238E27FC236}">
                  <a16:creationId xmlns:a16="http://schemas.microsoft.com/office/drawing/2014/main" xmlns="" id="{85A21BD8-80F0-40E7-80B8-4BAB3FFC4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654" y="359909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1" name="Oval 9">
              <a:extLst>
                <a:ext uri="{FF2B5EF4-FFF2-40B4-BE49-F238E27FC236}">
                  <a16:creationId xmlns:a16="http://schemas.microsoft.com/office/drawing/2014/main" xmlns="" id="{AA6D1661-9430-45A6-80E9-41BF7A373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3742" y="4406911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2" name="Oval 9">
              <a:extLst>
                <a:ext uri="{FF2B5EF4-FFF2-40B4-BE49-F238E27FC236}">
                  <a16:creationId xmlns:a16="http://schemas.microsoft.com/office/drawing/2014/main" xmlns="" id="{5DDAA1F6-DA45-4D09-9385-66ACB9FF8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774" y="3274867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3" name="Oval 9">
              <a:extLst>
                <a:ext uri="{FF2B5EF4-FFF2-40B4-BE49-F238E27FC236}">
                  <a16:creationId xmlns:a16="http://schemas.microsoft.com/office/drawing/2014/main" xmlns="" id="{35E85925-0C20-4A24-B422-352935731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77" y="4127736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4" name="Oval 9">
              <a:extLst>
                <a:ext uri="{FF2B5EF4-FFF2-40B4-BE49-F238E27FC236}">
                  <a16:creationId xmlns:a16="http://schemas.microsoft.com/office/drawing/2014/main" xmlns="" id="{136B4032-30A8-4EEF-97BB-04D2CB389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2643" y="3897461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5" name="Oval 9">
              <a:extLst>
                <a:ext uri="{FF2B5EF4-FFF2-40B4-BE49-F238E27FC236}">
                  <a16:creationId xmlns:a16="http://schemas.microsoft.com/office/drawing/2014/main" xmlns="" id="{535E8643-C088-469A-974C-8805AFB32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290" y="4823544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6" name="Oval 9">
              <a:extLst>
                <a:ext uri="{FF2B5EF4-FFF2-40B4-BE49-F238E27FC236}">
                  <a16:creationId xmlns:a16="http://schemas.microsoft.com/office/drawing/2014/main" xmlns="" id="{83BD0111-DFAD-4CF7-9954-82E8D9DC4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912" y="353879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7" name="Oval 9">
              <a:extLst>
                <a:ext uri="{FF2B5EF4-FFF2-40B4-BE49-F238E27FC236}">
                  <a16:creationId xmlns:a16="http://schemas.microsoft.com/office/drawing/2014/main" xmlns="" id="{0278A1E9-CF81-44A0-9E3A-0A57DDC08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6120" y="4795786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8" name="Oval 9">
              <a:extLst>
                <a:ext uri="{FF2B5EF4-FFF2-40B4-BE49-F238E27FC236}">
                  <a16:creationId xmlns:a16="http://schemas.microsoft.com/office/drawing/2014/main" xmlns="" id="{24BA26B7-9030-4925-813C-5B6A107BE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488" y="4586781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9" name="Oval 9">
              <a:extLst>
                <a:ext uri="{FF2B5EF4-FFF2-40B4-BE49-F238E27FC236}">
                  <a16:creationId xmlns:a16="http://schemas.microsoft.com/office/drawing/2014/main" xmlns="" id="{B51736E6-C3EC-4762-9997-6F84EB8A6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4752" y="4750607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0" name="Oval 9">
              <a:extLst>
                <a:ext uri="{FF2B5EF4-FFF2-40B4-BE49-F238E27FC236}">
                  <a16:creationId xmlns:a16="http://schemas.microsoft.com/office/drawing/2014/main" xmlns="" id="{953E7521-EFCC-4D94-9C94-1A22059C4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9334" y="387005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1" name="Oval 9">
              <a:extLst>
                <a:ext uri="{FF2B5EF4-FFF2-40B4-BE49-F238E27FC236}">
                  <a16:creationId xmlns:a16="http://schemas.microsoft.com/office/drawing/2014/main" xmlns="" id="{6BD6F2F8-935D-4481-AF76-4915F13DA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696" y="3553459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2" name="Oval 9">
              <a:extLst>
                <a:ext uri="{FF2B5EF4-FFF2-40B4-BE49-F238E27FC236}">
                  <a16:creationId xmlns:a16="http://schemas.microsoft.com/office/drawing/2014/main" xmlns="" id="{9DB0638C-5119-44A6-A893-96DE9D00D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1984" y="3630068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3" name="Oval 9">
              <a:extLst>
                <a:ext uri="{FF2B5EF4-FFF2-40B4-BE49-F238E27FC236}">
                  <a16:creationId xmlns:a16="http://schemas.microsoft.com/office/drawing/2014/main" xmlns="" id="{34E32A99-B1CF-4105-9CBA-B2FA29896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972" y="405195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4" name="Oval 9">
              <a:extLst>
                <a:ext uri="{FF2B5EF4-FFF2-40B4-BE49-F238E27FC236}">
                  <a16:creationId xmlns:a16="http://schemas.microsoft.com/office/drawing/2014/main" xmlns="" id="{3B7B1513-A21C-4058-BFF4-16BF62AD1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389" y="3224176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5" name="Oval 9">
              <a:extLst>
                <a:ext uri="{FF2B5EF4-FFF2-40B4-BE49-F238E27FC236}">
                  <a16:creationId xmlns:a16="http://schemas.microsoft.com/office/drawing/2014/main" xmlns="" id="{ECBB27A5-CE93-4485-B1FD-2DFC44C5D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470" y="4248247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" name="Oval 9">
              <a:extLst>
                <a:ext uri="{FF2B5EF4-FFF2-40B4-BE49-F238E27FC236}">
                  <a16:creationId xmlns:a16="http://schemas.microsoft.com/office/drawing/2014/main" xmlns="" id="{D022E5F6-BCA0-415A-8355-2E0F69D78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802" y="3609621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7" name="Oval 9">
              <a:extLst>
                <a:ext uri="{FF2B5EF4-FFF2-40B4-BE49-F238E27FC236}">
                  <a16:creationId xmlns:a16="http://schemas.microsoft.com/office/drawing/2014/main" xmlns="" id="{9744FEDE-2890-468F-B921-389FAFAC8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5108" y="4625874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8" name="Oval 9">
              <a:extLst>
                <a:ext uri="{FF2B5EF4-FFF2-40B4-BE49-F238E27FC236}">
                  <a16:creationId xmlns:a16="http://schemas.microsoft.com/office/drawing/2014/main" xmlns="" id="{7E8F6DB2-C796-45A6-94F8-F257DCEA1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8717" y="3306242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9" name="Oval 9">
              <a:extLst>
                <a:ext uri="{FF2B5EF4-FFF2-40B4-BE49-F238E27FC236}">
                  <a16:creationId xmlns:a16="http://schemas.microsoft.com/office/drawing/2014/main" xmlns="" id="{3D8D2903-07F6-468D-9CA8-383DC3402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274" y="4795786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0" name="Oval 9">
              <a:extLst>
                <a:ext uri="{FF2B5EF4-FFF2-40B4-BE49-F238E27FC236}">
                  <a16:creationId xmlns:a16="http://schemas.microsoft.com/office/drawing/2014/main" xmlns="" id="{75768394-BBCF-44D5-9B36-DA83C0521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2505" y="4347739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1" name="Oval 9">
              <a:extLst>
                <a:ext uri="{FF2B5EF4-FFF2-40B4-BE49-F238E27FC236}">
                  <a16:creationId xmlns:a16="http://schemas.microsoft.com/office/drawing/2014/main" xmlns="" id="{44B7D1FC-ACA2-4984-8821-90F6EA158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4358" y="471244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xmlns="" id="{11969463-8898-43DA-8E65-9B92A0E2A3EB}"/>
                </a:ext>
              </a:extLst>
            </p:cNvPr>
            <p:cNvCxnSpPr>
              <a:cxnSpLocks/>
            </p:cNvCxnSpPr>
            <p:nvPr/>
          </p:nvCxnSpPr>
          <p:spPr>
            <a:xfrm>
              <a:off x="3258830" y="1785879"/>
              <a:ext cx="7226" cy="138922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xmlns="" id="{20255379-4F09-4B06-B61A-1A9976F016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8829" y="3172543"/>
              <a:ext cx="2130945" cy="220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xmlns="" id="{BB2A5670-8EAF-4F49-9E62-6E9228E880E0}"/>
                </a:ext>
              </a:extLst>
            </p:cNvPr>
            <p:cNvSpPr txBox="1"/>
            <p:nvPr/>
          </p:nvSpPr>
          <p:spPr>
            <a:xfrm>
              <a:off x="1316518" y="5060602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xmlns="" id="{50C1EE1D-1F93-47EC-A179-D2FDA3546D24}"/>
                </a:ext>
              </a:extLst>
            </p:cNvPr>
            <p:cNvSpPr txBox="1"/>
            <p:nvPr/>
          </p:nvSpPr>
          <p:spPr>
            <a:xfrm>
              <a:off x="2081428" y="5059487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2</a:t>
              </a: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xmlns="" id="{1BD05CB4-01C4-42E0-A6FB-015AFF3D539C}"/>
                </a:ext>
              </a:extLst>
            </p:cNvPr>
            <p:cNvSpPr txBox="1"/>
            <p:nvPr/>
          </p:nvSpPr>
          <p:spPr>
            <a:xfrm>
              <a:off x="2718603" y="5065211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3</a:t>
              </a: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xmlns="" id="{1AA05506-32C8-476E-A9DC-AF3664317BCE}"/>
                </a:ext>
              </a:extLst>
            </p:cNvPr>
            <p:cNvSpPr txBox="1"/>
            <p:nvPr/>
          </p:nvSpPr>
          <p:spPr>
            <a:xfrm>
              <a:off x="3548031" y="5061679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4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xmlns="" id="{7ED70314-5750-4EC8-AE83-861F27F1712E}"/>
                </a:ext>
              </a:extLst>
            </p:cNvPr>
            <p:cNvSpPr txBox="1"/>
            <p:nvPr/>
          </p:nvSpPr>
          <p:spPr>
            <a:xfrm>
              <a:off x="4276219" y="5056830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5</a:t>
              </a: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xmlns="" id="{AF359AFB-94F5-4C13-BD24-3392720EC9A8}"/>
                </a:ext>
              </a:extLst>
            </p:cNvPr>
            <p:cNvSpPr txBox="1"/>
            <p:nvPr/>
          </p:nvSpPr>
          <p:spPr>
            <a:xfrm>
              <a:off x="5007251" y="5068280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6</a:t>
              </a:r>
            </a:p>
          </p:txBody>
        </p: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xmlns="" id="{CA519A03-B8F6-44B0-98A9-9F56A5E6638A}"/>
                </a:ext>
              </a:extLst>
            </p:cNvPr>
            <p:cNvCxnSpPr>
              <a:cxnSpLocks/>
            </p:cNvCxnSpPr>
            <p:nvPr/>
          </p:nvCxnSpPr>
          <p:spPr>
            <a:xfrm>
              <a:off x="3251653" y="3874184"/>
              <a:ext cx="6998" cy="125709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xmlns="" id="{C731009D-0D39-4E63-ABB1-02ECACEC63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467" y="3866950"/>
              <a:ext cx="2422385" cy="1446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xmlns="" id="{E61629AC-C0AB-4007-BEB2-13FBE88E1B09}"/>
                </a:ext>
              </a:extLst>
            </p:cNvPr>
            <p:cNvSpPr txBox="1"/>
            <p:nvPr/>
          </p:nvSpPr>
          <p:spPr>
            <a:xfrm>
              <a:off x="440263" y="4300875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xmlns="" id="{505AF348-6B6C-477B-8ECC-715AE86FDFF4}"/>
                </a:ext>
              </a:extLst>
            </p:cNvPr>
            <p:cNvSpPr txBox="1"/>
            <p:nvPr/>
          </p:nvSpPr>
          <p:spPr>
            <a:xfrm>
              <a:off x="423060" y="3677734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2</a:t>
              </a: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xmlns="" id="{889DA43D-E69D-4229-82FB-E2C1E6F88CD5}"/>
                </a:ext>
              </a:extLst>
            </p:cNvPr>
            <p:cNvSpPr txBox="1"/>
            <p:nvPr/>
          </p:nvSpPr>
          <p:spPr>
            <a:xfrm>
              <a:off x="444681" y="3007771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3</a:t>
              </a: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xmlns="" id="{D7824C60-3CAE-4C05-BA06-89F5B729F92E}"/>
                </a:ext>
              </a:extLst>
            </p:cNvPr>
            <p:cNvSpPr txBox="1"/>
            <p:nvPr/>
          </p:nvSpPr>
          <p:spPr>
            <a:xfrm>
              <a:off x="423542" y="2353947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4</a:t>
              </a: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xmlns="" id="{7376ED41-D81C-4BB2-BB77-5C8B1ABD34E9}"/>
                </a:ext>
              </a:extLst>
            </p:cNvPr>
            <p:cNvSpPr txBox="1"/>
            <p:nvPr/>
          </p:nvSpPr>
          <p:spPr>
            <a:xfrm>
              <a:off x="494815" y="1627455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5</a:t>
              </a:r>
            </a:p>
          </p:txBody>
        </p:sp>
        <p:sp>
          <p:nvSpPr>
            <p:cNvPr id="3" name="Flowchart: Decision 2">
              <a:extLst>
                <a:ext uri="{FF2B5EF4-FFF2-40B4-BE49-F238E27FC236}">
                  <a16:creationId xmlns:a16="http://schemas.microsoft.com/office/drawing/2014/main" xmlns="" id="{DA7EA184-BC1D-4472-A8D2-F6B2DD480F09}"/>
                </a:ext>
              </a:extLst>
            </p:cNvPr>
            <p:cNvSpPr/>
            <p:nvPr/>
          </p:nvSpPr>
          <p:spPr>
            <a:xfrm>
              <a:off x="8408666" y="1842621"/>
              <a:ext cx="998290" cy="821500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="" xmlns:a16="http://schemas.microsoft.com/office/drawing/2014/main" id="{3F2A3B55-3D04-4484-8426-33906C5DAE22}"/>
                    </a:ext>
                  </a:extLst>
                </p:cNvPr>
                <p:cNvSpPr txBox="1"/>
                <p:nvPr/>
              </p:nvSpPr>
              <p:spPr>
                <a:xfrm>
                  <a:off x="2362152" y="5463858"/>
                  <a:ext cx="1832355" cy="26042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IN" sz="1200" b="0" dirty="0"/>
                    <a:t>Feature 1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2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3F2A3B55-3D04-4484-8426-33906C5DAE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2152" y="5463858"/>
                  <a:ext cx="1832355" cy="260428"/>
                </a:xfrm>
                <a:prstGeom prst="rect">
                  <a:avLst/>
                </a:prstGeom>
                <a:blipFill>
                  <a:blip r:embed="rId3" cstate="print"/>
                  <a:stretch>
                    <a:fillRect l="-9091" t="-26667" b="-5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="" xmlns:a16="http://schemas.microsoft.com/office/drawing/2014/main" id="{E45C1CBA-F436-4678-B330-CB205A0DC305}"/>
                    </a:ext>
                  </a:extLst>
                </p:cNvPr>
                <p:cNvSpPr txBox="1"/>
                <p:nvPr/>
              </p:nvSpPr>
              <p:spPr>
                <a:xfrm rot="16200000">
                  <a:off x="-341043" y="3222428"/>
                  <a:ext cx="1489576" cy="3155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IN" sz="1200" b="0" dirty="0"/>
                    <a:t>Feature 2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2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E45C1CBA-F436-4678-B330-CB205A0DC3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341043" y="3222428"/>
                  <a:ext cx="1489576" cy="315510"/>
                </a:xfrm>
                <a:prstGeom prst="rect">
                  <a:avLst/>
                </a:prstGeom>
                <a:blipFill>
                  <a:blip r:embed="rId4" cstate="print"/>
                  <a:stretch>
                    <a:fillRect l="-26667" r="-50000" b="-924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="" xmlns:a16="http://schemas.microsoft.com/office/drawing/2014/main" id="{3459064D-14AB-4ED6-BFC6-D5D71B43275F}"/>
                    </a:ext>
                  </a:extLst>
                </p:cNvPr>
                <p:cNvSpPr txBox="1"/>
                <p:nvPr/>
              </p:nvSpPr>
              <p:spPr>
                <a:xfrm>
                  <a:off x="8531748" y="2136381"/>
                  <a:ext cx="775189" cy="1736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8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IN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800" b="0" i="1" smtClean="0">
                            <a:latin typeface="Cambria Math" panose="02040503050406030204" pitchFamily="18" charset="0"/>
                          </a:rPr>
                          <m:t>&gt;3.5 ?</m:t>
                        </m:r>
                      </m:oMath>
                    </m:oMathPara>
                  </a14:m>
                  <a:endParaRPr lang="en-IN" sz="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3459064D-14AB-4ED6-BFC6-D5D71B4327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1748" y="2136381"/>
                  <a:ext cx="775189" cy="17361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2703" r="-5405" b="-2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Flowchart: Decision 71">
              <a:extLst>
                <a:ext uri="{FF2B5EF4-FFF2-40B4-BE49-F238E27FC236}">
                  <a16:creationId xmlns:a16="http://schemas.microsoft.com/office/drawing/2014/main" xmlns="" id="{1B0557DC-7355-42DD-B767-A340D0BA1A8C}"/>
                </a:ext>
              </a:extLst>
            </p:cNvPr>
            <p:cNvSpPr/>
            <p:nvPr/>
          </p:nvSpPr>
          <p:spPr>
            <a:xfrm>
              <a:off x="9952591" y="2735050"/>
              <a:ext cx="998290" cy="821500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="" xmlns:a16="http://schemas.microsoft.com/office/drawing/2014/main" id="{A0D481F5-804E-497D-AB4F-A79B0280ED65}"/>
                    </a:ext>
                  </a:extLst>
                </p:cNvPr>
                <p:cNvSpPr txBox="1"/>
                <p:nvPr/>
              </p:nvSpPr>
              <p:spPr>
                <a:xfrm>
                  <a:off x="10119539" y="3020729"/>
                  <a:ext cx="647780" cy="1736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8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IN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800" b="0" i="1" smtClean="0">
                            <a:latin typeface="Cambria Math" panose="02040503050406030204" pitchFamily="18" charset="0"/>
                          </a:rPr>
                          <m:t>&gt;3 ?</m:t>
                        </m:r>
                      </m:oMath>
                    </m:oMathPara>
                  </a14:m>
                  <a:endParaRPr lang="en-IN" sz="800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A0D481F5-804E-497D-AB4F-A79B0280E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9539" y="3020729"/>
                  <a:ext cx="647780" cy="173619"/>
                </a:xfrm>
                <a:prstGeom prst="rect">
                  <a:avLst/>
                </a:prstGeom>
                <a:blipFill>
                  <a:blip r:embed="rId6" cstate="print"/>
                  <a:stretch>
                    <a:fillRect l="-3175" r="-4762" b="-2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xmlns="" id="{6FF86312-6889-4948-8B9E-22F7969E5657}"/>
                </a:ext>
              </a:extLst>
            </p:cNvPr>
            <p:cNvSpPr/>
            <p:nvPr/>
          </p:nvSpPr>
          <p:spPr>
            <a:xfrm>
              <a:off x="10916024" y="4028798"/>
              <a:ext cx="998290" cy="596013"/>
            </a:xfrm>
            <a:prstGeom prst="roundRect">
              <a:avLst/>
            </a:prstGeom>
            <a:solidFill>
              <a:srgbClr val="FF0000">
                <a:alpha val="36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>
                  <a:solidFill>
                    <a:schemeClr val="tx1"/>
                  </a:solidFill>
                </a:rPr>
                <a:t>Predict Red</a:t>
              </a: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xmlns="" id="{52A74C8E-EF64-41E4-B0C7-6883B7A9E478}"/>
                </a:ext>
              </a:extLst>
            </p:cNvPr>
            <p:cNvSpPr/>
            <p:nvPr/>
          </p:nvSpPr>
          <p:spPr>
            <a:xfrm>
              <a:off x="9046294" y="4029861"/>
              <a:ext cx="998290" cy="596013"/>
            </a:xfrm>
            <a:prstGeom prst="roundRect">
              <a:avLst/>
            </a:prstGeom>
            <a:solidFill>
              <a:srgbClr val="00B050">
                <a:alpha val="36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>
                  <a:solidFill>
                    <a:schemeClr val="tx1"/>
                  </a:solidFill>
                </a:rPr>
                <a:t>Predict Green</a:t>
              </a:r>
            </a:p>
          </p:txBody>
        </p: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xmlns="" id="{C7E7D0FE-6BB0-4A54-B7AF-4E3D7F80AAFC}"/>
                </a:ext>
              </a:extLst>
            </p:cNvPr>
            <p:cNvCxnSpPr>
              <a:stCxn id="3" idx="3"/>
              <a:endCxn id="72" idx="0"/>
            </p:cNvCxnSpPr>
            <p:nvPr/>
          </p:nvCxnSpPr>
          <p:spPr>
            <a:xfrm>
              <a:off x="9406956" y="2253371"/>
              <a:ext cx="1044780" cy="481679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xmlns="" id="{702E7665-EDC9-4E19-B404-E4624CEA60CE}"/>
                </a:ext>
              </a:extLst>
            </p:cNvPr>
            <p:cNvCxnSpPr>
              <a:cxnSpLocks/>
              <a:stCxn id="72" idx="3"/>
              <a:endCxn id="7" idx="0"/>
            </p:cNvCxnSpPr>
            <p:nvPr/>
          </p:nvCxnSpPr>
          <p:spPr>
            <a:xfrm>
              <a:off x="10950881" y="3145800"/>
              <a:ext cx="464288" cy="882998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xmlns="" id="{E41ABDA2-FB33-409C-B971-D7EF711E106D}"/>
                </a:ext>
              </a:extLst>
            </p:cNvPr>
            <p:cNvCxnSpPr>
              <a:cxnSpLocks/>
              <a:stCxn id="72" idx="1"/>
              <a:endCxn id="75" idx="0"/>
            </p:cNvCxnSpPr>
            <p:nvPr/>
          </p:nvCxnSpPr>
          <p:spPr>
            <a:xfrm rot="10800000" flipV="1">
              <a:off x="9545439" y="3145799"/>
              <a:ext cx="407152" cy="884061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Flowchart: Decision 87">
              <a:extLst>
                <a:ext uri="{FF2B5EF4-FFF2-40B4-BE49-F238E27FC236}">
                  <a16:creationId xmlns:a16="http://schemas.microsoft.com/office/drawing/2014/main" xmlns="" id="{D05A7370-1893-4D7D-ADCE-9FA7A1EDC906}"/>
                </a:ext>
              </a:extLst>
            </p:cNvPr>
            <p:cNvSpPr/>
            <p:nvPr/>
          </p:nvSpPr>
          <p:spPr>
            <a:xfrm>
              <a:off x="6797639" y="2758207"/>
              <a:ext cx="998290" cy="821500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="" xmlns:a16="http://schemas.microsoft.com/office/drawing/2014/main" id="{9AC9C284-F488-4015-BEF3-1BE114A3C58D}"/>
                    </a:ext>
                  </a:extLst>
                </p:cNvPr>
                <p:cNvSpPr txBox="1"/>
                <p:nvPr/>
              </p:nvSpPr>
              <p:spPr>
                <a:xfrm>
                  <a:off x="6964586" y="3043885"/>
                  <a:ext cx="647780" cy="1736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8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IN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800" b="0" i="1" smtClean="0">
                            <a:latin typeface="Cambria Math" panose="02040503050406030204" pitchFamily="18" charset="0"/>
                          </a:rPr>
                          <m:t>&gt;2 ?</m:t>
                        </m:r>
                      </m:oMath>
                    </m:oMathPara>
                  </a14:m>
                  <a:endParaRPr lang="en-IN" sz="8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9AC9C284-F488-4015-BEF3-1BE114A3C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4586" y="3043885"/>
                  <a:ext cx="647780" cy="173619"/>
                </a:xfrm>
                <a:prstGeom prst="rect">
                  <a:avLst/>
                </a:prstGeom>
                <a:blipFill>
                  <a:blip r:embed="rId7" cstate="print"/>
                  <a:stretch>
                    <a:fillRect l="-4839" r="-6452" b="-2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xmlns="" id="{8623AE54-C9DA-4401-B788-82B48D8B2983}"/>
                </a:ext>
              </a:extLst>
            </p:cNvPr>
            <p:cNvSpPr/>
            <p:nvPr/>
          </p:nvSpPr>
          <p:spPr>
            <a:xfrm>
              <a:off x="7761072" y="4051955"/>
              <a:ext cx="998290" cy="596013"/>
            </a:xfrm>
            <a:prstGeom prst="roundRect">
              <a:avLst/>
            </a:prstGeom>
            <a:solidFill>
              <a:srgbClr val="00B050">
                <a:alpha val="36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>
                  <a:solidFill>
                    <a:schemeClr val="tx1"/>
                  </a:solidFill>
                </a:rPr>
                <a:t>Predict Green</a:t>
              </a: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xmlns="" id="{53087F36-5E04-4B1D-B92E-5531784DED6B}"/>
                </a:ext>
              </a:extLst>
            </p:cNvPr>
            <p:cNvSpPr/>
            <p:nvPr/>
          </p:nvSpPr>
          <p:spPr>
            <a:xfrm>
              <a:off x="5891342" y="4053018"/>
              <a:ext cx="998290" cy="596013"/>
            </a:xfrm>
            <a:prstGeom prst="roundRect">
              <a:avLst/>
            </a:prstGeom>
            <a:solidFill>
              <a:srgbClr val="FF0000">
                <a:alpha val="36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>
                  <a:solidFill>
                    <a:schemeClr val="tx1"/>
                  </a:solidFill>
                </a:rPr>
                <a:t>Predict Red</a:t>
              </a:r>
            </a:p>
          </p:txBody>
        </p:sp>
        <p:cxnSp>
          <p:nvCxnSpPr>
            <p:cNvPr id="92" name="Connector: Elbow 91">
              <a:extLst>
                <a:ext uri="{FF2B5EF4-FFF2-40B4-BE49-F238E27FC236}">
                  <a16:creationId xmlns:a16="http://schemas.microsoft.com/office/drawing/2014/main" xmlns="" id="{DFB12FC2-F115-4BAA-9354-D7828C687D9D}"/>
                </a:ext>
              </a:extLst>
            </p:cNvPr>
            <p:cNvCxnSpPr>
              <a:cxnSpLocks/>
              <a:stCxn id="88" idx="3"/>
              <a:endCxn id="90" idx="0"/>
            </p:cNvCxnSpPr>
            <p:nvPr/>
          </p:nvCxnSpPr>
          <p:spPr>
            <a:xfrm>
              <a:off x="7795929" y="3168957"/>
              <a:ext cx="464288" cy="882998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: Elbow 92">
              <a:extLst>
                <a:ext uri="{FF2B5EF4-FFF2-40B4-BE49-F238E27FC236}">
                  <a16:creationId xmlns:a16="http://schemas.microsoft.com/office/drawing/2014/main" xmlns="" id="{51C4D225-B775-44C6-B1FC-4FB260CAFDA6}"/>
                </a:ext>
              </a:extLst>
            </p:cNvPr>
            <p:cNvCxnSpPr>
              <a:cxnSpLocks/>
              <a:stCxn id="88" idx="1"/>
              <a:endCxn id="91" idx="0"/>
            </p:cNvCxnSpPr>
            <p:nvPr/>
          </p:nvCxnSpPr>
          <p:spPr>
            <a:xfrm rot="10800000" flipV="1">
              <a:off x="6390487" y="3168956"/>
              <a:ext cx="407152" cy="884061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xmlns="" id="{FCD86159-59E4-4502-800F-4F9877A3BE9E}"/>
                </a:ext>
              </a:extLst>
            </p:cNvPr>
            <p:cNvCxnSpPr>
              <a:cxnSpLocks/>
              <a:stCxn id="3" idx="1"/>
              <a:endCxn id="88" idx="0"/>
            </p:cNvCxnSpPr>
            <p:nvPr/>
          </p:nvCxnSpPr>
          <p:spPr>
            <a:xfrm rot="10800000" flipV="1">
              <a:off x="7296784" y="2253371"/>
              <a:ext cx="1111882" cy="504836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A0839AB2-128C-4BAD-B984-640820038810}"/>
                </a:ext>
              </a:extLst>
            </p:cNvPr>
            <p:cNvSpPr txBox="1"/>
            <p:nvPr/>
          </p:nvSpPr>
          <p:spPr>
            <a:xfrm>
              <a:off x="7620887" y="1884039"/>
              <a:ext cx="603085" cy="3472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/>
                <a:t>NO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xmlns="" id="{5551EBF7-7DF8-4295-9C37-3C384B8D1996}"/>
                </a:ext>
              </a:extLst>
            </p:cNvPr>
            <p:cNvSpPr txBox="1"/>
            <p:nvPr/>
          </p:nvSpPr>
          <p:spPr>
            <a:xfrm>
              <a:off x="9673025" y="1884039"/>
              <a:ext cx="597607" cy="3255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900" dirty="0"/>
                <a:t>YES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xmlns="" id="{FF5E484C-6A75-42C2-9446-A35610F5722B}"/>
                </a:ext>
              </a:extLst>
            </p:cNvPr>
            <p:cNvSpPr txBox="1"/>
            <p:nvPr/>
          </p:nvSpPr>
          <p:spPr>
            <a:xfrm>
              <a:off x="6342722" y="2837266"/>
              <a:ext cx="572956" cy="3255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900" dirty="0"/>
                <a:t>NO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xmlns="" id="{1F755DE1-FBDA-422D-A88F-45465963A7AD}"/>
                </a:ext>
              </a:extLst>
            </p:cNvPr>
            <p:cNvSpPr txBox="1"/>
            <p:nvPr/>
          </p:nvSpPr>
          <p:spPr>
            <a:xfrm>
              <a:off x="7747575" y="2819749"/>
              <a:ext cx="597607" cy="3255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900" dirty="0"/>
                <a:t>YES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xmlns="" id="{676EFC8F-ECE5-4E7E-AFE1-E2A0C9401A10}"/>
                </a:ext>
              </a:extLst>
            </p:cNvPr>
            <p:cNvSpPr txBox="1"/>
            <p:nvPr/>
          </p:nvSpPr>
          <p:spPr>
            <a:xfrm>
              <a:off x="10884453" y="2811469"/>
              <a:ext cx="597607" cy="3255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900" dirty="0"/>
                <a:t>YES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xmlns="" id="{D3946EEF-2C64-4249-A018-CAEBC5D6830F}"/>
                </a:ext>
              </a:extLst>
            </p:cNvPr>
            <p:cNvSpPr txBox="1"/>
            <p:nvPr/>
          </p:nvSpPr>
          <p:spPr>
            <a:xfrm>
              <a:off x="9517049" y="2819477"/>
              <a:ext cx="572956" cy="3255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900" dirty="0"/>
                <a:t>NO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xmlns="" id="{D45D473F-1321-406E-8CE5-71729460AF01}"/>
                </a:ext>
              </a:extLst>
            </p:cNvPr>
            <p:cNvSpPr/>
            <p:nvPr/>
          </p:nvSpPr>
          <p:spPr>
            <a:xfrm>
              <a:off x="857298" y="3905905"/>
              <a:ext cx="2386554" cy="1202527"/>
            </a:xfrm>
            <a:prstGeom prst="rect">
              <a:avLst/>
            </a:prstGeom>
            <a:solidFill>
              <a:srgbClr val="FF00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6" name="Oval 9">
              <a:extLst>
                <a:ext uri="{FF2B5EF4-FFF2-40B4-BE49-F238E27FC236}">
                  <a16:creationId xmlns:a16="http://schemas.microsoft.com/office/drawing/2014/main" xmlns="" id="{EC373842-CAF9-4CE0-82FD-C001EE5FD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5027" y="2486895"/>
              <a:ext cx="224510" cy="236658"/>
            </a:xfrm>
            <a:prstGeom prst="ellipse">
              <a:avLst/>
            </a:prstGeom>
            <a:solidFill>
              <a:schemeClr val="tx1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" name="Oval 9">
              <a:extLst>
                <a:ext uri="{FF2B5EF4-FFF2-40B4-BE49-F238E27FC236}">
                  <a16:creationId xmlns:a16="http://schemas.microsoft.com/office/drawing/2014/main" xmlns="" id="{2259AF09-BFAD-428B-B60A-09F9C3982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5027" y="248689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pic>
        <p:nvPicPr>
          <p:cNvPr id="110" name="Picture 2">
            <a:extLst>
              <a:ext uri="{FF2B5EF4-FFF2-40B4-BE49-F238E27FC236}">
                <a16:creationId xmlns:a16="http://schemas.microsoft.com/office/drawing/2014/main" xmlns="" id="{BF1A1476-F9D9-4287-8F69-FC7DA4DCA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338" y="432454"/>
            <a:ext cx="11811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Speech Bubble: Rectangle 110">
            <a:extLst>
              <a:ext uri="{FF2B5EF4-FFF2-40B4-BE49-F238E27FC236}">
                <a16:creationId xmlns:a16="http://schemas.microsoft.com/office/drawing/2014/main" xmlns="" id="{74AF5DCD-756C-4F46-B64B-81C3639BD306}"/>
              </a:ext>
            </a:extLst>
          </p:cNvPr>
          <p:cNvSpPr/>
          <p:nvPr/>
        </p:nvSpPr>
        <p:spPr>
          <a:xfrm>
            <a:off x="7648868" y="154531"/>
            <a:ext cx="2781606" cy="731065"/>
          </a:xfrm>
          <a:prstGeom prst="wedgeRectCallout">
            <a:avLst>
              <a:gd name="adj1" fmla="val 67157"/>
              <a:gd name="adj2" fmla="val 75959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Given some training data, what’s the “optimal” DT?</a:t>
            </a:r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xmlns="" id="{99D10E42-10E5-45FA-B100-8D9B9CACF979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927944" y="3370595"/>
            <a:ext cx="1010687" cy="965223"/>
          </a:xfrm>
          <a:prstGeom prst="rect">
            <a:avLst/>
          </a:prstGeom>
        </p:spPr>
      </p:pic>
      <p:sp>
        <p:nvSpPr>
          <p:cNvPr id="118" name="Speech Bubble: Rectangle 117">
            <a:extLst>
              <a:ext uri="{FF2B5EF4-FFF2-40B4-BE49-F238E27FC236}">
                <a16:creationId xmlns:a16="http://schemas.microsoft.com/office/drawing/2014/main" xmlns="" id="{059A5D1C-DC37-42FF-B7D7-F0DE773F6EA0}"/>
              </a:ext>
            </a:extLst>
          </p:cNvPr>
          <p:cNvSpPr/>
          <p:nvPr/>
        </p:nvSpPr>
        <p:spPr>
          <a:xfrm>
            <a:off x="7448617" y="3081181"/>
            <a:ext cx="3458344" cy="674649"/>
          </a:xfrm>
          <a:prstGeom prst="wedgeRectCallout">
            <a:avLst>
              <a:gd name="adj1" fmla="val 58963"/>
              <a:gd name="adj2" fmla="val 52542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In general, constructing DT is an intractable problem (NP-hard)</a:t>
            </a:r>
          </a:p>
        </p:txBody>
      </p:sp>
      <p:sp>
        <p:nvSpPr>
          <p:cNvPr id="119" name="Speech Bubble: Rectangle 118">
            <a:extLst>
              <a:ext uri="{FF2B5EF4-FFF2-40B4-BE49-F238E27FC236}">
                <a16:creationId xmlns:a16="http://schemas.microsoft.com/office/drawing/2014/main" xmlns="" id="{3E0B0E20-0289-47D3-B608-0894C759F584}"/>
              </a:ext>
            </a:extLst>
          </p:cNvPr>
          <p:cNvSpPr/>
          <p:nvPr/>
        </p:nvSpPr>
        <p:spPr>
          <a:xfrm>
            <a:off x="7087767" y="3866289"/>
            <a:ext cx="3829686" cy="674649"/>
          </a:xfrm>
          <a:prstGeom prst="wedgeRectCallout">
            <a:avLst>
              <a:gd name="adj1" fmla="val 60243"/>
              <a:gd name="adj2" fmla="val -60088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Often we can use some “greedy” heuristics to construct a “good” DT</a:t>
            </a:r>
          </a:p>
        </p:txBody>
      </p:sp>
      <p:sp>
        <p:nvSpPr>
          <p:cNvPr id="120" name="Speech Bubble: Rectangle 119">
            <a:extLst>
              <a:ext uri="{FF2B5EF4-FFF2-40B4-BE49-F238E27FC236}">
                <a16:creationId xmlns:a16="http://schemas.microsoft.com/office/drawing/2014/main" xmlns="" id="{254515CD-CAE8-4E12-99C7-155AABC2DEBB}"/>
              </a:ext>
            </a:extLst>
          </p:cNvPr>
          <p:cNvSpPr/>
          <p:nvPr/>
        </p:nvSpPr>
        <p:spPr>
          <a:xfrm>
            <a:off x="7087767" y="4685233"/>
            <a:ext cx="4993556" cy="674649"/>
          </a:xfrm>
          <a:prstGeom prst="wedgeRectCallout">
            <a:avLst>
              <a:gd name="adj1" fmla="val -2643"/>
              <a:gd name="adj2" fmla="val -72496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To do so, we use the training data to figure out which rules should be tested at eac</a:t>
            </a:r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h node</a:t>
            </a:r>
            <a:endParaRPr lang="en-IN" sz="20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121" name="Speech Bubble: Rectangle 120">
            <a:extLst>
              <a:ext uri="{FF2B5EF4-FFF2-40B4-BE49-F238E27FC236}">
                <a16:creationId xmlns:a16="http://schemas.microsoft.com/office/drawing/2014/main" xmlns="" id="{27106F8D-1FFC-4E6C-9720-0D42FE583E6D}"/>
              </a:ext>
            </a:extLst>
          </p:cNvPr>
          <p:cNvSpPr/>
          <p:nvPr/>
        </p:nvSpPr>
        <p:spPr>
          <a:xfrm>
            <a:off x="6917115" y="5504177"/>
            <a:ext cx="4993556" cy="912768"/>
          </a:xfrm>
          <a:prstGeom prst="wedgeRectCallout">
            <a:avLst>
              <a:gd name="adj1" fmla="val 452"/>
              <a:gd name="adj2" fmla="val -69674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The same rules will be applied on the test inputs to route them along the tree </a:t>
            </a:r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until they reach some leaf node where the prediction is made</a:t>
            </a:r>
            <a:endParaRPr lang="en-IN" sz="20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122" name="Speech Bubble: Rectangle 121">
            <a:extLst>
              <a:ext uri="{FF2B5EF4-FFF2-40B4-BE49-F238E27FC236}">
                <a16:creationId xmlns:a16="http://schemas.microsoft.com/office/drawing/2014/main" xmlns="" id="{30D15993-77C7-47BA-940C-DD4EE593B7E6}"/>
              </a:ext>
            </a:extLst>
          </p:cNvPr>
          <p:cNvSpPr/>
          <p:nvPr/>
        </p:nvSpPr>
        <p:spPr>
          <a:xfrm>
            <a:off x="7549769" y="1161708"/>
            <a:ext cx="3090028" cy="728006"/>
          </a:xfrm>
          <a:prstGeom prst="wedgeRectCallout">
            <a:avLst>
              <a:gd name="adj1" fmla="val 65074"/>
              <a:gd name="adj2" fmla="val -56166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How to decide which rules to test for and in what order?</a:t>
            </a:r>
          </a:p>
        </p:txBody>
      </p:sp>
      <p:sp>
        <p:nvSpPr>
          <p:cNvPr id="123" name="Speech Bubble: Rectangle 122">
            <a:extLst>
              <a:ext uri="{FF2B5EF4-FFF2-40B4-BE49-F238E27FC236}">
                <a16:creationId xmlns:a16="http://schemas.microsoft.com/office/drawing/2014/main" xmlns="" id="{9D3B510E-629B-47BA-9517-DB1266730494}"/>
              </a:ext>
            </a:extLst>
          </p:cNvPr>
          <p:cNvSpPr/>
          <p:nvPr/>
        </p:nvSpPr>
        <p:spPr>
          <a:xfrm>
            <a:off x="3550951" y="3819474"/>
            <a:ext cx="3240709" cy="889937"/>
          </a:xfrm>
          <a:prstGeom prst="wedgeRectCallout">
            <a:avLst>
              <a:gd name="adj1" fmla="val 60140"/>
              <a:gd name="adj2" fmla="val 72130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The rules are organized in the DT such that </a:t>
            </a:r>
            <a:r>
              <a:rPr lang="en-IN" sz="2000" b="0" dirty="0">
                <a:solidFill>
                  <a:srgbClr val="0000FF"/>
                </a:solidFill>
                <a:latin typeface="Abadi Extra Light" panose="020B0204020104020204" pitchFamily="34" charset="0"/>
              </a:rPr>
              <a:t>most informative rules are tested first</a:t>
            </a:r>
          </a:p>
        </p:txBody>
      </p:sp>
      <p:sp>
        <p:nvSpPr>
          <p:cNvPr id="126" name="Speech Bubble: Rectangle 125">
            <a:extLst>
              <a:ext uri="{FF2B5EF4-FFF2-40B4-BE49-F238E27FC236}">
                <a16:creationId xmlns:a16="http://schemas.microsoft.com/office/drawing/2014/main" xmlns="" id="{368DC8EB-8D32-495C-AD9F-7E2B707A634B}"/>
              </a:ext>
            </a:extLst>
          </p:cNvPr>
          <p:cNvSpPr/>
          <p:nvPr/>
        </p:nvSpPr>
        <p:spPr>
          <a:xfrm>
            <a:off x="7372105" y="2029435"/>
            <a:ext cx="4451012" cy="434240"/>
          </a:xfrm>
          <a:prstGeom prst="wedgeRectCallout">
            <a:avLst>
              <a:gd name="adj1" fmla="val 1215"/>
              <a:gd name="adj2" fmla="val -79528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How to assess informativeness of a rule?</a:t>
            </a:r>
          </a:p>
        </p:txBody>
      </p:sp>
      <p:sp>
        <p:nvSpPr>
          <p:cNvPr id="129" name="Speech Bubble: Rectangle 128">
            <a:extLst>
              <a:ext uri="{FF2B5EF4-FFF2-40B4-BE49-F238E27FC236}">
                <a16:creationId xmlns:a16="http://schemas.microsoft.com/office/drawing/2014/main" xmlns="" id="{CEEC1F05-4939-4D16-BB05-1EA7D36AFF26}"/>
              </a:ext>
            </a:extLst>
          </p:cNvPr>
          <p:cNvSpPr/>
          <p:nvPr/>
        </p:nvSpPr>
        <p:spPr>
          <a:xfrm>
            <a:off x="2826975" y="4940138"/>
            <a:ext cx="4044494" cy="1281483"/>
          </a:xfrm>
          <a:prstGeom prst="wedgeRectCallout">
            <a:avLst>
              <a:gd name="adj1" fmla="val -1434"/>
              <a:gd name="adj2" fmla="val -70101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Informativeness of a rule is of related to the extent of the purity of the split arising due to that rule. </a:t>
            </a:r>
            <a:r>
              <a:rPr lang="en-IN" sz="2000" b="0" dirty="0">
                <a:solidFill>
                  <a:srgbClr val="0000FF"/>
                </a:solidFill>
                <a:latin typeface="Abadi Extra Light" panose="020B0204020104020204" pitchFamily="34" charset="0"/>
              </a:rPr>
              <a:t>More informative rules</a:t>
            </a:r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 yield </a:t>
            </a:r>
            <a:r>
              <a:rPr lang="en-IN" sz="2000" b="0" dirty="0">
                <a:solidFill>
                  <a:srgbClr val="0000FF"/>
                </a:solidFill>
                <a:latin typeface="Abadi Extra Light" panose="020B0204020104020204" pitchFamily="34" charset="0"/>
              </a:rPr>
              <a:t>more pure splits</a:t>
            </a:r>
          </a:p>
        </p:txBody>
      </p:sp>
      <p:pic>
        <p:nvPicPr>
          <p:cNvPr id="132" name="Picture 131" descr="Clipart Thanksgiving Hand Clip Black And White Stock - Thinking Light Bulb Clip Art - Png Download (950x1015), Png Download">
            <a:extLst>
              <a:ext uri="{FF2B5EF4-FFF2-40B4-BE49-F238E27FC236}">
                <a16:creationId xmlns:a16="http://schemas.microsoft.com/office/drawing/2014/main" xmlns="" id="{2F153669-D5AD-446A-9EB1-7A47A2231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82" y="5422019"/>
            <a:ext cx="1075043" cy="1263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" name="Speech Bubble: Rectangle 132">
            <a:extLst>
              <a:ext uri="{FF2B5EF4-FFF2-40B4-BE49-F238E27FC236}">
                <a16:creationId xmlns:a16="http://schemas.microsoft.com/office/drawing/2014/main" xmlns="" id="{3FCF03C3-C85E-4D78-8BDA-CEAA1FABE69A}"/>
              </a:ext>
            </a:extLst>
          </p:cNvPr>
          <p:cNvSpPr/>
          <p:nvPr/>
        </p:nvSpPr>
        <p:spPr>
          <a:xfrm>
            <a:off x="303540" y="4260080"/>
            <a:ext cx="2454931" cy="1178141"/>
          </a:xfrm>
          <a:prstGeom prst="wedgeRectCallout">
            <a:avLst>
              <a:gd name="adj1" fmla="val -34451"/>
              <a:gd name="adj2" fmla="val 75772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Hmm.. So DTs are like the </a:t>
            </a:r>
            <a:r>
              <a:rPr lang="en-IN" sz="2000" b="0" dirty="0">
                <a:solidFill>
                  <a:srgbClr val="0000FF"/>
                </a:solidFill>
                <a:latin typeface="Abadi Extra Light" panose="020B0204020104020204" pitchFamily="34" charset="0"/>
              </a:rPr>
              <a:t>“20 questions” </a:t>
            </a:r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game (ask the </a:t>
            </a:r>
            <a:r>
              <a:rPr lang="en-IN" sz="2000" b="0" dirty="0">
                <a:solidFill>
                  <a:srgbClr val="0000FF"/>
                </a:solidFill>
                <a:latin typeface="Abadi Extra Light" panose="020B0204020104020204" pitchFamily="34" charset="0"/>
              </a:rPr>
              <a:t>most useful questions </a:t>
            </a:r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f</a:t>
            </a:r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irst)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74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7161"/>
    </mc:Choice>
    <mc:Fallback xmlns="">
      <p:transition spd="slow" advTm="2971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6" grpId="0" animBg="1"/>
      <p:bldP spid="129" grpId="0" animBg="1"/>
      <p:bldP spid="1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Decision Tree Construction: An Example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xmlns="" id="{60A06722-EDF2-4418-9797-499014F6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740617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Let’s consider the playing Tennis example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Assume each internal node will test the value of one of the features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Question: Why does it make more sense to test the feature “outlook” first?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Answer: Of all the 4 features, it’s the most informative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It has the highest </a:t>
            </a:r>
            <a:r>
              <a:rPr lang="en-GB" dirty="0">
                <a:solidFill>
                  <a:srgbClr val="0000FF"/>
                </a:solidFill>
                <a:latin typeface="Abadi Extra Light" panose="020B0204020104020204" pitchFamily="34" charset="0"/>
              </a:rPr>
              <a:t>information gain </a:t>
            </a:r>
            <a:r>
              <a:rPr lang="en-GB" dirty="0">
                <a:latin typeface="Abadi Extra Light" panose="020B0204020104020204" pitchFamily="34" charset="0"/>
              </a:rPr>
              <a:t>as the root node</a:t>
            </a:r>
          </a:p>
          <a:p>
            <a:pPr marL="457200" lvl="1" indent="0">
              <a:buNone/>
            </a:pPr>
            <a:endParaRPr lang="en-GB" sz="8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11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1100" dirty="0">
              <a:latin typeface="Abadi Extra Light" panose="020B0204020104020204" pitchFamily="34" charset="0"/>
            </a:endParaRP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xmlns="" id="{E8AA12DB-1E02-4252-B4CB-1932D8798C2F}"/>
              </a:ext>
            </a:extLst>
          </p:cNvPr>
          <p:cNvSpPr txBox="1">
            <a:spLocks/>
          </p:cNvSpPr>
          <p:nvPr/>
        </p:nvSpPr>
        <p:spPr>
          <a:xfrm>
            <a:off x="11419146" y="169682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11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CCF3704-B39B-4AF5-9727-5E6E09494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716" y="2178295"/>
            <a:ext cx="8889022" cy="305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1850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5498"/>
    </mc:Choice>
    <mc:Fallback xmlns="">
      <p:transition spd="slow" advTm="1654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Entropy and Information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2">
                <a:extLst>
                  <a:ext uri="{FF2B5EF4-FFF2-40B4-BE49-F238E27FC236}">
                    <a16:creationId xmlns="" xmlns:a16="http://schemas.microsoft.com/office/drawing/2014/main" id="{60A06722-EDF2-4418-9797-499014F68A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dirty="0">
                    <a:latin typeface="Abadi Extra Light" panose="020B0204020104020204" pitchFamily="34" charset="0"/>
                  </a:rPr>
                  <a:t>Assume a set of labelled inputs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GB" b="1" i="1" dirty="0">
                    <a:latin typeface="Abadi Extra Light" panose="020B0204020104020204" pitchFamily="34" charset="0"/>
                  </a:rPr>
                  <a:t> </a:t>
                </a:r>
                <a:r>
                  <a:rPr lang="en-GB" b="1" dirty="0">
                    <a:latin typeface="Abadi Extra Light" panose="020B0204020104020204" pitchFamily="34" charset="0"/>
                  </a:rPr>
                  <a:t>from </a:t>
                </a:r>
                <a:r>
                  <a:rPr lang="en-GB" b="1" i="1" dirty="0">
                    <a:latin typeface="Abadi Extra Light" panose="020B0204020104020204" pitchFamily="34" charset="0"/>
                  </a:rPr>
                  <a:t>C</a:t>
                </a:r>
                <a:r>
                  <a:rPr lang="en-GB" b="1" dirty="0">
                    <a:latin typeface="Abadi Extra Light" panose="020B0204020104020204" pitchFamily="34" charset="0"/>
                  </a:rPr>
                  <a:t>  </a:t>
                </a:r>
                <a:r>
                  <a:rPr lang="en-GB" dirty="0">
                    <a:latin typeface="Abadi Extra Light" panose="020B0204020104020204" pitchFamily="34" charset="0"/>
                  </a:rPr>
                  <a:t>classes,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i="1" dirty="0">
                    <a:latin typeface="Abadi Extra Light" panose="020B0204020104020204" pitchFamily="34" charset="0"/>
                  </a:rPr>
                  <a:t> </a:t>
                </a:r>
                <a:r>
                  <a:rPr lang="en-GB" dirty="0">
                    <a:latin typeface="Abadi Extra Light" panose="020B0204020104020204" pitchFamily="34" charset="0"/>
                  </a:rPr>
                  <a:t>as fraction of class c inputs</a:t>
                </a:r>
                <a:endParaRPr lang="en-GB" i="1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b="1" u="sng" dirty="0">
                    <a:latin typeface="Abadi Extra Light" panose="020B0204020104020204" pitchFamily="34" charset="0"/>
                  </a:rPr>
                  <a:t>Entropy</a:t>
                </a:r>
                <a:r>
                  <a:rPr lang="en-GB" u="sng" dirty="0">
                    <a:latin typeface="Abadi Extra Light" panose="020B0204020104020204" pitchFamily="34" charset="0"/>
                  </a:rPr>
                  <a:t> </a:t>
                </a:r>
                <a:r>
                  <a:rPr lang="en-GB" dirty="0">
                    <a:latin typeface="Abadi Extra Light" panose="020B0204020104020204" pitchFamily="34" charset="0"/>
                  </a:rPr>
                  <a:t>of the set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GB" i="1" dirty="0">
                    <a:latin typeface="Abadi Extra Light" panose="020B0204020104020204" pitchFamily="34" charset="0"/>
                  </a:rPr>
                  <a:t> </a:t>
                </a:r>
                <a:r>
                  <a:rPr lang="en-GB" dirty="0">
                    <a:latin typeface="Abadi Extra Light" panose="020B0204020104020204" pitchFamily="34" charset="0"/>
                  </a:rPr>
                  <a:t>is defined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)=−</m:t>
                    </m:r>
                    <m:nary>
                      <m:naryPr>
                        <m:chr m:val="∑"/>
                        <m:supHide m:val="on"/>
                        <m:ctrlPr>
                          <a:rPr lang="en-IN" b="0" i="1" dirty="0" smtClean="0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i="1" dirty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i="1" dirty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 dirty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nary>
                  </m:oMath>
                </a14:m>
                <a:endParaRPr lang="en-IN" b="0" i="1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dirty="0">
                    <a:latin typeface="Abadi Extra Light" panose="020B0204020104020204" pitchFamily="34" charset="0"/>
                  </a:rPr>
                  <a:t>Suppose a rule splits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GB" dirty="0">
                    <a:latin typeface="Abadi Extra Light" panose="020B0204020104020204" pitchFamily="34" charset="0"/>
                  </a:rPr>
                  <a:t> into two smaller disjoint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latin typeface="Abadi Extra Light" panose="020B0204020104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dirty="0">
                    <a:latin typeface="Abadi Extra Light" panose="020B0204020104020204" pitchFamily="34" charset="0"/>
                  </a:rPr>
                  <a:t>Reduction in entropy after the split is called </a:t>
                </a:r>
                <a:r>
                  <a:rPr lang="en-GB" u="sng" dirty="0">
                    <a:latin typeface="Abadi Extra Light" panose="020B0204020104020204" pitchFamily="34" charset="0"/>
                  </a:rPr>
                  <a:t>information gain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dirty="0">
                  <a:latin typeface="Abadi Extra Light" panose="020B0204020104020204" pitchFamily="34" charset="0"/>
                </a:endParaRPr>
              </a:p>
              <a:p>
                <a:pPr marL="457200" lvl="1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11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1100" dirty="0"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0A06722-EDF2-4418-9797-499014F68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 cstate="print"/>
                <a:stretch>
                  <a:fillRect l="-935" t="-1864" r="-3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xmlns="" id="{E8AA12DB-1E02-4252-B4CB-1932D8798C2F}"/>
              </a:ext>
            </a:extLst>
          </p:cNvPr>
          <p:cNvSpPr txBox="1">
            <a:spLocks/>
          </p:cNvSpPr>
          <p:nvPr/>
        </p:nvSpPr>
        <p:spPr>
          <a:xfrm>
            <a:off x="11419146" y="169682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12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D0D1FEA-FFFF-45DA-AD84-AE7D561227B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529090" y="2803685"/>
            <a:ext cx="1010687" cy="965223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xmlns="" id="{BAAE6E70-4831-49A3-8F76-70D876CA29F7}"/>
              </a:ext>
            </a:extLst>
          </p:cNvPr>
          <p:cNvSpPr/>
          <p:nvPr/>
        </p:nvSpPr>
        <p:spPr>
          <a:xfrm>
            <a:off x="9365346" y="1559289"/>
            <a:ext cx="2719032" cy="1164861"/>
          </a:xfrm>
          <a:prstGeom prst="wedgeRectCallout">
            <a:avLst>
              <a:gd name="adj1" fmla="val -1739"/>
              <a:gd name="adj2" fmla="val 72505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0" dirty="0">
                <a:solidFill>
                  <a:srgbClr val="FF0000"/>
                </a:solidFill>
                <a:latin typeface="Abadi Extra Light" panose="020B0204020104020204" pitchFamily="34" charset="0"/>
              </a:rPr>
              <a:t>Uniform</a:t>
            </a:r>
            <a:r>
              <a:rPr lang="en-IN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 sets (all classe</a:t>
            </a:r>
            <a:r>
              <a:rPr lang="en-IN" dirty="0">
                <a:solidFill>
                  <a:schemeClr val="tx1"/>
                </a:solidFill>
                <a:latin typeface="Abadi Extra Light" panose="020B0204020104020204" pitchFamily="34" charset="0"/>
              </a:rPr>
              <a:t>s roughly equally present)</a:t>
            </a:r>
            <a:r>
              <a:rPr lang="en-IN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 have </a:t>
            </a:r>
            <a:r>
              <a:rPr lang="en-IN" b="0" dirty="0">
                <a:solidFill>
                  <a:srgbClr val="FF0000"/>
                </a:solidFill>
                <a:latin typeface="Abadi Extra Light" panose="020B0204020104020204" pitchFamily="34" charset="0"/>
              </a:rPr>
              <a:t>high</a:t>
            </a:r>
            <a:r>
              <a:rPr lang="en-IN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 entropy; </a:t>
            </a:r>
            <a:r>
              <a:rPr lang="en-IN" b="0" dirty="0">
                <a:solidFill>
                  <a:srgbClr val="00B050"/>
                </a:solidFill>
                <a:latin typeface="Abadi Extra Light" panose="020B0204020104020204" pitchFamily="34" charset="0"/>
              </a:rPr>
              <a:t>skewed</a:t>
            </a:r>
            <a:r>
              <a:rPr lang="en-IN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 sets </a:t>
            </a:r>
            <a:r>
              <a:rPr lang="en-IN" b="0" dirty="0">
                <a:solidFill>
                  <a:srgbClr val="00B050"/>
                </a:solidFill>
                <a:latin typeface="Abadi Extra Light" panose="020B0204020104020204" pitchFamily="34" charset="0"/>
              </a:rPr>
              <a:t>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="" xmlns:a16="http://schemas.microsoft.com/office/drawing/2014/main" id="{3A002209-529D-482F-A7AE-2E1CE0D13607}"/>
                  </a:ext>
                </a:extLst>
              </p:cNvPr>
              <p:cNvSpPr txBox="1"/>
              <p:nvPr/>
            </p:nvSpPr>
            <p:spPr>
              <a:xfrm>
                <a:off x="3977322" y="3286297"/>
                <a:ext cx="4643131" cy="5843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𝐼𝐺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IN" sz="24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IN" sz="2400" b="0" i="1" smtClean="0">
                            <a:latin typeface="Cambria Math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IN" sz="24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400" b="0" i="1" smtClean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IN" sz="24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IN" sz="2400" b="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IN" sz="2400" i="1">
                            <a:latin typeface="Cambria Math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IN" sz="2400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4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IN" sz="24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den>
                    </m:f>
                    <m:r>
                      <a:rPr lang="en-IN" sz="24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IN" sz="24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A002209-529D-482F-A7AE-2E1CE0D13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322" y="3286297"/>
                <a:ext cx="4643131" cy="584391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CCD93084-3252-4F02-8D8F-7F2D418A8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427" y="4010292"/>
            <a:ext cx="6132919" cy="240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xmlns="" id="{81BAFB2B-82C4-4422-AD68-C3A4863245A7}"/>
              </a:ext>
            </a:extLst>
          </p:cNvPr>
          <p:cNvSpPr/>
          <p:nvPr/>
        </p:nvSpPr>
        <p:spPr>
          <a:xfrm>
            <a:off x="2486025" y="5212375"/>
            <a:ext cx="667886" cy="2359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3E5F118-88F8-4617-9617-9195299D96E7}"/>
              </a:ext>
            </a:extLst>
          </p:cNvPr>
          <p:cNvSpPr txBox="1"/>
          <p:nvPr/>
        </p:nvSpPr>
        <p:spPr>
          <a:xfrm>
            <a:off x="358412" y="5007171"/>
            <a:ext cx="2248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badi Extra Light" panose="020B0204020104020204" pitchFamily="34" charset="0"/>
              </a:rPr>
              <a:t>This split has a low IG </a:t>
            </a:r>
          </a:p>
          <a:p>
            <a:r>
              <a:rPr lang="en-IN" dirty="0">
                <a:latin typeface="Abadi Extra Light" panose="020B0204020104020204" pitchFamily="34" charset="0"/>
              </a:rPr>
              <a:t>    (in fact zero IG)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xmlns="" id="{71A5F20F-465D-429C-8344-9DE6C06E657F}"/>
              </a:ext>
            </a:extLst>
          </p:cNvPr>
          <p:cNvSpPr/>
          <p:nvPr/>
        </p:nvSpPr>
        <p:spPr>
          <a:xfrm rot="10800000">
            <a:off x="9201718" y="5233625"/>
            <a:ext cx="667886" cy="2359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CDAF8C2A-2ABD-41F8-8612-3AFC7C046895}"/>
              </a:ext>
            </a:extLst>
          </p:cNvPr>
          <p:cNvSpPr txBox="1"/>
          <p:nvPr/>
        </p:nvSpPr>
        <p:spPr>
          <a:xfrm>
            <a:off x="9825088" y="5125134"/>
            <a:ext cx="2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badi Extra Light" panose="020B0204020104020204" pitchFamily="34" charset="0"/>
              </a:rPr>
              <a:t>This split has higher IG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612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7016"/>
    </mc:Choice>
    <mc:Fallback xmlns="">
      <p:transition spd="slow" advTm="3170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uild="p"/>
      <p:bldP spid="7" grpId="0" animBg="1"/>
      <p:bldP spid="3" grpId="0" animBg="1"/>
      <p:bldP spid="4" grpId="0" animBg="1"/>
      <p:bldP spid="5" grpId="0"/>
      <p:bldP spid="11" grpId="0" animBg="1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Entropy and Information Gain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xmlns="" id="{60A06722-EDF2-4418-9797-499014F6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740617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Abadi Extra Light" panose="020B0204020104020204" pitchFamily="34" charset="0"/>
              </a:rPr>
              <a:t>Let’s use IG based criterion to construct a DT for the Tennis example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Abadi Extra Light" panose="020B0204020104020204" pitchFamily="34" charset="0"/>
              </a:rPr>
              <a:t>At root node, let’s compute IG of each of the 4 features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Abadi Extra Light" panose="020B0204020104020204" pitchFamily="34" charset="0"/>
              </a:rPr>
              <a:t>Consider feature “wind”. Root contains </a:t>
            </a:r>
            <a:r>
              <a:rPr lang="en-IN" sz="2400" u="sng" dirty="0">
                <a:latin typeface="Abadi Extra Light" panose="020B0204020104020204" pitchFamily="34" charset="0"/>
              </a:rPr>
              <a:t>all</a:t>
            </a:r>
            <a:r>
              <a:rPr lang="en-IN" sz="2400" dirty="0">
                <a:latin typeface="Abadi Extra Light" panose="020B0204020104020204" pitchFamily="34" charset="0"/>
              </a:rPr>
              <a:t> examples </a:t>
            </a:r>
            <a:r>
              <a:rPr lang="en-IN" sz="2400" b="1" i="1" dirty="0">
                <a:latin typeface="Abadi Extra Light" panose="020B0204020104020204" pitchFamily="34" charset="0"/>
              </a:rPr>
              <a:t>S</a:t>
            </a:r>
            <a:r>
              <a:rPr lang="en-IN" sz="2400" dirty="0">
                <a:latin typeface="Abadi Extra Light" panose="020B0204020104020204" pitchFamily="34" charset="0"/>
              </a:rPr>
              <a:t> = [9+,5-]</a:t>
            </a:r>
            <a:endParaRPr lang="en-GB" sz="24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r>
              <a:rPr lang="en-GB" sz="2400" b="1" i="1" dirty="0">
                <a:latin typeface="Abadi Extra Light" panose="020B0204020104020204" pitchFamily="34" charset="0"/>
              </a:rPr>
              <a:t>    </a:t>
            </a:r>
            <a:r>
              <a:rPr lang="en-IN" sz="20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IN" sz="20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weak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= [6+, 2−] ⇒ H(</a:t>
            </a:r>
            <a:r>
              <a:rPr lang="en-IN" sz="20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IN" sz="20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weak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) = 0.811</a:t>
            </a:r>
          </a:p>
          <a:p>
            <a:pPr marL="0" indent="0">
              <a:buNone/>
            </a:pPr>
            <a:r>
              <a:rPr lang="en-IN" sz="20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S</a:t>
            </a:r>
            <a:r>
              <a:rPr lang="en-IN" sz="20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strong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= [3+, 3−] ⇒ H(</a:t>
            </a:r>
            <a:r>
              <a:rPr lang="en-IN" sz="20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IN" sz="20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strong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) = 1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Abadi Extra Light" panose="020B0204020104020204" pitchFamily="34" charset="0"/>
              </a:rPr>
              <a:t>Likewise, at root: </a:t>
            </a:r>
            <a:r>
              <a:rPr lang="en-GB" sz="2400" dirty="0">
                <a:latin typeface="Abadi Extra Light" panose="020B0204020104020204" pitchFamily="34" charset="0"/>
              </a:rPr>
              <a:t>IG(S, outlook) = 0.246, IG(S, humidity) = 0.151, IG(</a:t>
            </a:r>
            <a:r>
              <a:rPr lang="en-GB" sz="2400" dirty="0" err="1">
                <a:latin typeface="Abadi Extra Light" panose="020B0204020104020204" pitchFamily="34" charset="0"/>
              </a:rPr>
              <a:t>S,temp</a:t>
            </a:r>
            <a:r>
              <a:rPr lang="en-GB" sz="2400" dirty="0">
                <a:latin typeface="Abadi Extra Light" panose="020B0204020104020204" pitchFamily="34" charset="0"/>
              </a:rPr>
              <a:t>) = 0.029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Thus we choose “outlook” feature to be tested at the root node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Now how to grow the DT, i.e., what to do at the next level? Which feature to test next?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Rule: Iterate - for each child node, select the feature with the highest IG</a:t>
            </a: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457200" lvl="1" indent="0">
              <a:buNone/>
            </a:pPr>
            <a:endParaRPr lang="en-GB" sz="8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11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1100" dirty="0">
              <a:latin typeface="Abadi Extra Light" panose="020B0204020104020204" pitchFamily="34" charset="0"/>
            </a:endParaRP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xmlns="" id="{E8AA12DB-1E02-4252-B4CB-1932D8798C2F}"/>
              </a:ext>
            </a:extLst>
          </p:cNvPr>
          <p:cNvSpPr txBox="1">
            <a:spLocks/>
          </p:cNvSpPr>
          <p:nvPr/>
        </p:nvSpPr>
        <p:spPr>
          <a:xfrm>
            <a:off x="11419146" y="169682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13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xmlns="" id="{A3CCDC94-C1D1-464E-A8A0-113A262B4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277" y="1502306"/>
            <a:ext cx="3248025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58E44FB6-EDE6-434C-AEA2-9BAEB6DD2E55}"/>
                  </a:ext>
                </a:extLst>
              </p:cNvPr>
              <p:cNvSpPr txBox="1"/>
              <p:nvPr/>
            </p:nvSpPr>
            <p:spPr>
              <a:xfrm>
                <a:off x="635785" y="2574690"/>
                <a:ext cx="62372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pt-B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IN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IN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</m:t>
                      </m:r>
                      <m:r>
                        <m:rPr>
                          <m:nor/>
                        </m:rPr>
                        <a:rPr lang="pt-BR" sz="2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−(9/14) </m:t>
                      </m:r>
                      <m:r>
                        <m:rPr>
                          <m:nor/>
                        </m:rP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log</m:t>
                      </m:r>
                      <m:r>
                        <m:rPr>
                          <m:nor/>
                        </m:rPr>
                        <a:rPr lang="en-IN" sz="2000" b="0" i="0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pt-BR" sz="2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(9/14) − (5/14) </m:t>
                      </m:r>
                      <m:r>
                        <m:rPr>
                          <m:nor/>
                        </m:rPr>
                        <a:rPr lang="pt-BR" sz="2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</m:t>
                      </m:r>
                      <m:r>
                        <m:rPr>
                          <m:nor/>
                        </m:rP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r>
                        <m:rPr>
                          <m:nor/>
                        </m:rPr>
                        <a:rPr lang="en-IN" sz="2000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pt-BR" sz="2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(5/14) = 0.94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8E44FB6-EDE6-434C-AEA2-9BAEB6DD2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85" y="2574690"/>
                <a:ext cx="6237285" cy="307777"/>
              </a:xfrm>
              <a:prstGeom prst="rect">
                <a:avLst/>
              </a:prstGeom>
              <a:blipFill>
                <a:blip r:embed="rId4" cstate="print"/>
                <a:stretch>
                  <a:fillRect l="-489" r="-489" b="-372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id="{AE00B1EC-9565-438F-9E65-E65CC365759F}"/>
                  </a:ext>
                </a:extLst>
              </p:cNvPr>
              <p:cNvSpPr/>
              <p:nvPr/>
            </p:nvSpPr>
            <p:spPr>
              <a:xfrm>
                <a:off x="543422" y="3923046"/>
                <a:ext cx="11383333" cy="6270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</a:rPr>
                      <m:t>𝐼𝐺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𝑤𝑖𝑛𝑑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IN" sz="20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IN" sz="2000" i="1">
                            <a:latin typeface="Cambria Math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IN" sz="2000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0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IN" sz="2000" b="0" i="0" smtClean="0">
                                    <a:latin typeface="Cambria Math" panose="02040503050406030204" pitchFamily="18" charset="0"/>
                                  </a:rPr>
                                  <m:t>weak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IN" sz="20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den>
                    </m:f>
                    <m:r>
                      <a:rPr lang="en-IN" sz="20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IN" sz="20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weak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000" dirty="0">
                    <a:latin typeface="Abadi Extra Light" panose="020B0204020104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IN" sz="2000" i="1">
                            <a:latin typeface="Cambria Math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IN" sz="2000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0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IN" sz="2000" b="0" i="0" smtClean="0">
                                    <a:latin typeface="Cambria Math" panose="02040503050406030204" pitchFamily="18" charset="0"/>
                                  </a:rPr>
                                  <m:t>strong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IN" sz="20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den>
                    </m:f>
                    <m:r>
                      <a:rPr lang="en-IN" sz="20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IN" sz="20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strong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000" dirty="0">
                    <a:latin typeface="Abadi Extra Light" panose="020B0204020104020204" pitchFamily="34" charset="0"/>
                  </a:rPr>
                  <a:t> = 0.94 − 8/14 ∗ 0.811 − 6/14 ∗ 1 = </a:t>
                </a:r>
                <a:r>
                  <a:rPr lang="en-IN" sz="20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0.048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E00B1EC-9565-438F-9E65-E65CC36575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22" y="3923046"/>
                <a:ext cx="11383333" cy="627031"/>
              </a:xfrm>
              <a:prstGeom prst="rect">
                <a:avLst/>
              </a:prstGeom>
              <a:blipFill>
                <a:blip r:embed="rId5" cstate="print"/>
                <a:stretch>
                  <a:fillRect r="-375" b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5546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253"/>
    </mc:Choice>
    <mc:Fallback xmlns="">
      <p:transition spd="slow" advTm="2112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uild="p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Growing the tree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xmlns="" id="{60A06722-EDF2-4418-9797-499014F6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740617" cy="555753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457200" lvl="1" indent="0">
              <a:buNone/>
            </a:pPr>
            <a:endParaRPr lang="en-GB" sz="8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Proceeding as before, for level 2, left node, we can verify that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Abadi Extra Light" panose="020B0204020104020204" pitchFamily="34" charset="0"/>
              </a:rPr>
              <a:t>IG(</a:t>
            </a:r>
            <a:r>
              <a:rPr lang="en-IN" dirty="0" err="1">
                <a:latin typeface="Abadi Extra Light" panose="020B0204020104020204" pitchFamily="34" charset="0"/>
              </a:rPr>
              <a:t>S,temp</a:t>
            </a:r>
            <a:r>
              <a:rPr lang="en-IN" dirty="0">
                <a:latin typeface="Abadi Extra Light" panose="020B0204020104020204" pitchFamily="34" charset="0"/>
              </a:rPr>
              <a:t>) = 0.570, IG(S, humidity) = 0.970, IG(S, wind) = 0.019</a:t>
            </a: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Thus humidity chosen as the feature to be tested at level 2, left node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No need to expand the middle node (already “pure” - all “yes” training examples </a:t>
            </a:r>
            <a:r>
              <a:rPr lang="en-GB" sz="2400" dirty="0" smtClean="0">
                <a:latin typeface="Abadi Extra Light" panose="020B0204020104020204" pitchFamily="34" charset="0"/>
              </a:rPr>
              <a:t>)</a:t>
            </a:r>
            <a:endParaRPr lang="en-GB" sz="24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Can also verify that wind has the largest IG for the right node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Note: If a feature has already been tested along a path earlier, we don’t consider it again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11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1100" dirty="0">
              <a:latin typeface="Abadi Extra Light" panose="020B0204020104020204" pitchFamily="34" charset="0"/>
            </a:endParaRP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xmlns="" id="{E8AA12DB-1E02-4252-B4CB-1932D8798C2F}"/>
              </a:ext>
            </a:extLst>
          </p:cNvPr>
          <p:cNvSpPr txBox="1">
            <a:spLocks/>
          </p:cNvSpPr>
          <p:nvPr/>
        </p:nvSpPr>
        <p:spPr>
          <a:xfrm>
            <a:off x="11419146" y="169682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14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940FE9A6-C7F5-4627-82C9-F48922BC6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804" y="1130786"/>
            <a:ext cx="7886700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6560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949"/>
    </mc:Choice>
    <mc:Fallback xmlns="">
      <p:transition spd="slow" advTm="1969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When to stop growing the tree?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xmlns="" id="{60A06722-EDF2-4418-9797-499014F6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740617" cy="555753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457200" lvl="1" indent="0">
              <a:buNone/>
            </a:pPr>
            <a:endParaRPr lang="en-GB" sz="8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Stop expanding a node further (i.e., make it a leaf node) when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It consist of all training examples having the same label (the node becomes “pure”)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We run out of features to test along the path to that node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The DT starts to overfit (can be checked by monitoring </a:t>
            </a:r>
          </a:p>
          <a:p>
            <a:pPr marL="457200" lvl="1" indent="0">
              <a:buNone/>
            </a:pPr>
            <a:r>
              <a:rPr lang="en-GB" dirty="0">
                <a:latin typeface="Abadi Extra Light" panose="020B0204020104020204" pitchFamily="34" charset="0"/>
              </a:rPr>
              <a:t>   the validation set accuracy)</a:t>
            </a:r>
          </a:p>
          <a:p>
            <a:pPr marL="457200" lvl="1" indent="0">
              <a:buNone/>
            </a:pPr>
            <a:endParaRPr lang="en-GB" sz="9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b="1" dirty="0">
                <a:solidFill>
                  <a:srgbClr val="FF0000"/>
                </a:solidFill>
                <a:latin typeface="Abadi Extra Light" panose="020B0204020104020204" pitchFamily="34" charset="0"/>
              </a:rPr>
              <a:t>Important:</a:t>
            </a:r>
            <a:r>
              <a:rPr lang="en-GB" sz="2400" dirty="0">
                <a:latin typeface="Abadi Extra Light" panose="020B0204020104020204" pitchFamily="34" charset="0"/>
              </a:rPr>
              <a:t> No need to obsess too much for purity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It is okay to have a leaf node that is not fully pure, e.g., this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At test inputs that reach an impure leaf, can predict probability of belonging to each class (in above example, p(red) = 3/8, p(green) = 5/8), or simply predict the majority label </a:t>
            </a:r>
          </a:p>
          <a:p>
            <a:pPr marL="0" indent="0">
              <a:buNone/>
            </a:pPr>
            <a:endParaRPr lang="en-GB" sz="1100" dirty="0">
              <a:latin typeface="Abadi Extra Light" panose="020B0204020104020204" pitchFamily="34" charset="0"/>
            </a:endParaRP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xmlns="" id="{E8AA12DB-1E02-4252-B4CB-1932D8798C2F}"/>
              </a:ext>
            </a:extLst>
          </p:cNvPr>
          <p:cNvSpPr txBox="1">
            <a:spLocks/>
          </p:cNvSpPr>
          <p:nvPr/>
        </p:nvSpPr>
        <p:spPr>
          <a:xfrm>
            <a:off x="11419146" y="169682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15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xmlns="" id="{724F3EE1-D456-4A68-8126-DF13DCEED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118" y="863061"/>
            <a:ext cx="6236497" cy="191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xmlns="" id="{E07EA791-3C2A-4FCC-B5B2-91DD63303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723" y="3573721"/>
            <a:ext cx="2717090" cy="172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xmlns="" id="{FED607D0-89B0-4CD1-A007-E4A18977F6E7}"/>
              </a:ext>
            </a:extLst>
          </p:cNvPr>
          <p:cNvSpPr/>
          <p:nvPr/>
        </p:nvSpPr>
        <p:spPr>
          <a:xfrm>
            <a:off x="8265237" y="5323489"/>
            <a:ext cx="1172378" cy="57591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55BB6F03-96D3-4915-8EEB-F5B72D061B7E}"/>
              </a:ext>
            </a:extLst>
          </p:cNvPr>
          <p:cNvSpPr/>
          <p:nvPr/>
        </p:nvSpPr>
        <p:spPr>
          <a:xfrm>
            <a:off x="8343843" y="5379745"/>
            <a:ext cx="187761" cy="2013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BFAEBE10-4694-4721-97F7-104B1339853D}"/>
              </a:ext>
            </a:extLst>
          </p:cNvPr>
          <p:cNvSpPr/>
          <p:nvPr/>
        </p:nvSpPr>
        <p:spPr>
          <a:xfrm>
            <a:off x="8610210" y="5379745"/>
            <a:ext cx="187761" cy="2013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9A43113F-6AEF-4747-B5CC-7FA3D0F40CC2}"/>
              </a:ext>
            </a:extLst>
          </p:cNvPr>
          <p:cNvSpPr/>
          <p:nvPr/>
        </p:nvSpPr>
        <p:spPr>
          <a:xfrm>
            <a:off x="8876577" y="5379745"/>
            <a:ext cx="187761" cy="2013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2430CF34-7031-477D-844D-B3D77BDC7F9B}"/>
              </a:ext>
            </a:extLst>
          </p:cNvPr>
          <p:cNvSpPr/>
          <p:nvPr/>
        </p:nvSpPr>
        <p:spPr>
          <a:xfrm>
            <a:off x="9156040" y="5387519"/>
            <a:ext cx="187761" cy="2013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8A9C6700-F3D8-497A-864C-CA376638A952}"/>
              </a:ext>
            </a:extLst>
          </p:cNvPr>
          <p:cNvSpPr/>
          <p:nvPr/>
        </p:nvSpPr>
        <p:spPr>
          <a:xfrm>
            <a:off x="8343843" y="5650801"/>
            <a:ext cx="187761" cy="2013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xmlns="" id="{130A51F1-776B-4ED2-934C-9C2CCA9B3917}"/>
              </a:ext>
            </a:extLst>
          </p:cNvPr>
          <p:cNvSpPr/>
          <p:nvPr/>
        </p:nvSpPr>
        <p:spPr>
          <a:xfrm>
            <a:off x="8610210" y="5650801"/>
            <a:ext cx="187761" cy="2013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xmlns="" id="{0E99573A-1277-439F-B2D5-4604A05BA6B8}"/>
              </a:ext>
            </a:extLst>
          </p:cNvPr>
          <p:cNvSpPr/>
          <p:nvPr/>
        </p:nvSpPr>
        <p:spPr>
          <a:xfrm>
            <a:off x="8876577" y="5650801"/>
            <a:ext cx="187761" cy="2013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251434E4-4A00-45C2-801C-996697EDE9C1}"/>
              </a:ext>
            </a:extLst>
          </p:cNvPr>
          <p:cNvSpPr/>
          <p:nvPr/>
        </p:nvSpPr>
        <p:spPr>
          <a:xfrm>
            <a:off x="9156040" y="5658575"/>
            <a:ext cx="187761" cy="2013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xmlns="" id="{4C86FED1-E46E-47F9-8050-D994D108341C}"/>
              </a:ext>
            </a:extLst>
          </p:cNvPr>
          <p:cNvSpPr/>
          <p:nvPr/>
        </p:nvSpPr>
        <p:spPr>
          <a:xfrm>
            <a:off x="5152370" y="4434541"/>
            <a:ext cx="2657780" cy="575910"/>
          </a:xfrm>
          <a:prstGeom prst="wedgeRectCallout">
            <a:avLst>
              <a:gd name="adj1" fmla="val -53223"/>
              <a:gd name="adj2" fmla="val 76255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To help prevent the tree from growing too much!</a:t>
            </a:r>
            <a:endParaRPr lang="en-IN" sz="20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xmlns="" id="{C3D42B27-D2EF-4252-A0A2-3D7C9DA743FB}"/>
              </a:ext>
            </a:extLst>
          </p:cNvPr>
          <p:cNvSpPr/>
          <p:nvPr/>
        </p:nvSpPr>
        <p:spPr>
          <a:xfrm>
            <a:off x="9625004" y="5523047"/>
            <a:ext cx="755793" cy="271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AAEB220-0BE1-43A7-83F7-6A7E4E7CEF69}"/>
              </a:ext>
            </a:extLst>
          </p:cNvPr>
          <p:cNvSpPr/>
          <p:nvPr/>
        </p:nvSpPr>
        <p:spPr>
          <a:xfrm>
            <a:off x="10568186" y="5566471"/>
            <a:ext cx="133350" cy="2710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E718D4B0-2B0F-40B4-8653-98B5661DC724}"/>
              </a:ext>
            </a:extLst>
          </p:cNvPr>
          <p:cNvSpPr/>
          <p:nvPr/>
        </p:nvSpPr>
        <p:spPr>
          <a:xfrm>
            <a:off x="10835924" y="5379745"/>
            <a:ext cx="133350" cy="464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223A18AC-17F0-45E0-8DE3-86712CC95D9E}"/>
              </a:ext>
            </a:extLst>
          </p:cNvPr>
          <p:cNvCxnSpPr>
            <a:cxnSpLocks/>
          </p:cNvCxnSpPr>
          <p:nvPr/>
        </p:nvCxnSpPr>
        <p:spPr>
          <a:xfrm>
            <a:off x="10484186" y="5841494"/>
            <a:ext cx="555976" cy="5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xmlns="" id="{C5C5C0D2-00FB-4B21-9A6E-41A6AAFCAAC2}"/>
              </a:ext>
            </a:extLst>
          </p:cNvPr>
          <p:cNvSpPr/>
          <p:nvPr/>
        </p:nvSpPr>
        <p:spPr>
          <a:xfrm>
            <a:off x="11763524" y="5525878"/>
            <a:ext cx="187761" cy="2013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A5CDE242-7347-4128-88E3-B45419358CF6}"/>
              </a:ext>
            </a:extLst>
          </p:cNvPr>
          <p:cNvSpPr txBox="1"/>
          <p:nvPr/>
        </p:nvSpPr>
        <p:spPr>
          <a:xfrm>
            <a:off x="11170850" y="5466135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badi Extra Light" panose="020B0204020104020204" pitchFamily="34" charset="0"/>
              </a:rPr>
              <a:t>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623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265"/>
    </mc:Choice>
    <mc:Fallback xmlns="">
      <p:transition spd="slow" advTm="4142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5" grpId="0" animBg="1"/>
      <p:bldP spid="6" grpId="0" animBg="1"/>
      <p:bldP spid="36" grpId="0" animBg="1"/>
      <p:bldP spid="40" grpId="0" animBg="1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Avoiding Overfitting in DTs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xmlns="" id="{60A06722-EDF2-4418-9797-499014F6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740617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Desired: a DT that is not too big in size, yet fits the training data reasonably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Note: An example of a very simple DT is </a:t>
            </a:r>
            <a:r>
              <a:rPr lang="en-GB" sz="2400" dirty="0">
                <a:solidFill>
                  <a:srgbClr val="0000FF"/>
                </a:solidFill>
                <a:latin typeface="Abadi Extra Light" panose="020B0204020104020204" pitchFamily="34" charset="0"/>
              </a:rPr>
              <a:t>“decision-stump”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A decision-stump only tests the value of a single feature (or a simple rule)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Not very powerful in itself but often used in large ensembles of decision stumps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Mainly two approaches to prune a complex DT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Prune while building the tree (stopping early)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Prune after building the tree (post-pruning)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Criteria for judging which nodes could potentially be pruned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Use a validation set (separate from the training set)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Prune each possible node that doesn’t hurt the accuracy on the validation set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Greedily remove the node that improves the validation accuracy the most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Stop when the validation set accuracy starts worsening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Use model complexity control, such as Minimum Description Length (will see later)</a:t>
            </a:r>
          </a:p>
          <a:p>
            <a:pPr marL="0" indent="0">
              <a:buNone/>
            </a:pPr>
            <a:endParaRPr lang="en-GB" sz="1100" dirty="0">
              <a:latin typeface="Abadi Extra Light" panose="020B0204020104020204" pitchFamily="34" charset="0"/>
            </a:endParaRP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xmlns="" id="{E8AA12DB-1E02-4252-B4CB-1932D8798C2F}"/>
              </a:ext>
            </a:extLst>
          </p:cNvPr>
          <p:cNvSpPr txBox="1">
            <a:spLocks/>
          </p:cNvSpPr>
          <p:nvPr/>
        </p:nvSpPr>
        <p:spPr>
          <a:xfrm>
            <a:off x="11419146" y="169682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16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xmlns="" id="{ECB075C4-A0A7-4C55-BFAD-DBA951470241}"/>
              </a:ext>
            </a:extLst>
          </p:cNvPr>
          <p:cNvSpPr/>
          <p:nvPr/>
        </p:nvSpPr>
        <p:spPr>
          <a:xfrm>
            <a:off x="7298348" y="3265308"/>
            <a:ext cx="2350477" cy="725668"/>
          </a:xfrm>
          <a:prstGeom prst="wedgeRectCallout">
            <a:avLst>
              <a:gd name="adj1" fmla="val -86537"/>
              <a:gd name="adj2" fmla="val -3279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Either can be done using a validation set</a:t>
            </a:r>
            <a:endParaRPr lang="en-IN" sz="20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1027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0905"/>
    </mc:Choice>
    <mc:Fallback xmlns="">
      <p:transition spd="slow" advTm="3309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uild="p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Decision Trees: Some Comments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2">
                <a:extLst>
                  <a:ext uri="{FF2B5EF4-FFF2-40B4-BE49-F238E27FC236}">
                    <a16:creationId xmlns="" xmlns:a16="http://schemas.microsoft.com/office/drawing/2014/main" id="{60A06722-EDF2-4418-9797-499014F68A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Gini-index</a:t>
                </a:r>
                <a:r>
                  <a:rPr lang="en-GB" sz="2400" dirty="0">
                    <a:latin typeface="Abadi Extra Light" panose="020B0204020104020204" pitchFamily="34" charset="0"/>
                  </a:rPr>
                  <a:t> defined as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GB" sz="2400" i="1" smtClean="0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GB" sz="2400" dirty="0">
                    <a:latin typeface="Abadi Extra Light" panose="020B0204020104020204" pitchFamily="34" charset="0"/>
                  </a:rPr>
                  <a:t> can be an alternative to IG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9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Abadi Extra Light" panose="020B0204020104020204" pitchFamily="34" charset="0"/>
                  </a:rPr>
                  <a:t>For DT regression</a:t>
                </a:r>
                <a:r>
                  <a:rPr lang="en-GB" sz="2400" baseline="30000" dirty="0">
                    <a:latin typeface="Abadi Extra Light" panose="020B0204020104020204" pitchFamily="34" charset="0"/>
                  </a:rPr>
                  <a:t>1</a:t>
                </a:r>
                <a:r>
                  <a:rPr lang="en-GB" sz="2400" dirty="0">
                    <a:latin typeface="Abadi Extra Light" panose="020B0204020104020204" pitchFamily="34" charset="0"/>
                  </a:rPr>
                  <a:t>, variance in the outputs can be used to assess purity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9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Abadi Extra Light" panose="020B0204020104020204" pitchFamily="34" charset="0"/>
                  </a:rPr>
                  <a:t>When</a:t>
                </a:r>
                <a:r>
                  <a:rPr lang="en-GB" sz="24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 features are real-valued </a:t>
                </a:r>
                <a:r>
                  <a:rPr lang="en-GB" sz="2400" dirty="0">
                    <a:latin typeface="Abadi Extra Light" panose="020B0204020104020204" pitchFamily="34" charset="0"/>
                  </a:rPr>
                  <a:t>(no finite possible values to try), things are a bit more tricky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dirty="0">
                    <a:latin typeface="Abadi Extra Light" panose="020B0204020104020204" pitchFamily="34" charset="0"/>
                  </a:rPr>
                  <a:t>Can use tests based on </a:t>
                </a:r>
                <a:r>
                  <a:rPr lang="en-GB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thresholding</a:t>
                </a:r>
                <a:r>
                  <a:rPr lang="en-GB" dirty="0">
                    <a:latin typeface="Abadi Extra Light" panose="020B0204020104020204" pitchFamily="34" charset="0"/>
                  </a:rPr>
                  <a:t> feature values (recall our synthetic data examples)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dirty="0">
                    <a:latin typeface="Abadi Extra Light" panose="020B0204020104020204" pitchFamily="34" charset="0"/>
                  </a:rPr>
                  <a:t>Need to be careful </a:t>
                </a:r>
                <a:r>
                  <a:rPr lang="en-GB" dirty="0" err="1">
                    <a:latin typeface="Abadi Extra Light" panose="020B0204020104020204" pitchFamily="34" charset="0"/>
                  </a:rPr>
                  <a:t>w.r.t.</a:t>
                </a:r>
                <a:r>
                  <a:rPr lang="en-GB" dirty="0">
                    <a:latin typeface="Abadi Extra Light" panose="020B0204020104020204" pitchFamily="34" charset="0"/>
                  </a:rPr>
                  <a:t> number of threshold points, how fine each range is, etc.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GB" sz="9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Abadi Extra Light" panose="020B0204020104020204" pitchFamily="34" charset="0"/>
                  </a:rPr>
                  <a:t>More sophisticated decision rules at the internal nodes can also be used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dirty="0">
                    <a:latin typeface="Abadi Extra Light" panose="020B0204020104020204" pitchFamily="34" charset="0"/>
                  </a:rPr>
                  <a:t>Basically, need some rule that splits inputs at an internal node into homogeneous groups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dirty="0">
                    <a:latin typeface="Abadi Extra Light" panose="020B0204020104020204" pitchFamily="34" charset="0"/>
                  </a:rPr>
                  <a:t>The rule can even be a machine learning classification algo (e.g., </a:t>
                </a:r>
                <a:r>
                  <a:rPr lang="en-GB" dirty="0" err="1">
                    <a:latin typeface="Abadi Extra Light" panose="020B0204020104020204" pitchFamily="34" charset="0"/>
                  </a:rPr>
                  <a:t>LwP</a:t>
                </a:r>
                <a:r>
                  <a:rPr lang="en-GB" dirty="0">
                    <a:latin typeface="Abadi Extra Light" panose="020B0204020104020204" pitchFamily="34" charset="0"/>
                  </a:rPr>
                  <a:t> or a deep learner)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dirty="0">
                    <a:latin typeface="Abadi Extra Light" panose="020B0204020104020204" pitchFamily="34" charset="0"/>
                  </a:rPr>
                  <a:t>However, in DTs, we want the tests to be fast so single feature based rules are preferred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GB" sz="9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Abadi Extra Light" panose="020B0204020104020204" pitchFamily="34" charset="0"/>
                  </a:rPr>
                  <a:t>Need to take care handling training or test inputs that have some features missing</a:t>
                </a:r>
                <a:endParaRPr lang="en-GB" sz="1100" dirty="0"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0A06722-EDF2-4418-9797-499014F68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 cstate="print"/>
                <a:stretch>
                  <a:fillRect l="-727" t="-112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xmlns="" id="{E8AA12DB-1E02-4252-B4CB-1932D8798C2F}"/>
              </a:ext>
            </a:extLst>
          </p:cNvPr>
          <p:cNvSpPr txBox="1">
            <a:spLocks/>
          </p:cNvSpPr>
          <p:nvPr/>
        </p:nvSpPr>
        <p:spPr>
          <a:xfrm>
            <a:off x="11419146" y="169682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17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D995D39-5605-458A-A9FF-13AA271E0D94}"/>
              </a:ext>
            </a:extLst>
          </p:cNvPr>
          <p:cNvSpPr txBox="1"/>
          <p:nvPr/>
        </p:nvSpPr>
        <p:spPr>
          <a:xfrm>
            <a:off x="0" y="6520145"/>
            <a:ext cx="7206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aseline="30000" dirty="0">
                <a:latin typeface="Abadi Extra Light" panose="020B0204020104020204" pitchFamily="34" charset="0"/>
              </a:rPr>
              <a:t>1</a:t>
            </a:r>
            <a:r>
              <a:rPr lang="en-GB" sz="1400" dirty="0">
                <a:latin typeface="Abadi Extra Light" panose="020B0204020104020204" pitchFamily="34" charset="0"/>
              </a:rPr>
              <a:t>Breiman, Leo; Friedman, J. H.; </a:t>
            </a:r>
            <a:r>
              <a:rPr lang="en-GB" sz="1400" dirty="0" err="1">
                <a:latin typeface="Abadi Extra Light" panose="020B0204020104020204" pitchFamily="34" charset="0"/>
              </a:rPr>
              <a:t>Olshen</a:t>
            </a:r>
            <a:r>
              <a:rPr lang="en-GB" sz="1400" dirty="0">
                <a:latin typeface="Abadi Extra Light" panose="020B0204020104020204" pitchFamily="34" charset="0"/>
              </a:rPr>
              <a:t>, R. A.; Stone, C. J. (1984). Classification and regression trees</a:t>
            </a:r>
            <a:endParaRPr lang="en-IN" sz="1400" dirty="0">
              <a:latin typeface="Abadi Extra Light" panose="020B0204020104020204" pitchFamily="34" charset="0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xmlns="" id="{8EC1F38A-52CB-49EB-A412-62C681105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075" y="3688616"/>
            <a:ext cx="2638105" cy="749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9588508D-9D4F-4479-8901-407DE5C90FFF}"/>
              </a:ext>
            </a:extLst>
          </p:cNvPr>
          <p:cNvCxnSpPr>
            <a:cxnSpLocks/>
          </p:cNvCxnSpPr>
          <p:nvPr/>
        </p:nvCxnSpPr>
        <p:spPr>
          <a:xfrm flipV="1">
            <a:off x="9363075" y="4437926"/>
            <a:ext cx="657225" cy="4103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4412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6611"/>
    </mc:Choice>
    <mc:Fallback xmlns="">
      <p:transition spd="slow" advTm="3566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An Illustration: DT with Real-Valued Features</a:t>
            </a: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xmlns="" id="{E8AA12DB-1E02-4252-B4CB-1932D8798C2F}"/>
              </a:ext>
            </a:extLst>
          </p:cNvPr>
          <p:cNvSpPr txBox="1">
            <a:spLocks/>
          </p:cNvSpPr>
          <p:nvPr/>
        </p:nvSpPr>
        <p:spPr>
          <a:xfrm>
            <a:off x="11419146" y="169682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18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xmlns="" id="{C1A6AFE1-57F9-4BA8-9DFA-54ADD1F729D5}"/>
              </a:ext>
            </a:extLst>
          </p:cNvPr>
          <p:cNvSpPr/>
          <p:nvPr/>
        </p:nvSpPr>
        <p:spPr>
          <a:xfrm>
            <a:off x="6374468" y="1601707"/>
            <a:ext cx="1481044" cy="2040500"/>
          </a:xfrm>
          <a:custGeom>
            <a:avLst/>
            <a:gdLst>
              <a:gd name="connsiteX0" fmla="*/ 0 w 1481044"/>
              <a:gd name="connsiteY0" fmla="*/ 0 h 2040500"/>
              <a:gd name="connsiteX1" fmla="*/ 1140954 w 1481044"/>
              <a:gd name="connsiteY1" fmla="*/ 0 h 2040500"/>
              <a:gd name="connsiteX2" fmla="*/ 1481044 w 1481044"/>
              <a:gd name="connsiteY2" fmla="*/ 340090 h 2040500"/>
              <a:gd name="connsiteX3" fmla="*/ 1481044 w 1481044"/>
              <a:gd name="connsiteY3" fmla="*/ 1700410 h 2040500"/>
              <a:gd name="connsiteX4" fmla="*/ 1140954 w 1481044"/>
              <a:gd name="connsiteY4" fmla="*/ 2040500 h 2040500"/>
              <a:gd name="connsiteX5" fmla="*/ 0 w 1481044"/>
              <a:gd name="connsiteY5" fmla="*/ 2040500 h 204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1044" h="2040500">
                <a:moveTo>
                  <a:pt x="0" y="0"/>
                </a:moveTo>
                <a:lnTo>
                  <a:pt x="1140954" y="0"/>
                </a:lnTo>
                <a:cubicBezTo>
                  <a:pt x="1328781" y="0"/>
                  <a:pt x="1481044" y="152263"/>
                  <a:pt x="1481044" y="340090"/>
                </a:cubicBezTo>
                <a:lnTo>
                  <a:pt x="1481044" y="1700410"/>
                </a:lnTo>
                <a:cubicBezTo>
                  <a:pt x="1481044" y="1888237"/>
                  <a:pt x="1328781" y="2040500"/>
                  <a:pt x="1140954" y="2040500"/>
                </a:cubicBezTo>
                <a:lnTo>
                  <a:pt x="0" y="2040500"/>
                </a:lnTo>
                <a:close/>
              </a:path>
            </a:pathLst>
          </a:custGeom>
          <a:solidFill>
            <a:srgbClr val="FFFF00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xmlns="" id="{F6453A83-8655-4A70-B373-3A389862A4DF}"/>
              </a:ext>
            </a:extLst>
          </p:cNvPr>
          <p:cNvSpPr/>
          <p:nvPr/>
        </p:nvSpPr>
        <p:spPr>
          <a:xfrm>
            <a:off x="4342604" y="1601707"/>
            <a:ext cx="2031864" cy="2040500"/>
          </a:xfrm>
          <a:custGeom>
            <a:avLst/>
            <a:gdLst>
              <a:gd name="connsiteX0" fmla="*/ 340090 w 2031864"/>
              <a:gd name="connsiteY0" fmla="*/ 0 h 2040500"/>
              <a:gd name="connsiteX1" fmla="*/ 2031864 w 2031864"/>
              <a:gd name="connsiteY1" fmla="*/ 0 h 2040500"/>
              <a:gd name="connsiteX2" fmla="*/ 2031864 w 2031864"/>
              <a:gd name="connsiteY2" fmla="*/ 2040500 h 2040500"/>
              <a:gd name="connsiteX3" fmla="*/ 340090 w 2031864"/>
              <a:gd name="connsiteY3" fmla="*/ 2040500 h 2040500"/>
              <a:gd name="connsiteX4" fmla="*/ 0 w 2031864"/>
              <a:gd name="connsiteY4" fmla="*/ 1700410 h 2040500"/>
              <a:gd name="connsiteX5" fmla="*/ 0 w 2031864"/>
              <a:gd name="connsiteY5" fmla="*/ 340090 h 2040500"/>
              <a:gd name="connsiteX6" fmla="*/ 340090 w 2031864"/>
              <a:gd name="connsiteY6" fmla="*/ 0 h 204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31864" h="2040500">
                <a:moveTo>
                  <a:pt x="340090" y="0"/>
                </a:moveTo>
                <a:lnTo>
                  <a:pt x="2031864" y="0"/>
                </a:lnTo>
                <a:lnTo>
                  <a:pt x="2031864" y="2040500"/>
                </a:lnTo>
                <a:lnTo>
                  <a:pt x="340090" y="2040500"/>
                </a:lnTo>
                <a:cubicBezTo>
                  <a:pt x="152263" y="2040500"/>
                  <a:pt x="0" y="1888237"/>
                  <a:pt x="0" y="1700410"/>
                </a:cubicBezTo>
                <a:lnTo>
                  <a:pt x="0" y="340090"/>
                </a:lnTo>
                <a:cubicBezTo>
                  <a:pt x="0" y="152263"/>
                  <a:pt x="152263" y="0"/>
                  <a:pt x="340090" y="0"/>
                </a:cubicBezTo>
                <a:close/>
              </a:path>
            </a:pathLst>
          </a:custGeom>
          <a:solidFill>
            <a:srgbClr val="ED7D31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xmlns="" id="{88AD2AF1-FECE-4BCD-9C74-598ACD54B096}"/>
              </a:ext>
            </a:extLst>
          </p:cNvPr>
          <p:cNvSpPr>
            <a:spLocks noChangeAspect="1"/>
          </p:cNvSpPr>
          <p:nvPr/>
        </p:nvSpPr>
        <p:spPr>
          <a:xfrm>
            <a:off x="4339549" y="1607849"/>
            <a:ext cx="3512908" cy="2040500"/>
          </a:xfrm>
          <a:prstGeom prst="roundRect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xmlns="" id="{4EC54753-1888-41D1-9B8C-EA08234D17C4}"/>
              </a:ext>
            </a:extLst>
          </p:cNvPr>
          <p:cNvGrpSpPr/>
          <p:nvPr/>
        </p:nvGrpSpPr>
        <p:grpSpPr>
          <a:xfrm>
            <a:off x="3505439" y="2753598"/>
            <a:ext cx="5181128" cy="1527979"/>
            <a:chOff x="3505439" y="2628099"/>
            <a:chExt cx="5181128" cy="152797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xmlns="" id="{63F675C3-30A8-4067-83BA-64E4CDD59DC5}"/>
                </a:ext>
              </a:extLst>
            </p:cNvPr>
            <p:cNvCxnSpPr>
              <a:stCxn id="13" idx="1"/>
            </p:cNvCxnSpPr>
            <p:nvPr/>
          </p:nvCxnSpPr>
          <p:spPr>
            <a:xfrm flipH="1">
              <a:off x="3505439" y="2628099"/>
              <a:ext cx="834110" cy="1527979"/>
            </a:xfrm>
            <a:prstGeom prst="straightConnector1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xmlns="" id="{BDD6F4BC-D0A8-4426-9E37-0972D402BE8C}"/>
                </a:ext>
              </a:extLst>
            </p:cNvPr>
            <p:cNvCxnSpPr>
              <a:stCxn id="13" idx="3"/>
            </p:cNvCxnSpPr>
            <p:nvPr/>
          </p:nvCxnSpPr>
          <p:spPr>
            <a:xfrm>
              <a:off x="7852457" y="2628099"/>
              <a:ext cx="834110" cy="1527979"/>
            </a:xfrm>
            <a:prstGeom prst="straightConnector1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4" name="Group 16">
            <a:extLst>
              <a:ext uri="{FF2B5EF4-FFF2-40B4-BE49-F238E27FC236}">
                <a16:creationId xmlns:a16="http://schemas.microsoft.com/office/drawing/2014/main" xmlns="" id="{46A7425D-EA38-4A7F-BF39-194DF9C45058}"/>
              </a:ext>
            </a:extLst>
          </p:cNvPr>
          <p:cNvGrpSpPr/>
          <p:nvPr/>
        </p:nvGrpSpPr>
        <p:grpSpPr>
          <a:xfrm>
            <a:off x="4674846" y="1904536"/>
            <a:ext cx="1373938" cy="1531682"/>
            <a:chOff x="4674843" y="1550437"/>
            <a:chExt cx="1373938" cy="153168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xmlns="" id="{33AA9503-E6DA-4442-8B0F-0451BFD70C97}"/>
                </a:ext>
              </a:extLst>
            </p:cNvPr>
            <p:cNvSpPr/>
            <p:nvPr/>
          </p:nvSpPr>
          <p:spPr>
            <a:xfrm>
              <a:off x="4674843" y="1550437"/>
              <a:ext cx="311085" cy="311085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C5AFB5FC-5CD7-475E-9162-B79E6DA43918}"/>
                </a:ext>
              </a:extLst>
            </p:cNvPr>
            <p:cNvSpPr/>
            <p:nvPr/>
          </p:nvSpPr>
          <p:spPr>
            <a:xfrm>
              <a:off x="5122994" y="1826384"/>
              <a:ext cx="311085" cy="311085"/>
            </a:xfrm>
            <a:prstGeom prst="ellipse">
              <a:avLst/>
            </a:prstGeom>
            <a:solidFill>
              <a:srgbClr val="2ECC7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FC8A7AC0-A90D-4A9E-9AB0-F21BF862D7F8}"/>
                </a:ext>
              </a:extLst>
            </p:cNvPr>
            <p:cNvSpPr/>
            <p:nvPr/>
          </p:nvSpPr>
          <p:spPr>
            <a:xfrm>
              <a:off x="5513246" y="1660318"/>
              <a:ext cx="311085" cy="311085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9FA8E8C7-E1FF-469A-9369-14026FBA7EAF}"/>
                </a:ext>
              </a:extLst>
            </p:cNvPr>
            <p:cNvSpPr/>
            <p:nvPr/>
          </p:nvSpPr>
          <p:spPr>
            <a:xfrm>
              <a:off x="5737696" y="2118457"/>
              <a:ext cx="311085" cy="311085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xmlns="" id="{F8EADFC3-45D1-4CCE-BE90-23A0FF14D64B}"/>
                </a:ext>
              </a:extLst>
            </p:cNvPr>
            <p:cNvSpPr/>
            <p:nvPr/>
          </p:nvSpPr>
          <p:spPr>
            <a:xfrm>
              <a:off x="4803220" y="2771034"/>
              <a:ext cx="311085" cy="311085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" name="Group 22">
            <a:extLst>
              <a:ext uri="{FF2B5EF4-FFF2-40B4-BE49-F238E27FC236}">
                <a16:creationId xmlns:a16="http://schemas.microsoft.com/office/drawing/2014/main" xmlns="" id="{7BCE2921-3EC7-4505-AC7E-0F5E03C5DB95}"/>
              </a:ext>
            </a:extLst>
          </p:cNvPr>
          <p:cNvGrpSpPr/>
          <p:nvPr/>
        </p:nvGrpSpPr>
        <p:grpSpPr>
          <a:xfrm>
            <a:off x="6486738" y="1904536"/>
            <a:ext cx="1135302" cy="1483566"/>
            <a:chOff x="6486735" y="1550437"/>
            <a:chExt cx="1135302" cy="1483566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0A839A17-CD1A-4AE0-B28F-D81E912E5D25}"/>
                </a:ext>
              </a:extLst>
            </p:cNvPr>
            <p:cNvSpPr/>
            <p:nvPr/>
          </p:nvSpPr>
          <p:spPr>
            <a:xfrm>
              <a:off x="6628506" y="1861522"/>
              <a:ext cx="311085" cy="311085"/>
            </a:xfrm>
            <a:prstGeom prst="ellipse">
              <a:avLst/>
            </a:prstGeom>
            <a:solidFill>
              <a:srgbClr val="2ECC7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xmlns="" id="{6DE58DC0-2F09-4178-8D2E-443503BC95B7}"/>
                </a:ext>
              </a:extLst>
            </p:cNvPr>
            <p:cNvSpPr/>
            <p:nvPr/>
          </p:nvSpPr>
          <p:spPr>
            <a:xfrm>
              <a:off x="6486735" y="2468313"/>
              <a:ext cx="311085" cy="311085"/>
            </a:xfrm>
            <a:prstGeom prst="ellipse">
              <a:avLst/>
            </a:prstGeom>
            <a:solidFill>
              <a:srgbClr val="2ECC7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xmlns="" id="{195497B2-6C3B-4260-9DD1-88D1DB4FAABE}"/>
                </a:ext>
              </a:extLst>
            </p:cNvPr>
            <p:cNvSpPr/>
            <p:nvPr/>
          </p:nvSpPr>
          <p:spPr>
            <a:xfrm>
              <a:off x="7248459" y="2722918"/>
              <a:ext cx="311085" cy="311085"/>
            </a:xfrm>
            <a:prstGeom prst="ellipse">
              <a:avLst/>
            </a:prstGeom>
            <a:solidFill>
              <a:srgbClr val="2ECC7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xmlns="" id="{FE53C3DE-AF48-4F22-BD7B-3A72EAFBC5C5}"/>
                </a:ext>
              </a:extLst>
            </p:cNvPr>
            <p:cNvSpPr/>
            <p:nvPr/>
          </p:nvSpPr>
          <p:spPr>
            <a:xfrm>
              <a:off x="7287294" y="2319700"/>
              <a:ext cx="311085" cy="311085"/>
            </a:xfrm>
            <a:prstGeom prst="ellipse">
              <a:avLst/>
            </a:prstGeom>
            <a:solidFill>
              <a:srgbClr val="2ECC7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xmlns="" id="{235CC1C4-4BED-4CAA-8BE3-EA9F9CB40FCF}"/>
                </a:ext>
              </a:extLst>
            </p:cNvPr>
            <p:cNvSpPr/>
            <p:nvPr/>
          </p:nvSpPr>
          <p:spPr>
            <a:xfrm>
              <a:off x="7310952" y="1550437"/>
              <a:ext cx="311085" cy="311085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ounded Rectangle 22">
            <a:extLst>
              <a:ext uri="{FF2B5EF4-FFF2-40B4-BE49-F238E27FC236}">
                <a16:creationId xmlns:a16="http://schemas.microsoft.com/office/drawing/2014/main" xmlns="" id="{6229815D-6F02-4A12-94F6-11EAF4630F3C}"/>
              </a:ext>
            </a:extLst>
          </p:cNvPr>
          <p:cNvSpPr>
            <a:spLocks noChangeAspect="1"/>
          </p:cNvSpPr>
          <p:nvPr/>
        </p:nvSpPr>
        <p:spPr>
          <a:xfrm>
            <a:off x="1288818" y="4162220"/>
            <a:ext cx="3512908" cy="2040500"/>
          </a:xfrm>
          <a:prstGeom prst="roundRect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ounded Rectangle 23">
            <a:extLst>
              <a:ext uri="{FF2B5EF4-FFF2-40B4-BE49-F238E27FC236}">
                <a16:creationId xmlns:a16="http://schemas.microsoft.com/office/drawing/2014/main" xmlns="" id="{F7F9E2EB-DD99-4EDE-AA51-CE6A05B1AFD8}"/>
              </a:ext>
            </a:extLst>
          </p:cNvPr>
          <p:cNvSpPr>
            <a:spLocks noChangeAspect="1"/>
          </p:cNvSpPr>
          <p:nvPr/>
        </p:nvSpPr>
        <p:spPr>
          <a:xfrm>
            <a:off x="7598382" y="4162220"/>
            <a:ext cx="3512908" cy="2040500"/>
          </a:xfrm>
          <a:prstGeom prst="roundRect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xmlns="" id="{E843779B-4186-4905-BBCC-A6F5B0A7DF0F}"/>
              </a:ext>
            </a:extLst>
          </p:cNvPr>
          <p:cNvSpPr/>
          <p:nvPr/>
        </p:nvSpPr>
        <p:spPr>
          <a:xfrm>
            <a:off x="5940459" y="1147411"/>
            <a:ext cx="311085" cy="311085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FF7DA2C1-3A72-4AB2-B265-8361D5FA21ED}"/>
              </a:ext>
            </a:extLst>
          </p:cNvPr>
          <p:cNvCxnSpPr/>
          <p:nvPr/>
        </p:nvCxnSpPr>
        <p:spPr>
          <a:xfrm>
            <a:off x="6371413" y="1147411"/>
            <a:ext cx="0" cy="324182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5AF75031-9819-4B49-AF09-C7F56FB3324A}"/>
              </a:ext>
            </a:extLst>
          </p:cNvPr>
          <p:cNvCxnSpPr/>
          <p:nvPr/>
        </p:nvCxnSpPr>
        <p:spPr>
          <a:xfrm flipH="1">
            <a:off x="3982568" y="2472556"/>
            <a:ext cx="4324037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87E5AC46-DDE5-4FF0-88B7-EF7D95C6CE50}"/>
              </a:ext>
            </a:extLst>
          </p:cNvPr>
          <p:cNvSpPr/>
          <p:nvPr/>
        </p:nvSpPr>
        <p:spPr>
          <a:xfrm>
            <a:off x="1143109" y="2318866"/>
            <a:ext cx="149810" cy="1080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43BAC2CB-7267-4DC1-9720-6C0AAE7DEBC6}"/>
              </a:ext>
            </a:extLst>
          </p:cNvPr>
          <p:cNvSpPr/>
          <p:nvPr/>
        </p:nvSpPr>
        <p:spPr>
          <a:xfrm>
            <a:off x="1506774" y="2678866"/>
            <a:ext cx="149810" cy="720000"/>
          </a:xfrm>
          <a:prstGeom prst="rect">
            <a:avLst/>
          </a:prstGeom>
          <a:solidFill>
            <a:srgbClr val="2ECC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xmlns="" id="{7C4EF0F5-2F50-471E-834C-FB089578B633}"/>
              </a:ext>
            </a:extLst>
          </p:cNvPr>
          <p:cNvCxnSpPr/>
          <p:nvPr/>
        </p:nvCxnSpPr>
        <p:spPr>
          <a:xfrm>
            <a:off x="906330" y="3388102"/>
            <a:ext cx="1039014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E3519C04-8DEF-4B76-A087-100ABBB4713B}"/>
              </a:ext>
            </a:extLst>
          </p:cNvPr>
          <p:cNvSpPr/>
          <p:nvPr/>
        </p:nvSpPr>
        <p:spPr>
          <a:xfrm>
            <a:off x="2394051" y="2662021"/>
            <a:ext cx="149810" cy="720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2EA63562-9703-44E9-A0C5-755AB64CC160}"/>
              </a:ext>
            </a:extLst>
          </p:cNvPr>
          <p:cNvSpPr/>
          <p:nvPr/>
        </p:nvSpPr>
        <p:spPr>
          <a:xfrm>
            <a:off x="2757716" y="2302021"/>
            <a:ext cx="149810" cy="1080000"/>
          </a:xfrm>
          <a:prstGeom prst="rect">
            <a:avLst/>
          </a:prstGeom>
          <a:solidFill>
            <a:srgbClr val="2ECC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BE54616B-F15F-465B-A10F-4974C118081C}"/>
              </a:ext>
            </a:extLst>
          </p:cNvPr>
          <p:cNvCxnSpPr/>
          <p:nvPr/>
        </p:nvCxnSpPr>
        <p:spPr>
          <a:xfrm>
            <a:off x="2157272" y="3388102"/>
            <a:ext cx="1039014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161667B8-6244-463A-ACAF-C508A5A96095}"/>
              </a:ext>
            </a:extLst>
          </p:cNvPr>
          <p:cNvSpPr txBox="1"/>
          <p:nvPr/>
        </p:nvSpPr>
        <p:spPr>
          <a:xfrm>
            <a:off x="335026" y="1120657"/>
            <a:ext cx="36052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prstClr val="black"/>
                </a:solidFill>
                <a:latin typeface="+mj-lt"/>
              </a:rPr>
              <a:t>“Best” (purest possible) Horizontal Split</a:t>
            </a:r>
            <a:endParaRPr lang="en-US" sz="2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DCFBF512-9C2A-4A8C-8B0B-54F7C8DA3909}"/>
              </a:ext>
            </a:extLst>
          </p:cNvPr>
          <p:cNvSpPr/>
          <p:nvPr/>
        </p:nvSpPr>
        <p:spPr>
          <a:xfrm>
            <a:off x="9228140" y="1948102"/>
            <a:ext cx="149810" cy="1440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E12D7D68-A1B5-4B5B-ABC2-331A63FE8B8C}"/>
              </a:ext>
            </a:extLst>
          </p:cNvPr>
          <p:cNvSpPr/>
          <p:nvPr/>
        </p:nvSpPr>
        <p:spPr>
          <a:xfrm>
            <a:off x="9591805" y="3028102"/>
            <a:ext cx="149810" cy="360000"/>
          </a:xfrm>
          <a:prstGeom prst="rect">
            <a:avLst/>
          </a:prstGeom>
          <a:solidFill>
            <a:srgbClr val="2ECC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xmlns="" id="{06028990-7FF6-4AB0-87CD-9405E087414A}"/>
              </a:ext>
            </a:extLst>
          </p:cNvPr>
          <p:cNvCxnSpPr/>
          <p:nvPr/>
        </p:nvCxnSpPr>
        <p:spPr>
          <a:xfrm>
            <a:off x="8991361" y="3388102"/>
            <a:ext cx="1039014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D68A9DA7-1DB3-48D8-9E41-662931431897}"/>
              </a:ext>
            </a:extLst>
          </p:cNvPr>
          <p:cNvSpPr/>
          <p:nvPr/>
        </p:nvSpPr>
        <p:spPr>
          <a:xfrm>
            <a:off x="10479082" y="3048711"/>
            <a:ext cx="149810" cy="360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41327A3F-8C81-45EC-A982-8119C6EBB25D}"/>
              </a:ext>
            </a:extLst>
          </p:cNvPr>
          <p:cNvSpPr/>
          <p:nvPr/>
        </p:nvSpPr>
        <p:spPr>
          <a:xfrm>
            <a:off x="10842747" y="1968711"/>
            <a:ext cx="149810" cy="1440000"/>
          </a:xfrm>
          <a:prstGeom prst="rect">
            <a:avLst/>
          </a:prstGeom>
          <a:solidFill>
            <a:srgbClr val="2ECC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xmlns="" id="{915EE108-F5DF-44F0-8D3F-ED560DCE422A}"/>
              </a:ext>
            </a:extLst>
          </p:cNvPr>
          <p:cNvCxnSpPr/>
          <p:nvPr/>
        </p:nvCxnSpPr>
        <p:spPr>
          <a:xfrm>
            <a:off x="10242303" y="3388102"/>
            <a:ext cx="1039014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3396008F-AC26-48CF-9F63-FB0160D5D870}"/>
              </a:ext>
            </a:extLst>
          </p:cNvPr>
          <p:cNvSpPr txBox="1"/>
          <p:nvPr/>
        </p:nvSpPr>
        <p:spPr>
          <a:xfrm>
            <a:off x="8369750" y="1060310"/>
            <a:ext cx="35570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prstClr val="black"/>
                </a:solidFill>
                <a:latin typeface="+mj-lt"/>
              </a:rPr>
              <a:t>“Best”(purest possible) Vertical Split</a:t>
            </a:r>
            <a:endParaRPr lang="en-US" sz="2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6E2983DC-8ABC-4E38-A4C6-745041C028B4}"/>
              </a:ext>
            </a:extLst>
          </p:cNvPr>
          <p:cNvSpPr txBox="1"/>
          <p:nvPr/>
        </p:nvSpPr>
        <p:spPr>
          <a:xfrm>
            <a:off x="656705" y="3473748"/>
            <a:ext cx="2880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prstClr val="black"/>
                </a:solidFill>
                <a:latin typeface="+mj-lt"/>
              </a:rPr>
              <a:t>Up        Down</a:t>
            </a:r>
            <a:endParaRPr lang="en-US" sz="2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6BFD69CA-B229-4AD7-9890-B7266D57E630}"/>
              </a:ext>
            </a:extLst>
          </p:cNvPr>
          <p:cNvSpPr txBox="1"/>
          <p:nvPr/>
        </p:nvSpPr>
        <p:spPr>
          <a:xfrm>
            <a:off x="8760694" y="3473748"/>
            <a:ext cx="2880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prstClr val="black"/>
                </a:solidFill>
                <a:latin typeface="+mj-lt"/>
              </a:rPr>
              <a:t>Left        Right</a:t>
            </a:r>
            <a:endParaRPr lang="en-US" sz="2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8B174B6-598F-42B3-909C-A158BFF13026}"/>
              </a:ext>
            </a:extLst>
          </p:cNvPr>
          <p:cNvSpPr txBox="1"/>
          <p:nvPr/>
        </p:nvSpPr>
        <p:spPr>
          <a:xfrm>
            <a:off x="6251544" y="833591"/>
            <a:ext cx="1401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Test example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xmlns="" id="{31F92817-103B-4A49-9228-45778F0F4B2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86107" y="5870605"/>
            <a:ext cx="1010687" cy="965223"/>
          </a:xfrm>
          <a:prstGeom prst="rect">
            <a:avLst/>
          </a:prstGeom>
        </p:spPr>
      </p:pic>
      <p:sp>
        <p:nvSpPr>
          <p:cNvPr id="63" name="Speech Bubble: Rectangle 62">
            <a:extLst>
              <a:ext uri="{FF2B5EF4-FFF2-40B4-BE49-F238E27FC236}">
                <a16:creationId xmlns:a16="http://schemas.microsoft.com/office/drawing/2014/main" xmlns="" id="{C2366FCF-1D62-4BA4-A2BC-3F8C90FF6D81}"/>
              </a:ext>
            </a:extLst>
          </p:cNvPr>
          <p:cNvSpPr/>
          <p:nvPr/>
        </p:nvSpPr>
        <p:spPr>
          <a:xfrm>
            <a:off x="4515349" y="4455666"/>
            <a:ext cx="3712127" cy="1391782"/>
          </a:xfrm>
          <a:prstGeom prst="wedgeRectCallout">
            <a:avLst>
              <a:gd name="adj1" fmla="val 5376"/>
              <a:gd name="adj2" fmla="val 69989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Between the best horizontal vs best vertical split, the vertical split is better </a:t>
            </a:r>
            <a:r>
              <a:rPr lang="en-IN" sz="2000" dirty="0" smtClean="0">
                <a:solidFill>
                  <a:schemeClr val="tx1"/>
                </a:solidFill>
                <a:latin typeface="Abadi Extra Light" panose="020B0204020104020204" pitchFamily="34" charset="0"/>
              </a:rPr>
              <a:t>(purer), </a:t>
            </a:r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hence we use this rule for the internal node </a:t>
            </a:r>
            <a:endParaRPr lang="en-IN" sz="20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36BDB88A-BECB-49DD-BF39-2834EA2ACD9D}"/>
              </a:ext>
            </a:extLst>
          </p:cNvPr>
          <p:cNvSpPr txBox="1"/>
          <p:nvPr/>
        </p:nvSpPr>
        <p:spPr>
          <a:xfrm>
            <a:off x="0" y="6520145"/>
            <a:ext cx="26271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badi Extra Light" panose="020B0204020104020204" pitchFamily="34" charset="0"/>
              </a:rPr>
              <a:t>This illustration’s credit: Purushottam Kar</a:t>
            </a:r>
            <a:endParaRPr lang="en-IN" sz="1200" dirty="0">
              <a:latin typeface="Abadi Extra Light" panose="020B02040201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349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084"/>
    </mc:Choice>
    <mc:Fallback xmlns="">
      <p:transition spd="slow" advTm="2070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1.85185E-6 L -0.00105 0.15579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5 0.15579 L -0.00039 -0.10996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13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-0.10996 L 3.54167E-6 1.85185E-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5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3.7037E-6 L -0.15612 0.00209 " pathEditMode="relative" rAng="0" ptsTypes="AA">
                                      <p:cBhvr>
                                        <p:cTn id="7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3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612 0.00209 L 0.11289 0.00209 " pathEditMode="relative" rAng="0" ptsTypes="AA">
                                      <p:cBhvr>
                                        <p:cTn id="7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89 0.00209 L 3.95833E-6 -3.7037E-6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51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-0.08372 -0.00625 " pathEditMode="relative" rAng="0" ptsTypes="AA">
                                      <p:cBhvr>
                                        <p:cTn id="1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93" y="-324"/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3.7037E-7 L 0.06666 -0.00278 " pathEditMode="relative" rAng="0" ptsTypes="AA">
                                      <p:cBhvr>
                                        <p:cTn id="1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372 -0.00625 L -0.19817 0.35139 " pathEditMode="relative" rAng="0" ptsTypes="AA">
                                      <p:cBhvr>
                                        <p:cTn id="1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29" y="17870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666 -0.00278 L 0.1763 0.36181 " pathEditMode="relative" rAng="0" ptsTypes="AA">
                                      <p:cBhvr>
                                        <p:cTn id="1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82" y="18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6 L 0 0.12384 " pathEditMode="relative" rAng="0" ptsTypes="AA">
                                      <p:cBhvr>
                                        <p:cTn id="14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12384 L -0.14401 0.19305 " pathEditMode="relative" rAng="0" ptsTypes="AA">
                                      <p:cBhvr>
                                        <p:cTn id="1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01" y="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000"/>
                            </p:stCondLst>
                            <p:childTnLst>
                              <p:par>
                                <p:cTn id="158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401 0.19305 L -0.27031 0.59143 " pathEditMode="relative" rAng="0" ptsTypes="AA">
                                      <p:cBhvr>
                                        <p:cTn id="1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15" y="19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29" grpId="0" animBg="1"/>
      <p:bldP spid="30" grpId="0" animBg="1"/>
      <p:bldP spid="31" grpId="0" animBg="1"/>
      <p:bldP spid="31" grpId="1" animBg="1"/>
      <p:bldP spid="31" grpId="2" animBg="1"/>
      <p:bldP spid="31" grpId="3" animBg="1"/>
      <p:bldP spid="34" grpId="0" animBg="1"/>
      <p:bldP spid="35" grpId="0" animBg="1"/>
      <p:bldP spid="37" grpId="0" animBg="1"/>
      <p:bldP spid="38" grpId="0" animBg="1"/>
      <p:bldP spid="40" grpId="0"/>
      <p:bldP spid="41" grpId="0" animBg="1"/>
      <p:bldP spid="42" grpId="0" animBg="1"/>
      <p:bldP spid="44" grpId="0" animBg="1"/>
      <p:bldP spid="45" grpId="0" animBg="1"/>
      <p:bldP spid="48" grpId="0"/>
      <p:bldP spid="49" grpId="0"/>
      <p:bldP spid="50" grpId="0"/>
      <p:bldP spid="10" grpId="0"/>
      <p:bldP spid="10" grpId="1"/>
      <p:bldP spid="63" grpId="0" animBg="1"/>
      <p:bldP spid="6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Decision Trees for Regression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3037" y="169682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19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8" name="Line 1">
            <a:extLst>
              <a:ext uri="{FF2B5EF4-FFF2-40B4-BE49-F238E27FC236}">
                <a16:creationId xmlns:a16="http://schemas.microsoft.com/office/drawing/2014/main" xmlns="" id="{664BD67D-F559-4370-B0B4-2C7B8E5C7212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945" y="4419902"/>
            <a:ext cx="3812337" cy="32743"/>
          </a:xfrm>
          <a:prstGeom prst="line">
            <a:avLst/>
          </a:prstGeom>
          <a:noFill/>
          <a:ln w="3816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9" name="Line 2">
            <a:extLst>
              <a:ext uri="{FF2B5EF4-FFF2-40B4-BE49-F238E27FC236}">
                <a16:creationId xmlns:a16="http://schemas.microsoft.com/office/drawing/2014/main" xmlns="" id="{54FAD81C-D107-4904-919F-EE9C3EF4E2B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63945" y="2043414"/>
            <a:ext cx="1" cy="2376489"/>
          </a:xfrm>
          <a:prstGeom prst="line">
            <a:avLst/>
          </a:prstGeom>
          <a:noFill/>
          <a:ln w="3816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0" name="Oval 3">
            <a:extLst>
              <a:ext uri="{FF2B5EF4-FFF2-40B4-BE49-F238E27FC236}">
                <a16:creationId xmlns:a16="http://schemas.microsoft.com/office/drawing/2014/main" xmlns="" id="{B9541777-D0F2-49B0-A9A0-EA0758576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839" y="2888759"/>
            <a:ext cx="144463" cy="144462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1" name="Oval 4">
            <a:extLst>
              <a:ext uri="{FF2B5EF4-FFF2-40B4-BE49-F238E27FC236}">
                <a16:creationId xmlns:a16="http://schemas.microsoft.com/office/drawing/2014/main" xmlns="" id="{2C43DAA2-B887-48ED-8CA2-71742AD48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176" y="2636347"/>
            <a:ext cx="144462" cy="144463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2" name="Oval 5">
            <a:extLst>
              <a:ext uri="{FF2B5EF4-FFF2-40B4-BE49-F238E27FC236}">
                <a16:creationId xmlns:a16="http://schemas.microsoft.com/office/drawing/2014/main" xmlns="" id="{6D06E84D-CCA7-4688-AB22-F0ED0CD82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026" y="2817322"/>
            <a:ext cx="144462" cy="144463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3" name="Oval 6">
            <a:extLst>
              <a:ext uri="{FF2B5EF4-FFF2-40B4-BE49-F238E27FC236}">
                <a16:creationId xmlns:a16="http://schemas.microsoft.com/office/drawing/2014/main" xmlns="" id="{FD9C56E0-1BB9-4874-B4A7-9DE314BFE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339" y="2852247"/>
            <a:ext cx="144463" cy="144463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4" name="Oval 7">
            <a:extLst>
              <a:ext uri="{FF2B5EF4-FFF2-40B4-BE49-F238E27FC236}">
                <a16:creationId xmlns:a16="http://schemas.microsoft.com/office/drawing/2014/main" xmlns="" id="{B3165670-3CEC-4EEF-85A5-43D7F33AD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9951" y="2672859"/>
            <a:ext cx="144462" cy="144462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5" name="Oval 8">
            <a:extLst>
              <a:ext uri="{FF2B5EF4-FFF2-40B4-BE49-F238E27FC236}">
                <a16:creationId xmlns:a16="http://schemas.microsoft.com/office/drawing/2014/main" xmlns="" id="{494B6543-E03A-4E38-AED3-26C1B3222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201" y="2742709"/>
            <a:ext cx="144462" cy="144462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" name="Oval 9">
            <a:extLst>
              <a:ext uri="{FF2B5EF4-FFF2-40B4-BE49-F238E27FC236}">
                <a16:creationId xmlns:a16="http://schemas.microsoft.com/office/drawing/2014/main" xmlns="" id="{03B76B6E-66B7-44C1-9C3F-5ADD1A15A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317" y="3617422"/>
            <a:ext cx="144463" cy="144462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7" name="Oval 10">
            <a:extLst>
              <a:ext uri="{FF2B5EF4-FFF2-40B4-BE49-F238E27FC236}">
                <a16:creationId xmlns:a16="http://schemas.microsoft.com/office/drawing/2014/main" xmlns="" id="{C454705D-E070-43BC-A295-EBBC20F73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679" y="3580910"/>
            <a:ext cx="144462" cy="144463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8" name="Oval 11">
            <a:extLst>
              <a:ext uri="{FF2B5EF4-FFF2-40B4-BE49-F238E27FC236}">
                <a16:creationId xmlns:a16="http://schemas.microsoft.com/office/drawing/2014/main" xmlns="" id="{81AA213A-3F6B-409A-BE91-CCB2875DD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504" y="3472960"/>
            <a:ext cx="144462" cy="144463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" name="Oval 12">
            <a:extLst>
              <a:ext uri="{FF2B5EF4-FFF2-40B4-BE49-F238E27FC236}">
                <a16:creationId xmlns:a16="http://schemas.microsoft.com/office/drawing/2014/main" xmlns="" id="{AEF28953-6C23-4CA0-B1F1-0C953FD4E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9405" y="2417393"/>
            <a:ext cx="144463" cy="144463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0" name="Oval 13">
            <a:extLst>
              <a:ext uri="{FF2B5EF4-FFF2-40B4-BE49-F238E27FC236}">
                <a16:creationId xmlns:a16="http://schemas.microsoft.com/office/drawing/2014/main" xmlns="" id="{16EF79C8-5AD3-48B7-88C8-47AF5F26C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742" y="2166568"/>
            <a:ext cx="144462" cy="144463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1" name="Oval 14">
            <a:extLst>
              <a:ext uri="{FF2B5EF4-FFF2-40B4-BE49-F238E27FC236}">
                <a16:creationId xmlns:a16="http://schemas.microsoft.com/office/drawing/2014/main" xmlns="" id="{4CB7CBBC-5961-48EE-98E4-F9652BC93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80" y="2238005"/>
            <a:ext cx="144463" cy="144462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" name="Oval 15">
            <a:extLst>
              <a:ext uri="{FF2B5EF4-FFF2-40B4-BE49-F238E27FC236}">
                <a16:creationId xmlns:a16="http://schemas.microsoft.com/office/drawing/2014/main" xmlns="" id="{7C7F0842-A4E6-461D-867D-988AE7BA0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342" y="2417393"/>
            <a:ext cx="144462" cy="144463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9" name="Text Box 22">
            <a:extLst>
              <a:ext uri="{FF2B5EF4-FFF2-40B4-BE49-F238E27FC236}">
                <a16:creationId xmlns:a16="http://schemas.microsoft.com/office/drawing/2014/main" xmlns="" id="{0DD40844-03BD-4151-A37C-B556FF9BD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507" y="4361291"/>
            <a:ext cx="3995223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0876" rIns="90000" bIns="4500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r>
              <a:rPr lang="en-IN" altLang="en-US" dirty="0"/>
              <a:t>      1        2         3           4           5</a:t>
            </a:r>
          </a:p>
        </p:txBody>
      </p:sp>
      <p:sp>
        <p:nvSpPr>
          <p:cNvPr id="90" name="Text Box 23">
            <a:extLst>
              <a:ext uri="{FF2B5EF4-FFF2-40B4-BE49-F238E27FC236}">
                <a16:creationId xmlns:a16="http://schemas.microsoft.com/office/drawing/2014/main" xmlns="" id="{D97062A0-4243-4430-B814-6083FE8DB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239" y="2010672"/>
            <a:ext cx="252392" cy="2294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0876" rIns="90000" bIns="45000"/>
          <a:lstStyle/>
          <a:p>
            <a:r>
              <a:rPr lang="en-IN" altLang="en-US" dirty="0">
                <a:solidFill>
                  <a:srgbClr val="000000"/>
                </a:solidFill>
              </a:rPr>
              <a:t>4</a:t>
            </a:r>
          </a:p>
          <a:p>
            <a:endParaRPr lang="en-IN" altLang="en-US" dirty="0">
              <a:solidFill>
                <a:srgbClr val="000000"/>
              </a:solidFill>
            </a:endParaRPr>
          </a:p>
          <a:p>
            <a:r>
              <a:rPr lang="en-IN" altLang="en-US" dirty="0">
                <a:solidFill>
                  <a:srgbClr val="000000"/>
                </a:solidFill>
              </a:rPr>
              <a:t>3</a:t>
            </a:r>
          </a:p>
          <a:p>
            <a:endParaRPr lang="en-IN" altLang="en-US" dirty="0">
              <a:solidFill>
                <a:srgbClr val="000000"/>
              </a:solidFill>
            </a:endParaRPr>
          </a:p>
          <a:p>
            <a:r>
              <a:rPr lang="en-IN" altLang="en-US" dirty="0">
                <a:solidFill>
                  <a:srgbClr val="000000"/>
                </a:solidFill>
              </a:rPr>
              <a:t>2</a:t>
            </a:r>
          </a:p>
          <a:p>
            <a:endParaRPr lang="en-IN" altLang="en-US" dirty="0">
              <a:solidFill>
                <a:srgbClr val="000000"/>
              </a:solidFill>
            </a:endParaRPr>
          </a:p>
          <a:p>
            <a:r>
              <a:rPr lang="en-IN" altLang="en-US" dirty="0">
                <a:solidFill>
                  <a:srgbClr val="000000"/>
                </a:solidFill>
              </a:rPr>
              <a:t>1</a:t>
            </a:r>
          </a:p>
          <a:p>
            <a:endParaRPr lang="en-IN" altLang="en-US" dirty="0">
              <a:solidFill>
                <a:srgbClr val="000000"/>
              </a:solidFill>
            </a:endParaRPr>
          </a:p>
          <a:p>
            <a:endParaRPr lang="en-IN" altLang="en-US" dirty="0">
              <a:solidFill>
                <a:srgbClr val="000000"/>
              </a:solidFill>
            </a:endParaRPr>
          </a:p>
          <a:p>
            <a:endParaRPr lang="en-IN" altLang="en-US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="" xmlns:a16="http://schemas.microsoft.com/office/drawing/2014/main" id="{DF03E650-9402-4EE6-B25C-99DC0456CCCC}"/>
                  </a:ext>
                </a:extLst>
              </p:cNvPr>
              <p:cNvSpPr txBox="1"/>
              <p:nvPr/>
            </p:nvSpPr>
            <p:spPr>
              <a:xfrm>
                <a:off x="2787219" y="4627477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F03E650-9402-4EE6-B25C-99DC0456C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219" y="4627477"/>
                <a:ext cx="174728" cy="276999"/>
              </a:xfrm>
              <a:prstGeom prst="rect">
                <a:avLst/>
              </a:prstGeom>
              <a:blipFill>
                <a:blip r:embed="rId3" cstate="print"/>
                <a:stretch>
                  <a:fillRect l="-20690" r="-17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="" xmlns:a16="http://schemas.microsoft.com/office/drawing/2014/main" id="{4571F040-ECF0-4724-A514-6FC29AE310B8}"/>
                  </a:ext>
                </a:extLst>
              </p:cNvPr>
              <p:cNvSpPr txBox="1"/>
              <p:nvPr/>
            </p:nvSpPr>
            <p:spPr>
              <a:xfrm>
                <a:off x="648819" y="2924478"/>
                <a:ext cx="1699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571F040-ECF0-4724-A514-6FC29AE31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19" y="2924478"/>
                <a:ext cx="169918" cy="276999"/>
              </a:xfrm>
              <a:prstGeom prst="rect">
                <a:avLst/>
              </a:prstGeom>
              <a:blipFill>
                <a:blip r:embed="rId4" cstate="print"/>
                <a:stretch>
                  <a:fillRect l="-35714" r="-32143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7234D8E7-3DB0-4AD5-9612-D60EC5089206}"/>
              </a:ext>
            </a:extLst>
          </p:cNvPr>
          <p:cNvCxnSpPr/>
          <p:nvPr/>
        </p:nvCxnSpPr>
        <p:spPr>
          <a:xfrm>
            <a:off x="1019507" y="2814940"/>
            <a:ext cx="185060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49143474-9768-4F61-84B4-5F687F26FDFA}"/>
              </a:ext>
            </a:extLst>
          </p:cNvPr>
          <p:cNvCxnSpPr>
            <a:cxnSpLocks/>
          </p:cNvCxnSpPr>
          <p:nvPr/>
        </p:nvCxnSpPr>
        <p:spPr>
          <a:xfrm flipV="1">
            <a:off x="3589405" y="2352261"/>
            <a:ext cx="1371926" cy="253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DFCAE41E-A08F-453D-BDEA-B825D53F1227}"/>
              </a:ext>
            </a:extLst>
          </p:cNvPr>
          <p:cNvCxnSpPr>
            <a:cxnSpLocks/>
            <a:endCxn id="78" idx="5"/>
          </p:cNvCxnSpPr>
          <p:nvPr/>
        </p:nvCxnSpPr>
        <p:spPr>
          <a:xfrm>
            <a:off x="2946211" y="3594394"/>
            <a:ext cx="739599" cy="18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lowchart: Decision 64">
            <a:extLst>
              <a:ext uri="{FF2B5EF4-FFF2-40B4-BE49-F238E27FC236}">
                <a16:creationId xmlns:a16="http://schemas.microsoft.com/office/drawing/2014/main" xmlns="" id="{AE12D109-6696-4731-A3D1-FB032A78AB07}"/>
              </a:ext>
            </a:extLst>
          </p:cNvPr>
          <p:cNvSpPr/>
          <p:nvPr/>
        </p:nvSpPr>
        <p:spPr>
          <a:xfrm>
            <a:off x="8396534" y="2000432"/>
            <a:ext cx="998290" cy="8215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="" xmlns:a16="http://schemas.microsoft.com/office/drawing/2014/main" id="{D2F59686-1A35-43E5-B5D1-80A2D6A17339}"/>
                  </a:ext>
                </a:extLst>
              </p:cNvPr>
              <p:cNvSpPr txBox="1"/>
              <p:nvPr/>
            </p:nvSpPr>
            <p:spPr>
              <a:xfrm>
                <a:off x="8623458" y="2286528"/>
                <a:ext cx="59093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&gt;4 ?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2F59686-1A35-43E5-B5D1-80A2D6A17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3458" y="2286528"/>
                <a:ext cx="590931" cy="215444"/>
              </a:xfrm>
              <a:prstGeom prst="rect">
                <a:avLst/>
              </a:prstGeom>
              <a:blipFill>
                <a:blip r:embed="rId5" cstate="print"/>
                <a:stretch>
                  <a:fillRect l="-4124" r="-6186" b="-5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: Rounded Corners 84">
                <a:extLst>
                  <a:ext uri="{FF2B5EF4-FFF2-40B4-BE49-F238E27FC236}">
                    <a16:creationId xmlns="" xmlns:a16="http://schemas.microsoft.com/office/drawing/2014/main" id="{50704F64-EAEA-460F-A344-31E07D2F3872}"/>
                  </a:ext>
                </a:extLst>
              </p:cNvPr>
              <p:cNvSpPr/>
              <p:nvPr/>
            </p:nvSpPr>
            <p:spPr>
              <a:xfrm>
                <a:off x="9762056" y="2903689"/>
                <a:ext cx="1184192" cy="59601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36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tx1"/>
                    </a:solidFill>
                  </a:rPr>
                  <a:t>Predict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=3.5</m:t>
                    </m:r>
                  </m:oMath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Rectangle: Rounded Corners 8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0704F64-EAEA-460F-A344-31E07D2F38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056" y="2903689"/>
                <a:ext cx="1184192" cy="596013"/>
              </a:xfrm>
              <a:prstGeom prst="roundRect">
                <a:avLst/>
              </a:prstGeom>
              <a:blipFill>
                <a:blip r:embed="rId6" cstate="print"/>
                <a:stretch>
                  <a:fillRect t="-8000" b="-7000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xmlns="" id="{895FBC0C-DD22-4840-8BC7-37D25485B844}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9394824" y="2411182"/>
            <a:ext cx="1044780" cy="48167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lowchart: Decision 90">
            <a:extLst>
              <a:ext uri="{FF2B5EF4-FFF2-40B4-BE49-F238E27FC236}">
                <a16:creationId xmlns:a16="http://schemas.microsoft.com/office/drawing/2014/main" xmlns="" id="{271B7840-8E9F-4F6C-BA62-F0D245DE5593}"/>
              </a:ext>
            </a:extLst>
          </p:cNvPr>
          <p:cNvSpPr/>
          <p:nvPr/>
        </p:nvSpPr>
        <p:spPr>
          <a:xfrm>
            <a:off x="6785507" y="2916018"/>
            <a:ext cx="998290" cy="8215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="" xmlns:a16="http://schemas.microsoft.com/office/drawing/2014/main" id="{B915FF33-512E-470B-8BCA-951A46B7C1FC}"/>
                  </a:ext>
                </a:extLst>
              </p:cNvPr>
              <p:cNvSpPr txBox="1"/>
              <p:nvPr/>
            </p:nvSpPr>
            <p:spPr>
              <a:xfrm>
                <a:off x="6952455" y="3201696"/>
                <a:ext cx="66652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&gt;3 ?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915FF33-512E-470B-8BCA-951A46B7C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455" y="3201696"/>
                <a:ext cx="666529" cy="215444"/>
              </a:xfrm>
              <a:prstGeom prst="rect">
                <a:avLst/>
              </a:prstGeom>
              <a:blipFill>
                <a:blip r:embed="rId7" cstate="print"/>
                <a:stretch>
                  <a:fillRect l="-2727" r="-4545"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xmlns="" id="{FA5C3F4B-D434-40C5-BD87-B71E30AB5756}"/>
              </a:ext>
            </a:extLst>
          </p:cNvPr>
          <p:cNvCxnSpPr>
            <a:cxnSpLocks/>
            <a:stCxn id="91" idx="3"/>
          </p:cNvCxnSpPr>
          <p:nvPr/>
        </p:nvCxnSpPr>
        <p:spPr>
          <a:xfrm>
            <a:off x="7783797" y="3326768"/>
            <a:ext cx="464288" cy="5136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xmlns="" id="{2C6DE82A-8C92-4BBD-9C3A-0623F11F463C}"/>
              </a:ext>
            </a:extLst>
          </p:cNvPr>
          <p:cNvCxnSpPr>
            <a:cxnSpLocks/>
            <a:stCxn id="91" idx="1"/>
          </p:cNvCxnSpPr>
          <p:nvPr/>
        </p:nvCxnSpPr>
        <p:spPr>
          <a:xfrm rot="10800000" flipV="1">
            <a:off x="6420003" y="3326768"/>
            <a:ext cx="365504" cy="51472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xmlns="" id="{7788179A-9CBA-4D79-AEEB-14DD14966B9A}"/>
              </a:ext>
            </a:extLst>
          </p:cNvPr>
          <p:cNvCxnSpPr>
            <a:cxnSpLocks/>
            <a:stCxn id="65" idx="1"/>
            <a:endCxn id="91" idx="0"/>
          </p:cNvCxnSpPr>
          <p:nvPr/>
        </p:nvCxnSpPr>
        <p:spPr>
          <a:xfrm rot="10800000" flipV="1">
            <a:off x="7284652" y="2411182"/>
            <a:ext cx="1111882" cy="50483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xmlns="" id="{BA1A744E-7DFC-4E80-AB6E-9727D59B45D7}"/>
              </a:ext>
            </a:extLst>
          </p:cNvPr>
          <p:cNvSpPr txBox="1"/>
          <p:nvPr/>
        </p:nvSpPr>
        <p:spPr>
          <a:xfrm>
            <a:off x="7608754" y="204185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xmlns="" id="{FF36F230-BBED-4BE7-B5AA-B0EABAB265EF}"/>
              </a:ext>
            </a:extLst>
          </p:cNvPr>
          <p:cNvSpPr txBox="1"/>
          <p:nvPr/>
        </p:nvSpPr>
        <p:spPr>
          <a:xfrm>
            <a:off x="9660893" y="2041849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7BA064F7-BE14-4B3A-93DD-4E7E038B012C}"/>
              </a:ext>
            </a:extLst>
          </p:cNvPr>
          <p:cNvSpPr txBox="1"/>
          <p:nvPr/>
        </p:nvSpPr>
        <p:spPr>
          <a:xfrm>
            <a:off x="6330590" y="2995077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xmlns="" id="{C377127C-4A21-4B7F-B3C9-F155C30163F7}"/>
              </a:ext>
            </a:extLst>
          </p:cNvPr>
          <p:cNvSpPr txBox="1"/>
          <p:nvPr/>
        </p:nvSpPr>
        <p:spPr>
          <a:xfrm>
            <a:off x="7735444" y="2977560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tangle: Rounded Corners 103">
                <a:extLst>
                  <a:ext uri="{FF2B5EF4-FFF2-40B4-BE49-F238E27FC236}">
                    <a16:creationId xmlns="" xmlns:a16="http://schemas.microsoft.com/office/drawing/2014/main" id="{4C5015C9-7F90-4A5D-A4AD-64E28028B201}"/>
                  </a:ext>
                </a:extLst>
              </p:cNvPr>
              <p:cNvSpPr/>
              <p:nvPr/>
            </p:nvSpPr>
            <p:spPr>
              <a:xfrm>
                <a:off x="5827907" y="3817945"/>
                <a:ext cx="1184192" cy="59601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36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tx1"/>
                    </a:solidFill>
                  </a:rPr>
                  <a:t>Predict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C5015C9-7F90-4A5D-A4AD-64E28028B2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907" y="3817945"/>
                <a:ext cx="1184192" cy="596013"/>
              </a:xfrm>
              <a:prstGeom prst="roundRect">
                <a:avLst/>
              </a:prstGeom>
              <a:blipFill>
                <a:blip r:embed="rId8" cstate="print"/>
                <a:stretch>
                  <a:fillRect t="-8000" b="-7000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tangle: Rounded Corners 104">
                <a:extLst>
                  <a:ext uri="{FF2B5EF4-FFF2-40B4-BE49-F238E27FC236}">
                    <a16:creationId xmlns="" xmlns:a16="http://schemas.microsoft.com/office/drawing/2014/main" id="{E8014A68-E3EB-4AAF-8B00-DF8957568E12}"/>
                  </a:ext>
                </a:extLst>
              </p:cNvPr>
              <p:cNvSpPr/>
              <p:nvPr/>
            </p:nvSpPr>
            <p:spPr>
              <a:xfrm>
                <a:off x="7689224" y="3840434"/>
                <a:ext cx="1184192" cy="59601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36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tx1"/>
                    </a:solidFill>
                  </a:rPr>
                  <a:t>Predict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Rectangle: Rounded Corners 10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8014A68-E3EB-4AAF-8B00-DF8957568E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224" y="3840434"/>
                <a:ext cx="1184192" cy="596013"/>
              </a:xfrm>
              <a:prstGeom prst="roundRect">
                <a:avLst/>
              </a:prstGeom>
              <a:blipFill>
                <a:blip r:embed="rId9" cstate="print"/>
                <a:stretch>
                  <a:fillRect t="-8000" b="-7000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Speech Bubble: Rectangle 105">
            <a:extLst>
              <a:ext uri="{FF2B5EF4-FFF2-40B4-BE49-F238E27FC236}">
                <a16:creationId xmlns:a16="http://schemas.microsoft.com/office/drawing/2014/main" xmlns="" id="{4484F349-EF0C-45DB-8146-C11F34337FF5}"/>
              </a:ext>
            </a:extLst>
          </p:cNvPr>
          <p:cNvSpPr/>
          <p:nvPr/>
        </p:nvSpPr>
        <p:spPr>
          <a:xfrm>
            <a:off x="3973249" y="991182"/>
            <a:ext cx="1982784" cy="1049714"/>
          </a:xfrm>
          <a:prstGeom prst="wedgeRectCallout">
            <a:avLst>
              <a:gd name="adj1" fmla="val -40842"/>
              <a:gd name="adj2" fmla="val 74506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Can use any regression model but would like a simple one, so let’s use a constant prediction based regression model</a:t>
            </a:r>
          </a:p>
        </p:txBody>
      </p:sp>
      <p:sp>
        <p:nvSpPr>
          <p:cNvPr id="108" name="Oval 13">
            <a:extLst>
              <a:ext uri="{FF2B5EF4-FFF2-40B4-BE49-F238E27FC236}">
                <a16:creationId xmlns:a16="http://schemas.microsoft.com/office/drawing/2014/main" xmlns="" id="{A857C39E-D3BC-4974-B4F2-01F6DACED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179" y="2425287"/>
            <a:ext cx="144462" cy="144463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9" name="Oval 11">
            <a:extLst>
              <a:ext uri="{FF2B5EF4-FFF2-40B4-BE49-F238E27FC236}">
                <a16:creationId xmlns:a16="http://schemas.microsoft.com/office/drawing/2014/main" xmlns="" id="{EB6E293D-34B5-4617-86B3-53404DB2D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011" y="3450867"/>
            <a:ext cx="144462" cy="144463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xmlns="" id="{629FFD43-031C-424C-B840-9DFDE58229C5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18575" y="5569746"/>
            <a:ext cx="1010687" cy="965223"/>
          </a:xfrm>
          <a:prstGeom prst="rect">
            <a:avLst/>
          </a:prstGeom>
        </p:spPr>
      </p:pic>
      <p:sp>
        <p:nvSpPr>
          <p:cNvPr id="111" name="Speech Bubble: Rectangle 110">
            <a:extLst>
              <a:ext uri="{FF2B5EF4-FFF2-40B4-BE49-F238E27FC236}">
                <a16:creationId xmlns:a16="http://schemas.microsoft.com/office/drawing/2014/main" xmlns="" id="{1625D58F-279A-4AD3-ABD2-00BC30321918}"/>
              </a:ext>
            </a:extLst>
          </p:cNvPr>
          <p:cNvSpPr/>
          <p:nvPr/>
        </p:nvSpPr>
        <p:spPr>
          <a:xfrm>
            <a:off x="1885488" y="5296719"/>
            <a:ext cx="5483690" cy="1238250"/>
          </a:xfrm>
          <a:prstGeom prst="wedgeRectCallout">
            <a:avLst>
              <a:gd name="adj1" fmla="val -58734"/>
              <a:gd name="adj2" fmla="val 7027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To predict the output for a test point, nearest </a:t>
            </a:r>
            <a:r>
              <a:rPr lang="en-IN" sz="2000" b="0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neighbors</a:t>
            </a:r>
            <a:r>
              <a:rPr lang="en-IN" sz="20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 will require computing distances from 15 training inputs. DT predicts the label </a:t>
            </a:r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by doing just at most feature-value comparisons! Way </a:t>
            </a:r>
            <a:r>
              <a:rPr lang="en-IN" sz="2000" dirty="0" smtClean="0">
                <a:solidFill>
                  <a:schemeClr val="tx1"/>
                </a:solidFill>
                <a:latin typeface="Abadi Extra Light" panose="020B0204020104020204" pitchFamily="34" charset="0"/>
              </a:rPr>
              <a:t>faster!</a:t>
            </a:r>
            <a:endParaRPr lang="en-IN" sz="20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112" name="Speech Bubble: Rectangle 111">
            <a:extLst>
              <a:ext uri="{FF2B5EF4-FFF2-40B4-BE49-F238E27FC236}">
                <a16:creationId xmlns:a16="http://schemas.microsoft.com/office/drawing/2014/main" xmlns="" id="{249A8A20-9C85-41A2-A2B8-F55C286AFA60}"/>
              </a:ext>
            </a:extLst>
          </p:cNvPr>
          <p:cNvSpPr/>
          <p:nvPr/>
        </p:nvSpPr>
        <p:spPr>
          <a:xfrm>
            <a:off x="6394183" y="907932"/>
            <a:ext cx="1700601" cy="1049714"/>
          </a:xfrm>
          <a:prstGeom prst="wedgeRectCallout">
            <a:avLst>
              <a:gd name="adj1" fmla="val -78090"/>
              <a:gd name="adj2" fmla="val 23134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Another simple option can be to predict the average output of the training inputs in this region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045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3449"/>
    </mc:Choice>
    <mc:Fallback xmlns="">
      <p:transition spd="slow" advTm="4134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9" grpId="0"/>
      <p:bldP spid="90" grpId="0"/>
      <p:bldP spid="3" grpId="0" animBg="1"/>
      <p:bldP spid="22" grpId="0" animBg="1"/>
      <p:bldP spid="65" grpId="0" animBg="1"/>
      <p:bldP spid="66" grpId="0" animBg="1"/>
      <p:bldP spid="85" grpId="0" animBg="1"/>
      <p:bldP spid="91" grpId="0" animBg="1"/>
      <p:bldP spid="92" grpId="0" animBg="1"/>
      <p:bldP spid="98" grpId="0"/>
      <p:bldP spid="99" grpId="0"/>
      <p:bldP spid="100" grpId="0"/>
      <p:bldP spid="101" grpId="0"/>
      <p:bldP spid="104" grpId="0" animBg="1"/>
      <p:bldP spid="105" grpId="0" animBg="1"/>
      <p:bldP spid="106" grpId="0" animBg="1"/>
      <p:bldP spid="108" grpId="0" animBg="1"/>
      <p:bldP spid="109" grpId="0" animBg="1"/>
      <p:bldP spid="111" grpId="0" animBg="1"/>
      <p:bldP spid="1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Decision Trees: A Summary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xmlns="" id="{60A06722-EDF2-4418-9797-499014F6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740617" cy="55575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B050"/>
                </a:solidFill>
                <a:latin typeface="Abadi Extra Light" panose="020B0204020104020204" pitchFamily="34" charset="0"/>
              </a:rPr>
              <a:t>Some key strengths: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Simple and easy to interpret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Nice example of “divide and conquer” </a:t>
            </a:r>
          </a:p>
          <a:p>
            <a:pPr marL="457200" lvl="1" indent="0">
              <a:buNone/>
            </a:pPr>
            <a:r>
              <a:rPr lang="en-GB" dirty="0">
                <a:latin typeface="Abadi Extra Light" panose="020B0204020104020204" pitchFamily="34" charset="0"/>
              </a:rPr>
              <a:t>   paradigm in machine learning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Easily handle different types of </a:t>
            </a:r>
          </a:p>
          <a:p>
            <a:pPr marL="457200" lvl="1" indent="0">
              <a:buNone/>
            </a:pPr>
            <a:r>
              <a:rPr lang="en-GB" dirty="0">
                <a:latin typeface="Abadi Extra Light" panose="020B0204020104020204" pitchFamily="34" charset="0"/>
              </a:rPr>
              <a:t>   features (real, categorical, etc.)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Very fast at test time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Multiple DTs can be combined </a:t>
            </a:r>
          </a:p>
          <a:p>
            <a:pPr marL="457200" lvl="1" indent="0">
              <a:buNone/>
            </a:pPr>
            <a:r>
              <a:rPr lang="en-GB" dirty="0">
                <a:latin typeface="Abadi Extra Light" panose="020B0204020104020204" pitchFamily="34" charset="0"/>
              </a:rPr>
              <a:t>   via </a:t>
            </a:r>
            <a:r>
              <a:rPr lang="en-GB" dirty="0">
                <a:solidFill>
                  <a:srgbClr val="0000FF"/>
                </a:solidFill>
                <a:latin typeface="Abadi Extra Light" panose="020B0204020104020204" pitchFamily="34" charset="0"/>
              </a:rPr>
              <a:t>ensemble methods</a:t>
            </a:r>
            <a:r>
              <a:rPr lang="en-GB" dirty="0">
                <a:latin typeface="Abadi Extra Light" panose="020B0204020104020204" pitchFamily="34" charset="0"/>
              </a:rPr>
              <a:t>: more powerful </a:t>
            </a:r>
          </a:p>
          <a:p>
            <a:pPr marL="457200" lvl="1" indent="0">
              <a:buNone/>
            </a:pPr>
            <a:r>
              <a:rPr lang="en-GB" dirty="0">
                <a:latin typeface="Abadi Extra Light" panose="020B0204020104020204" pitchFamily="34" charset="0"/>
              </a:rPr>
              <a:t>  (e.g., Decision Forests; will see later)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400" dirty="0">
                <a:latin typeface="Abadi Extra Light" panose="020B0204020104020204" pitchFamily="34" charset="0"/>
              </a:rPr>
              <a:t>Used in several real-world ML applications, e.g., recommender systems, gaming (Kinect)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  <a:latin typeface="Abadi Extra Light" panose="020B0204020104020204" pitchFamily="34" charset="0"/>
              </a:rPr>
              <a:t>Some key weaknesses: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Learning optimal DT is (NP-hard) intractable. Existing algos mostly greedy heuristics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Can sometimes become very complex unless some pruning is applied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11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1100" dirty="0">
              <a:latin typeface="Abadi Extra Light" panose="020B0204020104020204" pitchFamily="34" charset="0"/>
            </a:endParaRP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xmlns="" id="{E8AA12DB-1E02-4252-B4CB-1932D8798C2F}"/>
              </a:ext>
            </a:extLst>
          </p:cNvPr>
          <p:cNvSpPr txBox="1">
            <a:spLocks/>
          </p:cNvSpPr>
          <p:nvPr/>
        </p:nvSpPr>
        <p:spPr>
          <a:xfrm>
            <a:off x="11419146" y="169682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20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4E99EA6D-364E-46A3-8997-C0909D063105}"/>
              </a:ext>
            </a:extLst>
          </p:cNvPr>
          <p:cNvGrpSpPr/>
          <p:nvPr/>
        </p:nvGrpSpPr>
        <p:grpSpPr>
          <a:xfrm>
            <a:off x="5290296" y="1748453"/>
            <a:ext cx="6829405" cy="2905009"/>
            <a:chOff x="245990" y="1627455"/>
            <a:chExt cx="11668324" cy="409683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9289F57-8845-4247-B57D-ACC50EF330DF}"/>
                </a:ext>
              </a:extLst>
            </p:cNvPr>
            <p:cNvSpPr/>
            <p:nvPr/>
          </p:nvSpPr>
          <p:spPr>
            <a:xfrm>
              <a:off x="3278330" y="3205588"/>
              <a:ext cx="2124846" cy="1911769"/>
            </a:xfrm>
            <a:prstGeom prst="rect">
              <a:avLst/>
            </a:prstGeom>
            <a:solidFill>
              <a:srgbClr val="00B05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87321981-B096-440F-8C31-67A6B4159669}"/>
                </a:ext>
              </a:extLst>
            </p:cNvPr>
            <p:cNvSpPr/>
            <p:nvPr/>
          </p:nvSpPr>
          <p:spPr>
            <a:xfrm>
              <a:off x="863590" y="1796603"/>
              <a:ext cx="2424714" cy="2084816"/>
            </a:xfrm>
            <a:prstGeom prst="rect">
              <a:avLst/>
            </a:prstGeom>
            <a:solidFill>
              <a:srgbClr val="00B05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7C7A406D-35F5-4796-A6AD-4821302C4B8F}"/>
                </a:ext>
              </a:extLst>
            </p:cNvPr>
            <p:cNvSpPr/>
            <p:nvPr/>
          </p:nvSpPr>
          <p:spPr>
            <a:xfrm>
              <a:off x="3285010" y="1794804"/>
              <a:ext cx="2104686" cy="1385997"/>
            </a:xfrm>
            <a:prstGeom prst="rect">
              <a:avLst/>
            </a:prstGeom>
            <a:solidFill>
              <a:srgbClr val="FF00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xmlns="" id="{557CB116-B5A9-44C6-89D8-C002047F3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4450" y="2191239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xmlns="" id="{D18BC7DA-070B-4A20-BBC4-062F4312A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663" y="2347286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" name="Oval 9">
              <a:extLst>
                <a:ext uri="{FF2B5EF4-FFF2-40B4-BE49-F238E27FC236}">
                  <a16:creationId xmlns:a16="http://schemas.microsoft.com/office/drawing/2014/main" xmlns="" id="{92C0BB4B-4E1B-400A-AE2E-6FB1A0DA6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6623" y="1828559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" name="Oval 9">
              <a:extLst>
                <a:ext uri="{FF2B5EF4-FFF2-40B4-BE49-F238E27FC236}">
                  <a16:creationId xmlns:a16="http://schemas.microsoft.com/office/drawing/2014/main" xmlns="" id="{B5B45ED7-C1B8-4378-ACE2-D556D7D07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4301" y="2877806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" name="Oval 9">
              <a:extLst>
                <a:ext uri="{FF2B5EF4-FFF2-40B4-BE49-F238E27FC236}">
                  <a16:creationId xmlns:a16="http://schemas.microsoft.com/office/drawing/2014/main" xmlns="" id="{D2E4F24D-9F01-4AB0-B225-4DDBE816B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079" y="1884379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" name="Oval 9">
              <a:extLst>
                <a:ext uri="{FF2B5EF4-FFF2-40B4-BE49-F238E27FC236}">
                  <a16:creationId xmlns:a16="http://schemas.microsoft.com/office/drawing/2014/main" xmlns="" id="{787D5779-BCD6-4645-9B18-79B43D060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187" y="2398736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" name="Oval 9">
              <a:extLst>
                <a:ext uri="{FF2B5EF4-FFF2-40B4-BE49-F238E27FC236}">
                  <a16:creationId xmlns:a16="http://schemas.microsoft.com/office/drawing/2014/main" xmlns="" id="{67BB6C21-1E90-43FE-9D05-846E0D66B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1741" y="2389144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" name="Oval 9">
              <a:extLst>
                <a:ext uri="{FF2B5EF4-FFF2-40B4-BE49-F238E27FC236}">
                  <a16:creationId xmlns:a16="http://schemas.microsoft.com/office/drawing/2014/main" xmlns="" id="{47E5A1BC-1583-4D9F-A782-B20C90F89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8249" y="2864135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9" name="Oval 9">
              <a:extLst>
                <a:ext uri="{FF2B5EF4-FFF2-40B4-BE49-F238E27FC236}">
                  <a16:creationId xmlns:a16="http://schemas.microsoft.com/office/drawing/2014/main" xmlns="" id="{35921F0D-51EE-41A7-912A-5A01CAA4B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382" y="2066070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" name="Oval 9">
              <a:extLst>
                <a:ext uri="{FF2B5EF4-FFF2-40B4-BE49-F238E27FC236}">
                  <a16:creationId xmlns:a16="http://schemas.microsoft.com/office/drawing/2014/main" xmlns="" id="{7C1D5169-6B70-4B18-B8E5-278B2478F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777" y="2599822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" name="Oval 9">
              <a:extLst>
                <a:ext uri="{FF2B5EF4-FFF2-40B4-BE49-F238E27FC236}">
                  <a16:creationId xmlns:a16="http://schemas.microsoft.com/office/drawing/2014/main" xmlns="" id="{073B5A65-B3A5-4529-821A-D7A8F640C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6549" y="1811485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" name="Oval 9">
              <a:extLst>
                <a:ext uri="{FF2B5EF4-FFF2-40B4-BE49-F238E27FC236}">
                  <a16:creationId xmlns:a16="http://schemas.microsoft.com/office/drawing/2014/main" xmlns="" id="{E7EC4A3E-1F4F-4E2F-A95B-8F87F1349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4824" y="2826928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" name="Oval 9">
              <a:extLst>
                <a:ext uri="{FF2B5EF4-FFF2-40B4-BE49-F238E27FC236}">
                  <a16:creationId xmlns:a16="http://schemas.microsoft.com/office/drawing/2014/main" xmlns="" id="{18EEFC5B-C541-4AE4-A227-050346F5D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8150" y="1828559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" name="Oval 9">
              <a:extLst>
                <a:ext uri="{FF2B5EF4-FFF2-40B4-BE49-F238E27FC236}">
                  <a16:creationId xmlns:a16="http://schemas.microsoft.com/office/drawing/2014/main" xmlns="" id="{7BE900F9-C4D9-4683-BE33-18D2DE314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692" y="2432700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" name="Oval 9">
              <a:extLst>
                <a:ext uri="{FF2B5EF4-FFF2-40B4-BE49-F238E27FC236}">
                  <a16:creationId xmlns:a16="http://schemas.microsoft.com/office/drawing/2014/main" xmlns="" id="{6D26677A-94D6-4DD5-9D7D-42287761C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364" y="2288053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xmlns="" id="{3A698B14-F035-43C2-A081-B0578AF6E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9778" y="2933428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Oval 9">
              <a:extLst>
                <a:ext uri="{FF2B5EF4-FFF2-40B4-BE49-F238E27FC236}">
                  <a16:creationId xmlns:a16="http://schemas.microsoft.com/office/drawing/2014/main" xmlns="" id="{4D25A125-0411-4133-AFC9-22893CD6A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1378" y="243402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" name="Oval 9">
              <a:extLst>
                <a:ext uri="{FF2B5EF4-FFF2-40B4-BE49-F238E27FC236}">
                  <a16:creationId xmlns:a16="http://schemas.microsoft.com/office/drawing/2014/main" xmlns="" id="{A03E59F2-8254-40B7-A976-2FD13B2A7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1287" y="276748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" name="Oval 9">
              <a:extLst>
                <a:ext uri="{FF2B5EF4-FFF2-40B4-BE49-F238E27FC236}">
                  <a16:creationId xmlns:a16="http://schemas.microsoft.com/office/drawing/2014/main" xmlns="" id="{4F44892C-D060-420F-8AD3-A6468C605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5206" y="1828559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" name="Oval 9">
              <a:extLst>
                <a:ext uri="{FF2B5EF4-FFF2-40B4-BE49-F238E27FC236}">
                  <a16:creationId xmlns:a16="http://schemas.microsoft.com/office/drawing/2014/main" xmlns="" id="{92B0346C-FE3A-4330-8A82-C38585B20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6963" y="2761906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" name="Oval 9">
              <a:extLst>
                <a:ext uri="{FF2B5EF4-FFF2-40B4-BE49-F238E27FC236}">
                  <a16:creationId xmlns:a16="http://schemas.microsoft.com/office/drawing/2014/main" xmlns="" id="{1E49514E-8067-494E-A9E7-F79C29950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778" y="186027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" name="Oval 9">
              <a:extLst>
                <a:ext uri="{FF2B5EF4-FFF2-40B4-BE49-F238E27FC236}">
                  <a16:creationId xmlns:a16="http://schemas.microsoft.com/office/drawing/2014/main" xmlns="" id="{5A7C197A-F7C8-4BAF-A849-85D1B5A10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8263" y="2152486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" name="Oval 9">
              <a:extLst>
                <a:ext uri="{FF2B5EF4-FFF2-40B4-BE49-F238E27FC236}">
                  <a16:creationId xmlns:a16="http://schemas.microsoft.com/office/drawing/2014/main" xmlns="" id="{6C678E6D-EA97-4CE0-A4BF-3414B12FC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4653" y="2940884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" name="Oval 9">
              <a:extLst>
                <a:ext uri="{FF2B5EF4-FFF2-40B4-BE49-F238E27FC236}">
                  <a16:creationId xmlns:a16="http://schemas.microsoft.com/office/drawing/2014/main" xmlns="" id="{74E25212-5D6C-4664-9A6A-184DF078F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845" y="3438238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" name="Oval 9">
              <a:extLst>
                <a:ext uri="{FF2B5EF4-FFF2-40B4-BE49-F238E27FC236}">
                  <a16:creationId xmlns:a16="http://schemas.microsoft.com/office/drawing/2014/main" xmlns="" id="{AA6EE0BB-6EA5-471A-AA71-91FBAF4AE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1887" y="3556550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" name="Oval 9">
              <a:extLst>
                <a:ext uri="{FF2B5EF4-FFF2-40B4-BE49-F238E27FC236}">
                  <a16:creationId xmlns:a16="http://schemas.microsoft.com/office/drawing/2014/main" xmlns="" id="{2EE8E531-3C55-42BF-AE99-5CABA8A8A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936" y="4087908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" name="Oval 9">
              <a:extLst>
                <a:ext uri="{FF2B5EF4-FFF2-40B4-BE49-F238E27FC236}">
                  <a16:creationId xmlns:a16="http://schemas.microsoft.com/office/drawing/2014/main" xmlns="" id="{6DD6B7A4-2CCD-4AF7-9E14-DED5DD477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654" y="359909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" name="Oval 9">
              <a:extLst>
                <a:ext uri="{FF2B5EF4-FFF2-40B4-BE49-F238E27FC236}">
                  <a16:creationId xmlns:a16="http://schemas.microsoft.com/office/drawing/2014/main" xmlns="" id="{D81CA508-AA1A-466B-BA45-B112B33B1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3742" y="4406911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" name="Oval 9">
              <a:extLst>
                <a:ext uri="{FF2B5EF4-FFF2-40B4-BE49-F238E27FC236}">
                  <a16:creationId xmlns:a16="http://schemas.microsoft.com/office/drawing/2014/main" xmlns="" id="{2DD59366-2F01-4E69-BABF-46AF04DA6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774" y="3274867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" name="Oval 9">
              <a:extLst>
                <a:ext uri="{FF2B5EF4-FFF2-40B4-BE49-F238E27FC236}">
                  <a16:creationId xmlns:a16="http://schemas.microsoft.com/office/drawing/2014/main" xmlns="" id="{A319EAE6-5C70-4FA0-A724-1BD98B4A8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77" y="4127736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" name="Oval 9">
              <a:extLst>
                <a:ext uri="{FF2B5EF4-FFF2-40B4-BE49-F238E27FC236}">
                  <a16:creationId xmlns:a16="http://schemas.microsoft.com/office/drawing/2014/main" xmlns="" id="{B7847AD5-1EC9-49C9-BFCC-8E221935F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2643" y="3897461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" name="Oval 9">
              <a:extLst>
                <a:ext uri="{FF2B5EF4-FFF2-40B4-BE49-F238E27FC236}">
                  <a16:creationId xmlns:a16="http://schemas.microsoft.com/office/drawing/2014/main" xmlns="" id="{71B7F693-2DB0-4098-AE1B-EB07C2303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290" y="4823544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" name="Oval 9">
              <a:extLst>
                <a:ext uri="{FF2B5EF4-FFF2-40B4-BE49-F238E27FC236}">
                  <a16:creationId xmlns:a16="http://schemas.microsoft.com/office/drawing/2014/main" xmlns="" id="{C67ACEA7-1F1F-48B0-8620-1A8043B9D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912" y="353879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4" name="Oval 9">
              <a:extLst>
                <a:ext uri="{FF2B5EF4-FFF2-40B4-BE49-F238E27FC236}">
                  <a16:creationId xmlns:a16="http://schemas.microsoft.com/office/drawing/2014/main" xmlns="" id="{DF51E217-FE52-45EA-8CAE-1B0CDF6CC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6120" y="4795786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5" name="Oval 9">
              <a:extLst>
                <a:ext uri="{FF2B5EF4-FFF2-40B4-BE49-F238E27FC236}">
                  <a16:creationId xmlns:a16="http://schemas.microsoft.com/office/drawing/2014/main" xmlns="" id="{98A3DE46-9C4E-49DD-96BE-02C366722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488" y="4586781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6" name="Oval 9">
              <a:extLst>
                <a:ext uri="{FF2B5EF4-FFF2-40B4-BE49-F238E27FC236}">
                  <a16:creationId xmlns:a16="http://schemas.microsoft.com/office/drawing/2014/main" xmlns="" id="{0C0725A9-CC3C-41F1-95AF-1228F9A84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4752" y="4750607"/>
              <a:ext cx="224510" cy="236658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" name="Oval 9">
              <a:extLst>
                <a:ext uri="{FF2B5EF4-FFF2-40B4-BE49-F238E27FC236}">
                  <a16:creationId xmlns:a16="http://schemas.microsoft.com/office/drawing/2014/main" xmlns="" id="{32C4E39D-DFA0-49E8-8E9E-7B261D83F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9334" y="387005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9" name="Oval 9">
              <a:extLst>
                <a:ext uri="{FF2B5EF4-FFF2-40B4-BE49-F238E27FC236}">
                  <a16:creationId xmlns:a16="http://schemas.microsoft.com/office/drawing/2014/main" xmlns="" id="{86399B84-C6C7-4328-9401-C868918A3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696" y="3553459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0" name="Oval 9">
              <a:extLst>
                <a:ext uri="{FF2B5EF4-FFF2-40B4-BE49-F238E27FC236}">
                  <a16:creationId xmlns:a16="http://schemas.microsoft.com/office/drawing/2014/main" xmlns="" id="{1B060140-2ADF-4C46-8965-A494D1750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1984" y="3630068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" name="Oval 9">
              <a:extLst>
                <a:ext uri="{FF2B5EF4-FFF2-40B4-BE49-F238E27FC236}">
                  <a16:creationId xmlns:a16="http://schemas.microsoft.com/office/drawing/2014/main" xmlns="" id="{66FB7261-497A-4E1A-A5A2-11758ABE9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972" y="405195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" name="Oval 9">
              <a:extLst>
                <a:ext uri="{FF2B5EF4-FFF2-40B4-BE49-F238E27FC236}">
                  <a16:creationId xmlns:a16="http://schemas.microsoft.com/office/drawing/2014/main" xmlns="" id="{CC481EBB-3754-42ED-8313-CAAD9E76F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389" y="3224176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xmlns="" id="{DA424A2F-8BFA-4835-8495-66EB11976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470" y="4248247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" name="Oval 9">
              <a:extLst>
                <a:ext uri="{FF2B5EF4-FFF2-40B4-BE49-F238E27FC236}">
                  <a16:creationId xmlns:a16="http://schemas.microsoft.com/office/drawing/2014/main" xmlns="" id="{96056C5D-9788-4C92-8159-DFAD9CC9E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802" y="3609621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5" name="Oval 9">
              <a:extLst>
                <a:ext uri="{FF2B5EF4-FFF2-40B4-BE49-F238E27FC236}">
                  <a16:creationId xmlns:a16="http://schemas.microsoft.com/office/drawing/2014/main" xmlns="" id="{61FA1C68-9AAC-4064-9A67-74088272C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5108" y="4625874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6" name="Oval 9">
              <a:extLst>
                <a:ext uri="{FF2B5EF4-FFF2-40B4-BE49-F238E27FC236}">
                  <a16:creationId xmlns:a16="http://schemas.microsoft.com/office/drawing/2014/main" xmlns="" id="{7740694D-7325-44D8-BD91-AA26528C2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8717" y="3306242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7" name="Oval 9">
              <a:extLst>
                <a:ext uri="{FF2B5EF4-FFF2-40B4-BE49-F238E27FC236}">
                  <a16:creationId xmlns:a16="http://schemas.microsoft.com/office/drawing/2014/main" xmlns="" id="{F99C2DAE-80BA-4755-AAFC-B8E1CF5D7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274" y="4795786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8" name="Oval 9">
              <a:extLst>
                <a:ext uri="{FF2B5EF4-FFF2-40B4-BE49-F238E27FC236}">
                  <a16:creationId xmlns:a16="http://schemas.microsoft.com/office/drawing/2014/main" xmlns="" id="{868A2017-C5BA-4430-A5A3-C07CA61B2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2505" y="4347739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" name="Oval 9">
              <a:extLst>
                <a:ext uri="{FF2B5EF4-FFF2-40B4-BE49-F238E27FC236}">
                  <a16:creationId xmlns:a16="http://schemas.microsoft.com/office/drawing/2014/main" xmlns="" id="{A74D70AC-0E21-42D1-A191-0BD47EF4C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4358" y="471244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xmlns="" id="{05726AF9-0AF6-42BB-868F-27C7C5355910}"/>
                </a:ext>
              </a:extLst>
            </p:cNvPr>
            <p:cNvCxnSpPr>
              <a:cxnSpLocks/>
            </p:cNvCxnSpPr>
            <p:nvPr/>
          </p:nvCxnSpPr>
          <p:spPr>
            <a:xfrm>
              <a:off x="3258830" y="1785879"/>
              <a:ext cx="7226" cy="138922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xmlns="" id="{9845628A-5845-441F-9572-2CFE20E5F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8829" y="3172543"/>
              <a:ext cx="2130945" cy="220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xmlns="" id="{D143F91A-5BBC-4740-AC4B-FA502B837DA7}"/>
                </a:ext>
              </a:extLst>
            </p:cNvPr>
            <p:cNvSpPr txBox="1"/>
            <p:nvPr/>
          </p:nvSpPr>
          <p:spPr>
            <a:xfrm>
              <a:off x="1316518" y="5060602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AB56CE28-26BD-4BCC-9ED6-595BAF6B8F37}"/>
                </a:ext>
              </a:extLst>
            </p:cNvPr>
            <p:cNvSpPr txBox="1"/>
            <p:nvPr/>
          </p:nvSpPr>
          <p:spPr>
            <a:xfrm>
              <a:off x="2081428" y="5059487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04ED394A-9F2B-4FD4-A106-B26FE516A992}"/>
                </a:ext>
              </a:extLst>
            </p:cNvPr>
            <p:cNvSpPr txBox="1"/>
            <p:nvPr/>
          </p:nvSpPr>
          <p:spPr>
            <a:xfrm>
              <a:off x="2718603" y="5065211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3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AAFCCD37-88A1-4DAF-B87E-CF347630C4DE}"/>
                </a:ext>
              </a:extLst>
            </p:cNvPr>
            <p:cNvSpPr txBox="1"/>
            <p:nvPr/>
          </p:nvSpPr>
          <p:spPr>
            <a:xfrm>
              <a:off x="3548031" y="5061679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4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317A4528-D1A4-4081-AF9C-8239E25E790D}"/>
                </a:ext>
              </a:extLst>
            </p:cNvPr>
            <p:cNvSpPr txBox="1"/>
            <p:nvPr/>
          </p:nvSpPr>
          <p:spPr>
            <a:xfrm>
              <a:off x="4276219" y="5056830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5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B55FF2CF-8B11-48AF-B724-F543FB48FFD1}"/>
                </a:ext>
              </a:extLst>
            </p:cNvPr>
            <p:cNvSpPr txBox="1"/>
            <p:nvPr/>
          </p:nvSpPr>
          <p:spPr>
            <a:xfrm>
              <a:off x="5007251" y="5068280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6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xmlns="" id="{923B58FD-20B0-45CA-A0C2-49362A5E9902}"/>
                </a:ext>
              </a:extLst>
            </p:cNvPr>
            <p:cNvCxnSpPr>
              <a:cxnSpLocks/>
            </p:cNvCxnSpPr>
            <p:nvPr/>
          </p:nvCxnSpPr>
          <p:spPr>
            <a:xfrm>
              <a:off x="3251653" y="3874184"/>
              <a:ext cx="6998" cy="125709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xmlns="" id="{CDFC44C4-99B1-487E-A8D5-F055EAC577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467" y="3866950"/>
              <a:ext cx="2422385" cy="1446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152B75DB-00DB-4465-8D82-53CB8B300074}"/>
                </a:ext>
              </a:extLst>
            </p:cNvPr>
            <p:cNvSpPr txBox="1"/>
            <p:nvPr/>
          </p:nvSpPr>
          <p:spPr>
            <a:xfrm>
              <a:off x="440263" y="4300875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xmlns="" id="{33B2933F-96EA-4F05-9558-04DA6C1219DF}"/>
                </a:ext>
              </a:extLst>
            </p:cNvPr>
            <p:cNvSpPr txBox="1"/>
            <p:nvPr/>
          </p:nvSpPr>
          <p:spPr>
            <a:xfrm>
              <a:off x="423060" y="3677734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2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xmlns="" id="{EF31D3B9-B507-4FA1-B4BA-DF276E8E873F}"/>
                </a:ext>
              </a:extLst>
            </p:cNvPr>
            <p:cNvSpPr txBox="1"/>
            <p:nvPr/>
          </p:nvSpPr>
          <p:spPr>
            <a:xfrm>
              <a:off x="444681" y="3007771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3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829F0D6A-933D-4782-B00D-F87A2F5462C4}"/>
                </a:ext>
              </a:extLst>
            </p:cNvPr>
            <p:cNvSpPr txBox="1"/>
            <p:nvPr/>
          </p:nvSpPr>
          <p:spPr>
            <a:xfrm>
              <a:off x="423542" y="2353947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4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xmlns="" id="{61917557-CAF5-4F69-AFFC-C2984C3A14A6}"/>
                </a:ext>
              </a:extLst>
            </p:cNvPr>
            <p:cNvSpPr txBox="1"/>
            <p:nvPr/>
          </p:nvSpPr>
          <p:spPr>
            <a:xfrm>
              <a:off x="494815" y="1627455"/>
              <a:ext cx="346593" cy="3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5</a:t>
              </a:r>
            </a:p>
          </p:txBody>
        </p:sp>
        <p:sp>
          <p:nvSpPr>
            <p:cNvPr id="75" name="Flowchart: Decision 74">
              <a:extLst>
                <a:ext uri="{FF2B5EF4-FFF2-40B4-BE49-F238E27FC236}">
                  <a16:creationId xmlns:a16="http://schemas.microsoft.com/office/drawing/2014/main" xmlns="" id="{CAFE54D1-CB85-4694-BBB4-654C41E853CE}"/>
                </a:ext>
              </a:extLst>
            </p:cNvPr>
            <p:cNvSpPr/>
            <p:nvPr/>
          </p:nvSpPr>
          <p:spPr>
            <a:xfrm>
              <a:off x="8408666" y="1842621"/>
              <a:ext cx="998290" cy="821500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="" xmlns:a16="http://schemas.microsoft.com/office/drawing/2014/main" id="{7523D3C7-AE27-4B7A-BF84-1A11DD998F42}"/>
                    </a:ext>
                  </a:extLst>
                </p:cNvPr>
                <p:cNvSpPr txBox="1"/>
                <p:nvPr/>
              </p:nvSpPr>
              <p:spPr>
                <a:xfrm>
                  <a:off x="2362152" y="5463858"/>
                  <a:ext cx="1832355" cy="26042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IN" sz="1200" b="0" dirty="0"/>
                    <a:t>Feature 1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2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3F2A3B55-3D04-4484-8426-33906C5DAE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2152" y="5463858"/>
                  <a:ext cx="1832355" cy="260428"/>
                </a:xfrm>
                <a:prstGeom prst="rect">
                  <a:avLst/>
                </a:prstGeom>
                <a:blipFill>
                  <a:blip r:embed="rId3" cstate="print"/>
                  <a:stretch>
                    <a:fillRect l="-9091" t="-26667" b="-5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="" xmlns:a16="http://schemas.microsoft.com/office/drawing/2014/main" id="{7014416E-28C8-4DA7-98D0-A299907DC125}"/>
                    </a:ext>
                  </a:extLst>
                </p:cNvPr>
                <p:cNvSpPr txBox="1"/>
                <p:nvPr/>
              </p:nvSpPr>
              <p:spPr>
                <a:xfrm rot="16200000">
                  <a:off x="-341043" y="3222428"/>
                  <a:ext cx="1489576" cy="3155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IN" sz="1200" b="0" dirty="0"/>
                    <a:t>Feature 2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2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3" name="TextBox 69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E45C1CBA-F436-4678-B330-CB205A0DC3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341043" y="3222428"/>
                  <a:ext cx="1489576" cy="315510"/>
                </a:xfrm>
                <a:prstGeom prst="rect">
                  <a:avLst/>
                </a:prstGeom>
                <a:blipFill>
                  <a:blip r:embed="rId4" cstate="print"/>
                  <a:stretch>
                    <a:fillRect l="-26667" r="-50000" b="-924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="" xmlns:a16="http://schemas.microsoft.com/office/drawing/2014/main" id="{C69887C1-2100-47CA-9CB3-B58634205361}"/>
                    </a:ext>
                  </a:extLst>
                </p:cNvPr>
                <p:cNvSpPr txBox="1"/>
                <p:nvPr/>
              </p:nvSpPr>
              <p:spPr>
                <a:xfrm>
                  <a:off x="8531748" y="2136381"/>
                  <a:ext cx="775189" cy="1736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8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IN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800" b="0" i="1" smtClean="0">
                            <a:latin typeface="Cambria Math" panose="02040503050406030204" pitchFamily="18" charset="0"/>
                          </a:rPr>
                          <m:t>&gt;3.5 ?</m:t>
                        </m:r>
                      </m:oMath>
                    </m:oMathPara>
                  </a14:m>
                  <a:endParaRPr lang="en-IN" sz="800" dirty="0"/>
                </a:p>
              </p:txBody>
            </p:sp>
          </mc:Choice>
          <mc:Fallback xmlns="">
            <p:sp>
              <p:nvSpPr>
                <p:cNvPr id="76" name="TextBox 5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3459064D-14AB-4ED6-BFC6-D5D71B4327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1748" y="2136381"/>
                  <a:ext cx="775189" cy="17361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2703" r="-5405" b="-2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Flowchart: Decision 78">
              <a:extLst>
                <a:ext uri="{FF2B5EF4-FFF2-40B4-BE49-F238E27FC236}">
                  <a16:creationId xmlns:a16="http://schemas.microsoft.com/office/drawing/2014/main" xmlns="" id="{87933081-9DF4-421B-8D63-4A91A6ACEE14}"/>
                </a:ext>
              </a:extLst>
            </p:cNvPr>
            <p:cNvSpPr/>
            <p:nvPr/>
          </p:nvSpPr>
          <p:spPr>
            <a:xfrm>
              <a:off x="9952591" y="2735050"/>
              <a:ext cx="998290" cy="821500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="" xmlns:a16="http://schemas.microsoft.com/office/drawing/2014/main" id="{C37E2736-951E-47EA-BB9C-4F3EFC55EC4C}"/>
                    </a:ext>
                  </a:extLst>
                </p:cNvPr>
                <p:cNvSpPr txBox="1"/>
                <p:nvPr/>
              </p:nvSpPr>
              <p:spPr>
                <a:xfrm>
                  <a:off x="10119539" y="3020729"/>
                  <a:ext cx="647780" cy="1736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8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IN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800" b="0" i="1" smtClean="0">
                            <a:latin typeface="Cambria Math" panose="02040503050406030204" pitchFamily="18" charset="0"/>
                          </a:rPr>
                          <m:t>&gt;3 ?</m:t>
                        </m:r>
                      </m:oMath>
                    </m:oMathPara>
                  </a14:m>
                  <a:endParaRPr lang="en-IN" sz="800" dirty="0"/>
                </a:p>
              </p:txBody>
            </p:sp>
          </mc:Choice>
          <mc:Fallback xmlns="">
            <p:sp>
              <p:nvSpPr>
                <p:cNvPr id="77" name="TextBox 72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A0D481F5-804E-497D-AB4F-A79B0280E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9539" y="3020729"/>
                  <a:ext cx="647780" cy="173619"/>
                </a:xfrm>
                <a:prstGeom prst="rect">
                  <a:avLst/>
                </a:prstGeom>
                <a:blipFill>
                  <a:blip r:embed="rId6" cstate="print"/>
                  <a:stretch>
                    <a:fillRect l="-3175" r="-4762" b="-2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xmlns="" id="{915AA2AE-2192-4083-AC71-4B61584F5578}"/>
                </a:ext>
              </a:extLst>
            </p:cNvPr>
            <p:cNvSpPr/>
            <p:nvPr/>
          </p:nvSpPr>
          <p:spPr>
            <a:xfrm>
              <a:off x="10916024" y="4028798"/>
              <a:ext cx="998290" cy="596013"/>
            </a:xfrm>
            <a:prstGeom prst="roundRect">
              <a:avLst/>
            </a:prstGeom>
            <a:solidFill>
              <a:srgbClr val="FF0000">
                <a:alpha val="36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>
                  <a:solidFill>
                    <a:schemeClr val="tx1"/>
                  </a:solidFill>
                </a:rPr>
                <a:t>Predict Red</a:t>
              </a:r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xmlns="" id="{DF0A476E-C6C4-4088-AD04-9215DF6584A5}"/>
                </a:ext>
              </a:extLst>
            </p:cNvPr>
            <p:cNvSpPr/>
            <p:nvPr/>
          </p:nvSpPr>
          <p:spPr>
            <a:xfrm>
              <a:off x="9046294" y="4029861"/>
              <a:ext cx="998290" cy="596013"/>
            </a:xfrm>
            <a:prstGeom prst="roundRect">
              <a:avLst/>
            </a:prstGeom>
            <a:solidFill>
              <a:srgbClr val="00B050">
                <a:alpha val="36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>
                  <a:solidFill>
                    <a:schemeClr val="tx1"/>
                  </a:solidFill>
                </a:rPr>
                <a:t>Predict Green</a:t>
              </a:r>
            </a:p>
          </p:txBody>
        </p: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xmlns="" id="{D93D961D-ED1E-4A92-A599-42A74E01B9F3}"/>
                </a:ext>
              </a:extLst>
            </p:cNvPr>
            <p:cNvCxnSpPr>
              <a:stCxn id="75" idx="3"/>
              <a:endCxn id="79" idx="0"/>
            </p:cNvCxnSpPr>
            <p:nvPr/>
          </p:nvCxnSpPr>
          <p:spPr>
            <a:xfrm>
              <a:off x="9406956" y="2253371"/>
              <a:ext cx="1044780" cy="481679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: Elbow 83">
              <a:extLst>
                <a:ext uri="{FF2B5EF4-FFF2-40B4-BE49-F238E27FC236}">
                  <a16:creationId xmlns:a16="http://schemas.microsoft.com/office/drawing/2014/main" xmlns="" id="{FE117570-40BA-44EF-9FA1-38E6334DCAE5}"/>
                </a:ext>
              </a:extLst>
            </p:cNvPr>
            <p:cNvCxnSpPr>
              <a:cxnSpLocks/>
              <a:stCxn id="79" idx="3"/>
              <a:endCxn id="81" idx="0"/>
            </p:cNvCxnSpPr>
            <p:nvPr/>
          </p:nvCxnSpPr>
          <p:spPr>
            <a:xfrm>
              <a:off x="10950881" y="3145800"/>
              <a:ext cx="464288" cy="882998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xmlns="" id="{2D873F58-ED7E-4284-9206-407947375B05}"/>
                </a:ext>
              </a:extLst>
            </p:cNvPr>
            <p:cNvCxnSpPr>
              <a:cxnSpLocks/>
              <a:stCxn id="79" idx="1"/>
              <a:endCxn id="82" idx="0"/>
            </p:cNvCxnSpPr>
            <p:nvPr/>
          </p:nvCxnSpPr>
          <p:spPr>
            <a:xfrm rot="10800000" flipV="1">
              <a:off x="9545439" y="3145799"/>
              <a:ext cx="407152" cy="884061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Flowchart: Decision 85">
              <a:extLst>
                <a:ext uri="{FF2B5EF4-FFF2-40B4-BE49-F238E27FC236}">
                  <a16:creationId xmlns:a16="http://schemas.microsoft.com/office/drawing/2014/main" xmlns="" id="{1245BF84-A0C9-4EBB-97CD-8102465774C5}"/>
                </a:ext>
              </a:extLst>
            </p:cNvPr>
            <p:cNvSpPr/>
            <p:nvPr/>
          </p:nvSpPr>
          <p:spPr>
            <a:xfrm>
              <a:off x="6797639" y="2758207"/>
              <a:ext cx="998290" cy="821500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="" xmlns:a16="http://schemas.microsoft.com/office/drawing/2014/main" id="{EA1D276E-A036-4BB8-8334-30EB09DB1B24}"/>
                    </a:ext>
                  </a:extLst>
                </p:cNvPr>
                <p:cNvSpPr txBox="1"/>
                <p:nvPr/>
              </p:nvSpPr>
              <p:spPr>
                <a:xfrm>
                  <a:off x="6964586" y="3043885"/>
                  <a:ext cx="647780" cy="1736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8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IN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800" b="0" i="1" smtClean="0">
                            <a:latin typeface="Cambria Math" panose="02040503050406030204" pitchFamily="18" charset="0"/>
                          </a:rPr>
                          <m:t>&gt;2 ?</m:t>
                        </m:r>
                      </m:oMath>
                    </m:oMathPara>
                  </a14:m>
                  <a:endParaRPr lang="en-IN" sz="8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9AC9C284-F488-4015-BEF3-1BE114A3C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4586" y="3043885"/>
                  <a:ext cx="647780" cy="173619"/>
                </a:xfrm>
                <a:prstGeom prst="rect">
                  <a:avLst/>
                </a:prstGeom>
                <a:blipFill>
                  <a:blip r:embed="rId7" cstate="print"/>
                  <a:stretch>
                    <a:fillRect l="-4839" r="-6452" b="-2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xmlns="" id="{FC543A2F-ACAA-4DB6-A978-375BC46C13D7}"/>
                </a:ext>
              </a:extLst>
            </p:cNvPr>
            <p:cNvSpPr/>
            <p:nvPr/>
          </p:nvSpPr>
          <p:spPr>
            <a:xfrm>
              <a:off x="7761072" y="4051955"/>
              <a:ext cx="998290" cy="596013"/>
            </a:xfrm>
            <a:prstGeom prst="roundRect">
              <a:avLst/>
            </a:prstGeom>
            <a:solidFill>
              <a:srgbClr val="00B050">
                <a:alpha val="36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>
                  <a:solidFill>
                    <a:schemeClr val="tx1"/>
                  </a:solidFill>
                </a:rPr>
                <a:t>Predict Green</a:t>
              </a:r>
            </a:p>
          </p:txBody>
        </p:sp>
        <p:sp>
          <p:nvSpPr>
            <p:cNvPr id="3" name="Rectangle: Rounded Corners 88">
              <a:extLst>
                <a:ext uri="{FF2B5EF4-FFF2-40B4-BE49-F238E27FC236}">
                  <a16:creationId xmlns:a16="http://schemas.microsoft.com/office/drawing/2014/main" xmlns="" id="{F2477077-D866-4E46-8912-96286578A131}"/>
                </a:ext>
              </a:extLst>
            </p:cNvPr>
            <p:cNvSpPr/>
            <p:nvPr/>
          </p:nvSpPr>
          <p:spPr>
            <a:xfrm>
              <a:off x="5891342" y="4053018"/>
              <a:ext cx="998290" cy="596013"/>
            </a:xfrm>
            <a:prstGeom prst="roundRect">
              <a:avLst/>
            </a:prstGeom>
            <a:solidFill>
              <a:srgbClr val="FF0000">
                <a:alpha val="36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>
                  <a:solidFill>
                    <a:schemeClr val="tx1"/>
                  </a:solidFill>
                </a:rPr>
                <a:t>Predict Red</a:t>
              </a:r>
            </a:p>
          </p:txBody>
        </p:sp>
        <p:cxnSp>
          <p:nvCxnSpPr>
            <p:cNvPr id="90" name="Connector: Elbow 89">
              <a:extLst>
                <a:ext uri="{FF2B5EF4-FFF2-40B4-BE49-F238E27FC236}">
                  <a16:creationId xmlns:a16="http://schemas.microsoft.com/office/drawing/2014/main" xmlns="" id="{9D2D079B-C977-4491-B44B-E7006C7682DE}"/>
                </a:ext>
              </a:extLst>
            </p:cNvPr>
            <p:cNvCxnSpPr>
              <a:cxnSpLocks/>
              <a:stCxn id="86" idx="3"/>
              <a:endCxn id="88" idx="0"/>
            </p:cNvCxnSpPr>
            <p:nvPr/>
          </p:nvCxnSpPr>
          <p:spPr>
            <a:xfrm>
              <a:off x="7795929" y="3168957"/>
              <a:ext cx="464288" cy="882998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: Elbow 90">
              <a:extLst>
                <a:ext uri="{FF2B5EF4-FFF2-40B4-BE49-F238E27FC236}">
                  <a16:creationId xmlns:a16="http://schemas.microsoft.com/office/drawing/2014/main" xmlns="" id="{0DF65B7E-0D21-47D6-8A83-729AA7B997BD}"/>
                </a:ext>
              </a:extLst>
            </p:cNvPr>
            <p:cNvCxnSpPr>
              <a:cxnSpLocks/>
              <a:stCxn id="86" idx="1"/>
              <a:endCxn id="89" idx="0"/>
            </p:cNvCxnSpPr>
            <p:nvPr/>
          </p:nvCxnSpPr>
          <p:spPr>
            <a:xfrm rot="10800000" flipV="1">
              <a:off x="6390487" y="3168956"/>
              <a:ext cx="407152" cy="884061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: Elbow 91">
              <a:extLst>
                <a:ext uri="{FF2B5EF4-FFF2-40B4-BE49-F238E27FC236}">
                  <a16:creationId xmlns:a16="http://schemas.microsoft.com/office/drawing/2014/main" xmlns="" id="{F45594CF-45E1-4264-9C52-025A6AA7FEAD}"/>
                </a:ext>
              </a:extLst>
            </p:cNvPr>
            <p:cNvCxnSpPr>
              <a:cxnSpLocks/>
              <a:stCxn id="75" idx="1"/>
              <a:endCxn id="86" idx="0"/>
            </p:cNvCxnSpPr>
            <p:nvPr/>
          </p:nvCxnSpPr>
          <p:spPr>
            <a:xfrm rot="10800000" flipV="1">
              <a:off x="7296784" y="2253371"/>
              <a:ext cx="1111882" cy="504836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xmlns="" id="{8D8079E9-2E9D-4207-93A4-A20AE4B2E4AA}"/>
                </a:ext>
              </a:extLst>
            </p:cNvPr>
            <p:cNvSpPr txBox="1"/>
            <p:nvPr/>
          </p:nvSpPr>
          <p:spPr>
            <a:xfrm>
              <a:off x="7620887" y="1884039"/>
              <a:ext cx="603085" cy="3472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/>
                <a:t>NO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xmlns="" id="{3156840F-D50A-4B96-82A8-1C6BC575BC49}"/>
                </a:ext>
              </a:extLst>
            </p:cNvPr>
            <p:cNvSpPr txBox="1"/>
            <p:nvPr/>
          </p:nvSpPr>
          <p:spPr>
            <a:xfrm>
              <a:off x="9673025" y="1884039"/>
              <a:ext cx="597607" cy="3255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900" dirty="0"/>
                <a:t>YES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xmlns="" id="{2737DA7A-FF5D-45F6-9EAB-63C35645D544}"/>
                </a:ext>
              </a:extLst>
            </p:cNvPr>
            <p:cNvSpPr txBox="1"/>
            <p:nvPr/>
          </p:nvSpPr>
          <p:spPr>
            <a:xfrm>
              <a:off x="6342722" y="2837266"/>
              <a:ext cx="572956" cy="3255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900" dirty="0"/>
                <a:t>NO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xmlns="" id="{BFEB6600-C1D4-4561-B294-931CCEC11935}"/>
                </a:ext>
              </a:extLst>
            </p:cNvPr>
            <p:cNvSpPr txBox="1"/>
            <p:nvPr/>
          </p:nvSpPr>
          <p:spPr>
            <a:xfrm>
              <a:off x="7747575" y="2819749"/>
              <a:ext cx="597607" cy="3255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900" dirty="0"/>
                <a:t>YES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xmlns="" id="{0B3CBA6E-9FE5-49F9-870A-76E0875E6E6C}"/>
                </a:ext>
              </a:extLst>
            </p:cNvPr>
            <p:cNvSpPr txBox="1"/>
            <p:nvPr/>
          </p:nvSpPr>
          <p:spPr>
            <a:xfrm>
              <a:off x="10884453" y="2811469"/>
              <a:ext cx="597607" cy="3255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900" dirty="0"/>
                <a:t>YES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xmlns="" id="{8B3458CA-F039-49A5-8FC2-E9401DFB94D4}"/>
                </a:ext>
              </a:extLst>
            </p:cNvPr>
            <p:cNvSpPr txBox="1"/>
            <p:nvPr/>
          </p:nvSpPr>
          <p:spPr>
            <a:xfrm>
              <a:off x="9517049" y="2819477"/>
              <a:ext cx="572956" cy="3255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900" dirty="0"/>
                <a:t>NO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xmlns="" id="{515073AC-E431-474B-A346-8951CF31117E}"/>
                </a:ext>
              </a:extLst>
            </p:cNvPr>
            <p:cNvSpPr/>
            <p:nvPr/>
          </p:nvSpPr>
          <p:spPr>
            <a:xfrm>
              <a:off x="857298" y="3905905"/>
              <a:ext cx="2386554" cy="1202527"/>
            </a:xfrm>
            <a:prstGeom prst="rect">
              <a:avLst/>
            </a:prstGeom>
            <a:solidFill>
              <a:srgbClr val="FF00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0" name="Oval 9">
              <a:extLst>
                <a:ext uri="{FF2B5EF4-FFF2-40B4-BE49-F238E27FC236}">
                  <a16:creationId xmlns:a16="http://schemas.microsoft.com/office/drawing/2014/main" xmlns="" id="{A19D9BB8-19D1-4753-972E-E8421E23B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5027" y="2486895"/>
              <a:ext cx="224510" cy="236658"/>
            </a:xfrm>
            <a:prstGeom prst="ellipse">
              <a:avLst/>
            </a:prstGeom>
            <a:solidFill>
              <a:schemeClr val="tx1"/>
            </a:solidFill>
            <a:ln w="9525" cap="flat">
              <a:solidFill>
                <a:srgbClr val="FF33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1" name="Oval 9">
              <a:extLst>
                <a:ext uri="{FF2B5EF4-FFF2-40B4-BE49-F238E27FC236}">
                  <a16:creationId xmlns:a16="http://schemas.microsoft.com/office/drawing/2014/main" xmlns="" id="{04031E98-AC8B-46AC-A8B8-1146757F8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5027" y="2486895"/>
              <a:ext cx="224510" cy="236658"/>
            </a:xfrm>
            <a:prstGeom prst="ellipse">
              <a:avLst/>
            </a:prstGeom>
            <a:solidFill>
              <a:srgbClr val="00B050"/>
            </a:solidFill>
            <a:ln w="9525" cap="flat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2C1D546A-C23B-4888-979C-EF2715EEB45E}"/>
                </a:ext>
              </a:extLst>
            </p:cNvPr>
            <p:cNvSpPr/>
            <p:nvPr/>
          </p:nvSpPr>
          <p:spPr>
            <a:xfrm>
              <a:off x="852598" y="1785879"/>
              <a:ext cx="4537099" cy="3322553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solidFill>
                <a:schemeClr val="bg1">
                  <a:lumMod val="85000"/>
                  <a:alpha val="9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02" name="Speech Bubble: Rectangle 101">
            <a:extLst>
              <a:ext uri="{FF2B5EF4-FFF2-40B4-BE49-F238E27FC236}">
                <a16:creationId xmlns:a16="http://schemas.microsoft.com/office/drawing/2014/main" xmlns="" id="{71E8F54D-1705-43D9-B3E9-DA93946C28C8}"/>
              </a:ext>
            </a:extLst>
          </p:cNvPr>
          <p:cNvSpPr/>
          <p:nvPr/>
        </p:nvSpPr>
        <p:spPr>
          <a:xfrm>
            <a:off x="9914487" y="4292273"/>
            <a:ext cx="1835852" cy="575910"/>
          </a:xfrm>
          <a:prstGeom prst="wedgeRectCallout">
            <a:avLst>
              <a:gd name="adj1" fmla="val 6433"/>
              <a:gd name="adj2" fmla="val 90821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Human-body pose estimation</a:t>
            </a:r>
            <a:endParaRPr lang="en-IN" sz="20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103" name="Speech Bubble: Rectangle 102">
            <a:extLst>
              <a:ext uri="{FF2B5EF4-FFF2-40B4-BE49-F238E27FC236}">
                <a16:creationId xmlns:a16="http://schemas.microsoft.com/office/drawing/2014/main" xmlns="" id="{999E57CE-A7F3-4CBD-B1C6-400B8D41B42A}"/>
              </a:ext>
            </a:extLst>
          </p:cNvPr>
          <p:cNvSpPr/>
          <p:nvPr/>
        </p:nvSpPr>
        <p:spPr>
          <a:xfrm>
            <a:off x="4516246" y="895537"/>
            <a:ext cx="4208233" cy="575910"/>
          </a:xfrm>
          <a:prstGeom prst="wedgeRectCallout">
            <a:avLst>
              <a:gd name="adj1" fmla="val -49276"/>
              <a:gd name="adj2" fmla="val 131608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.. thus helping us learn complex rule as a combination of several simpler rules</a:t>
            </a:r>
            <a:endParaRPr lang="en-IN" sz="20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780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696"/>
    </mc:Choice>
    <mc:Fallback xmlns="">
      <p:transition spd="slow" advTm="1996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843751" y="-96746"/>
            <a:ext cx="5181601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/>
              <a:t>Key </a:t>
            </a:r>
            <a:r>
              <a:rPr lang="en-US" sz="1100" b="1" dirty="0" err="1"/>
              <a:t>Hyperparameters</a:t>
            </a:r>
            <a:endParaRPr lang="en-US" sz="1100" b="1" dirty="0"/>
          </a:p>
          <a:p>
            <a:r>
              <a:rPr lang="en-US" sz="1100" b="1" dirty="0"/>
              <a:t>1. criterion</a:t>
            </a:r>
          </a:p>
          <a:p>
            <a:pPr>
              <a:buFont typeface="Arial" charset="0"/>
              <a:buChar char="•"/>
            </a:pPr>
            <a:r>
              <a:rPr lang="en-US" sz="1100" b="1" dirty="0"/>
              <a:t>What it does:</a:t>
            </a:r>
            <a:r>
              <a:rPr lang="en-US" sz="1100" dirty="0"/>
              <a:t> Chooses the function to measure the quality of a split.</a:t>
            </a:r>
          </a:p>
          <a:p>
            <a:pPr>
              <a:buFont typeface="Arial" charset="0"/>
              <a:buChar char="•"/>
            </a:pPr>
            <a:r>
              <a:rPr lang="en-US" sz="1100" b="1" dirty="0"/>
              <a:t>Options:</a:t>
            </a:r>
            <a:endParaRPr lang="en-US" sz="1100" dirty="0"/>
          </a:p>
          <a:p>
            <a:pPr marL="742950" lvl="1" indent="-285750">
              <a:buFont typeface="Arial" charset="0"/>
              <a:buChar char="•"/>
            </a:pPr>
            <a:r>
              <a:rPr lang="en-US" sz="1100" dirty="0"/>
              <a:t>"</a:t>
            </a:r>
            <a:r>
              <a:rPr lang="en-US" sz="1100" dirty="0" err="1"/>
              <a:t>gini</a:t>
            </a:r>
            <a:r>
              <a:rPr lang="en-US" sz="1100" dirty="0"/>
              <a:t>" (default) — Uses </a:t>
            </a:r>
            <a:r>
              <a:rPr lang="en-US" sz="1100" b="1" dirty="0"/>
              <a:t>Gini Impurity</a:t>
            </a:r>
            <a:r>
              <a:rPr lang="en-US" sz="1100" dirty="0"/>
              <a:t>.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1100" dirty="0"/>
              <a:t>"entropy" — Uses </a:t>
            </a:r>
            <a:r>
              <a:rPr lang="en-US" sz="1100" b="1" dirty="0"/>
              <a:t>Entropy</a:t>
            </a:r>
            <a:r>
              <a:rPr lang="en-US" sz="1100" dirty="0"/>
              <a:t> (from Information Gain).</a:t>
            </a:r>
          </a:p>
          <a:p>
            <a:pPr>
              <a:buFont typeface="Arial" charset="0"/>
              <a:buChar char="•"/>
            </a:pPr>
            <a:r>
              <a:rPr lang="en-US" sz="1100" b="1" dirty="0"/>
              <a:t>Impact:</a:t>
            </a:r>
            <a:r>
              <a:rPr lang="en-US" sz="1100" dirty="0"/>
              <a:t> Affects how the tree decides where to split.</a:t>
            </a:r>
          </a:p>
          <a:p>
            <a:r>
              <a:rPr lang="en-US" sz="1100" b="1" dirty="0"/>
              <a:t>2. </a:t>
            </a:r>
            <a:r>
              <a:rPr lang="en-US" sz="1100" b="1" dirty="0" err="1"/>
              <a:t>max_depth</a:t>
            </a:r>
            <a:endParaRPr lang="en-US" sz="1100" b="1" dirty="0"/>
          </a:p>
          <a:p>
            <a:pPr>
              <a:buFont typeface="Arial" charset="0"/>
              <a:buChar char="•"/>
            </a:pPr>
            <a:r>
              <a:rPr lang="en-US" sz="1100" b="1" dirty="0"/>
              <a:t>What it does:</a:t>
            </a:r>
            <a:r>
              <a:rPr lang="en-US" sz="1100" dirty="0"/>
              <a:t> Sets the maximum depth of the tree.</a:t>
            </a:r>
          </a:p>
          <a:p>
            <a:pPr>
              <a:buFont typeface="Arial" charset="0"/>
              <a:buChar char="•"/>
            </a:pPr>
            <a:r>
              <a:rPr lang="en-US" sz="1100" b="1" dirty="0"/>
              <a:t>Impact:</a:t>
            </a:r>
            <a:r>
              <a:rPr lang="en-US" sz="1100" dirty="0"/>
              <a:t> Controls </a:t>
            </a:r>
            <a:r>
              <a:rPr lang="en-US" sz="1100" b="1" dirty="0"/>
              <a:t>overfitting</a:t>
            </a:r>
            <a:r>
              <a:rPr lang="en-US" sz="1100" dirty="0"/>
              <a:t> (deep trees may </a:t>
            </a:r>
            <a:r>
              <a:rPr lang="en-US" sz="1100" dirty="0" err="1"/>
              <a:t>overfit</a:t>
            </a:r>
            <a:r>
              <a:rPr lang="en-US" sz="1100" dirty="0"/>
              <a:t>) and </a:t>
            </a:r>
            <a:r>
              <a:rPr lang="en-US" sz="1100" b="1" dirty="0" err="1"/>
              <a:t>underfitting</a:t>
            </a:r>
            <a:r>
              <a:rPr lang="en-US" sz="1100" dirty="0"/>
              <a:t> (shallow trees may </a:t>
            </a:r>
            <a:r>
              <a:rPr lang="en-US" sz="1100" dirty="0" err="1"/>
              <a:t>underfit</a:t>
            </a:r>
            <a:r>
              <a:rPr lang="en-US" sz="1100" dirty="0"/>
              <a:t>).</a:t>
            </a:r>
          </a:p>
          <a:p>
            <a:r>
              <a:rPr lang="en-US" sz="1100" b="1" dirty="0"/>
              <a:t>3. </a:t>
            </a:r>
            <a:r>
              <a:rPr lang="en-US" sz="1100" b="1" dirty="0" err="1"/>
              <a:t>min_samples_split</a:t>
            </a:r>
            <a:endParaRPr lang="en-US" sz="1100" b="1" dirty="0"/>
          </a:p>
          <a:p>
            <a:pPr>
              <a:buFont typeface="Arial" charset="0"/>
              <a:buChar char="•"/>
            </a:pPr>
            <a:r>
              <a:rPr lang="en-US" sz="1100" b="1" dirty="0"/>
              <a:t>What it does:</a:t>
            </a:r>
            <a:r>
              <a:rPr lang="en-US" sz="1100" dirty="0"/>
              <a:t> Minimum number of samples required to split an internal node.</a:t>
            </a:r>
          </a:p>
          <a:p>
            <a:pPr>
              <a:buFont typeface="Arial" charset="0"/>
              <a:buChar char="•"/>
            </a:pPr>
            <a:r>
              <a:rPr lang="en-US" sz="1100" b="1" dirty="0"/>
              <a:t>Default:</a:t>
            </a:r>
            <a:r>
              <a:rPr lang="en-US" sz="1100" dirty="0"/>
              <a:t> 2</a:t>
            </a:r>
          </a:p>
          <a:p>
            <a:pPr>
              <a:buFont typeface="Arial" charset="0"/>
              <a:buChar char="•"/>
            </a:pPr>
            <a:r>
              <a:rPr lang="en-US" sz="1100" b="1" dirty="0"/>
              <a:t>Impact:</a:t>
            </a:r>
            <a:r>
              <a:rPr lang="en-US" sz="1100" dirty="0"/>
              <a:t> Higher values = less splits = simpler tree.</a:t>
            </a:r>
          </a:p>
          <a:p>
            <a:r>
              <a:rPr lang="en-US" sz="1100" b="1" dirty="0"/>
              <a:t>4. </a:t>
            </a:r>
            <a:r>
              <a:rPr lang="en-US" sz="1100" b="1" dirty="0" err="1"/>
              <a:t>min_samples_leaf</a:t>
            </a:r>
            <a:endParaRPr lang="en-US" sz="1100" b="1" dirty="0"/>
          </a:p>
          <a:p>
            <a:pPr>
              <a:buFont typeface="Arial" charset="0"/>
              <a:buChar char="•"/>
            </a:pPr>
            <a:r>
              <a:rPr lang="en-US" sz="1100" b="1" dirty="0"/>
              <a:t>What it does:</a:t>
            </a:r>
            <a:r>
              <a:rPr lang="en-US" sz="1100" dirty="0"/>
              <a:t> Minimum number of samples that must be in a leaf node.</a:t>
            </a:r>
          </a:p>
          <a:p>
            <a:pPr>
              <a:buFont typeface="Arial" charset="0"/>
              <a:buChar char="•"/>
            </a:pPr>
            <a:r>
              <a:rPr lang="en-US" sz="1100" b="1" dirty="0"/>
              <a:t>Default:</a:t>
            </a:r>
            <a:r>
              <a:rPr lang="en-US" sz="1100" dirty="0"/>
              <a:t> 1</a:t>
            </a:r>
          </a:p>
          <a:p>
            <a:pPr>
              <a:buFont typeface="Arial" charset="0"/>
              <a:buChar char="•"/>
            </a:pPr>
            <a:r>
              <a:rPr lang="en-US" sz="1100" b="1" dirty="0"/>
              <a:t>Impact:</a:t>
            </a:r>
            <a:r>
              <a:rPr lang="en-US" sz="1100" dirty="0"/>
              <a:t> Bigger values = more pruning = prevents very small leaves.</a:t>
            </a:r>
          </a:p>
          <a:p>
            <a:r>
              <a:rPr lang="en-US" sz="1100" b="1" dirty="0"/>
              <a:t>5. </a:t>
            </a:r>
            <a:r>
              <a:rPr lang="en-US" sz="1100" b="1" dirty="0" err="1"/>
              <a:t>max_features</a:t>
            </a:r>
            <a:endParaRPr lang="en-US" sz="1100" b="1" dirty="0"/>
          </a:p>
          <a:p>
            <a:pPr>
              <a:buFont typeface="Arial" charset="0"/>
              <a:buChar char="•"/>
            </a:pPr>
            <a:r>
              <a:rPr lang="en-US" sz="1100" b="1" dirty="0"/>
              <a:t>What it does:</a:t>
            </a:r>
            <a:r>
              <a:rPr lang="en-US" sz="1100" dirty="0"/>
              <a:t> Number of features to consider when looking for the best split.</a:t>
            </a:r>
          </a:p>
          <a:p>
            <a:pPr>
              <a:buFont typeface="Arial" charset="0"/>
              <a:buChar char="•"/>
            </a:pPr>
            <a:r>
              <a:rPr lang="en-US" sz="1100" b="1" dirty="0"/>
              <a:t>Options:</a:t>
            </a:r>
            <a:endParaRPr lang="en-US" sz="1100" dirty="0"/>
          </a:p>
          <a:p>
            <a:pPr marL="742950" lvl="1" indent="-285750">
              <a:buFont typeface="Arial" charset="0"/>
              <a:buChar char="•"/>
            </a:pPr>
            <a:r>
              <a:rPr lang="en-US" sz="1100" dirty="0"/>
              <a:t>Integer (exact count)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1100" dirty="0"/>
              <a:t>Float (proportion of total features)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1100" dirty="0"/>
              <a:t>"</a:t>
            </a:r>
            <a:r>
              <a:rPr lang="en-US" sz="1100" dirty="0" err="1"/>
              <a:t>sqrt</a:t>
            </a:r>
            <a:r>
              <a:rPr lang="en-US" sz="1100" dirty="0"/>
              <a:t>" (square root of total features — common in Random Forests)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1100" dirty="0"/>
              <a:t>"log2"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1100" dirty="0"/>
              <a:t>None (use all features)</a:t>
            </a:r>
          </a:p>
          <a:p>
            <a:r>
              <a:rPr lang="en-US" sz="1100" b="1" dirty="0"/>
              <a:t>6. </a:t>
            </a:r>
            <a:r>
              <a:rPr lang="en-US" sz="1100" b="1" dirty="0" err="1"/>
              <a:t>max_leaf_nodes</a:t>
            </a:r>
            <a:endParaRPr lang="en-US" sz="1100" b="1" dirty="0"/>
          </a:p>
          <a:p>
            <a:pPr>
              <a:buFont typeface="Arial" charset="0"/>
              <a:buChar char="•"/>
            </a:pPr>
            <a:r>
              <a:rPr lang="en-US" sz="1100" b="1" dirty="0"/>
              <a:t>What it does:</a:t>
            </a:r>
            <a:r>
              <a:rPr lang="en-US" sz="1100" dirty="0"/>
              <a:t> Maximum number of leaf nodes.</a:t>
            </a:r>
          </a:p>
          <a:p>
            <a:pPr>
              <a:buFont typeface="Arial" charset="0"/>
              <a:buChar char="•"/>
            </a:pPr>
            <a:r>
              <a:rPr lang="en-US" sz="1100" b="1" dirty="0"/>
              <a:t>Impact:</a:t>
            </a:r>
            <a:r>
              <a:rPr lang="en-US" sz="1100" dirty="0"/>
              <a:t> Limits tree growth and simplifies model.</a:t>
            </a:r>
          </a:p>
          <a:p>
            <a:r>
              <a:rPr lang="en-US" sz="1100" b="1" dirty="0"/>
              <a:t>7. splitter</a:t>
            </a:r>
          </a:p>
          <a:p>
            <a:pPr>
              <a:buFont typeface="Arial" charset="0"/>
              <a:buChar char="•"/>
            </a:pPr>
            <a:r>
              <a:rPr lang="en-US" sz="1100" b="1" dirty="0"/>
              <a:t>What it does:</a:t>
            </a:r>
            <a:r>
              <a:rPr lang="en-US" sz="1100" dirty="0"/>
              <a:t> Chooses strategy to split nodes.</a:t>
            </a:r>
          </a:p>
          <a:p>
            <a:pPr>
              <a:buFont typeface="Arial" charset="0"/>
              <a:buChar char="•"/>
            </a:pPr>
            <a:r>
              <a:rPr lang="en-US" sz="1100" b="1" dirty="0"/>
              <a:t>Options:</a:t>
            </a:r>
            <a:endParaRPr lang="en-US" sz="1100" dirty="0"/>
          </a:p>
          <a:p>
            <a:pPr marL="742950" lvl="1" indent="-285750">
              <a:buFont typeface="Arial" charset="0"/>
              <a:buChar char="•"/>
            </a:pPr>
            <a:r>
              <a:rPr lang="en-US" sz="1100" dirty="0"/>
              <a:t>"best" — Chooses the best split.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1100" dirty="0"/>
              <a:t>"random" — Chooses a random split among the best candidates.</a:t>
            </a:r>
          </a:p>
          <a:p>
            <a:r>
              <a:rPr lang="en-US" sz="1100" b="1" dirty="0"/>
              <a:t>8. </a:t>
            </a:r>
            <a:r>
              <a:rPr lang="en-US" sz="1100" b="1" dirty="0" err="1"/>
              <a:t>class_weight</a:t>
            </a:r>
            <a:endParaRPr lang="en-US" sz="1100" b="1" dirty="0"/>
          </a:p>
          <a:p>
            <a:pPr>
              <a:buFont typeface="Arial" charset="0"/>
              <a:buChar char="•"/>
            </a:pPr>
            <a:r>
              <a:rPr lang="en-US" sz="1100" b="1" dirty="0"/>
              <a:t>What it does:</a:t>
            </a:r>
            <a:r>
              <a:rPr lang="en-US" sz="1100" dirty="0"/>
              <a:t> Weights assigned to each class (for handling imbalance).</a:t>
            </a:r>
          </a:p>
          <a:p>
            <a:pPr>
              <a:buFont typeface="Arial" charset="0"/>
              <a:buChar char="•"/>
            </a:pPr>
            <a:r>
              <a:rPr lang="en-US" sz="1100" b="1" dirty="0"/>
              <a:t>Options:</a:t>
            </a:r>
            <a:endParaRPr lang="en-US" sz="1100" dirty="0"/>
          </a:p>
          <a:p>
            <a:pPr marL="742950" lvl="1" indent="-285750">
              <a:buFont typeface="Arial" charset="0"/>
              <a:buChar char="•"/>
            </a:pPr>
            <a:r>
              <a:rPr lang="en-US" sz="1100" dirty="0"/>
              <a:t>None — All classes treated equally.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1100" dirty="0"/>
              <a:t>balanced — Weights are inversely proportional to class frequencies.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62758" y="2413337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sklearn.tree</a:t>
            </a:r>
            <a:r>
              <a:rPr lang="en-US" dirty="0"/>
              <a:t> import </a:t>
            </a:r>
            <a:r>
              <a:rPr lang="en-US" dirty="0" err="1"/>
              <a:t>DecisionTreeClassifier</a:t>
            </a:r>
            <a:r>
              <a:rPr lang="en-US" dirty="0"/>
              <a:t> </a:t>
            </a:r>
            <a:r>
              <a:rPr lang="en-US" dirty="0" err="1"/>
              <a:t>clf</a:t>
            </a:r>
            <a:r>
              <a:rPr lang="en-US" dirty="0"/>
              <a:t> = </a:t>
            </a:r>
            <a:r>
              <a:rPr lang="en-US" dirty="0" err="1" smtClean="0"/>
              <a:t>DecisionTreeClassifier</a:t>
            </a:r>
            <a:endParaRPr lang="en-US" dirty="0" smtClean="0"/>
          </a:p>
          <a:p>
            <a:r>
              <a:rPr lang="en-US" dirty="0" smtClean="0"/>
              <a:t>( </a:t>
            </a:r>
            <a:r>
              <a:rPr lang="en-US" dirty="0"/>
              <a:t>criterion="</a:t>
            </a:r>
            <a:r>
              <a:rPr lang="en-US" dirty="0" err="1"/>
              <a:t>gini</a:t>
            </a:r>
            <a:r>
              <a:rPr lang="en-US" dirty="0" smtClean="0"/>
              <a:t>",</a:t>
            </a:r>
          </a:p>
          <a:p>
            <a:r>
              <a:rPr lang="en-US" dirty="0" smtClean="0"/>
              <a:t> </a:t>
            </a:r>
            <a:r>
              <a:rPr lang="en-US" dirty="0" err="1"/>
              <a:t>max_depth</a:t>
            </a:r>
            <a:r>
              <a:rPr lang="en-US" dirty="0"/>
              <a:t>=5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en-US" dirty="0" err="1"/>
              <a:t>min_samples_split</a:t>
            </a:r>
            <a:r>
              <a:rPr lang="en-US" dirty="0"/>
              <a:t>=4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en-US" dirty="0" err="1"/>
              <a:t>min_samples_leaf</a:t>
            </a:r>
            <a:r>
              <a:rPr lang="en-US" dirty="0"/>
              <a:t>=2, </a:t>
            </a:r>
            <a:endParaRPr lang="en-US" dirty="0" smtClean="0"/>
          </a:p>
          <a:p>
            <a:r>
              <a:rPr lang="en-US" dirty="0" err="1" smtClean="0"/>
              <a:t>max_features</a:t>
            </a:r>
            <a:r>
              <a:rPr lang="en-US" dirty="0"/>
              <a:t>="</a:t>
            </a:r>
            <a:r>
              <a:rPr lang="en-US" dirty="0" err="1"/>
              <a:t>sqrt</a:t>
            </a:r>
            <a:r>
              <a:rPr lang="en-US" dirty="0"/>
              <a:t>" )</a:t>
            </a:r>
          </a:p>
        </p:txBody>
      </p:sp>
    </p:spTree>
    <p:extLst>
      <p:ext uri="{BB962C8B-B14F-4D97-AF65-F5344CB8AC3E}">
        <p14:creationId xmlns:p14="http://schemas.microsoft.com/office/powerpoint/2010/main" val="160155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10.1|56|9|5.8|8.8|9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22.3|41.5|30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4.4|21.1|35.9|23.1|66.9|12.3|30.9|39.8|2.1|8.3|3.9|29.3|39.2|92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3|47.5|4|12|9.3|26.1|6.6|11.4|15.4|1.5|2.2|28.8|5.6|8.4|11.4|2.6|15.2|1.4|13.7|1.6|26.1|0.9|53.3|24.1|1.5|9.8|16.1|1|1.5|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9|7.8|17.1|7.4|1.5|11.2|1.1|2.5|25|19.8|42.8|58.3|7.5|36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6|20.4|14.6|13.7|51|21.3|22.9|28.7|27.2|21.5|15.6|1|23.3|0.9|18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|5.7|21.7|15|115.9|63.7|36.8|1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8|8.4|4.9|16.4|55.8|37.1|21.8|48|35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2|16.5|19|15.9|16.3|13.6|43.1|30.1|20.2|57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|3.9|8.5|34.8|21.4|54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|26.4|20.9|19.3|21.6|45.2|52.5|53|47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4|1.9|19.9|20.7|8.1|29.8|20.9|19|11.7|13|2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.9|9.1|33.2|7.8|33.7|10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4.2|9.5|31|37.8|53.5|25.6|61.4|20.9|1.7|31.1|74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16.2|9.7|54.2|14.6|36.2|23.5|14.4|6.9|10.7|4.1|26.8|45.9|19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|26.3|68.7|9.1|53.6|10.4|30.4|18.1|14.2|12.5|32.1|34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|5|19.7|6.8|28.7|14.8|22.3|5.6|6|3.1|40.3|1|2.7|9.6|0.9|22.4|2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4|36.4|44.8|2.6|3|31.7|0|47.6|21|1.5|6.5|20.9|3.8|1.4|60.1|0.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1.6|6.2|16.1|15|26|21.5|14.1|24.5|1.1|12.4|12.6|3.2|19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7953</TotalTime>
  <Words>2366</Words>
  <Application>Microsoft Macintosh PowerPoint</Application>
  <PresentationFormat>Widescreen</PresentationFormat>
  <Paragraphs>477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Abadi Extra Light</vt:lpstr>
      <vt:lpstr>Aldhabi</vt:lpstr>
      <vt:lpstr>Arial</vt:lpstr>
      <vt:lpstr>Calibri</vt:lpstr>
      <vt:lpstr>Calibri Light</vt:lpstr>
      <vt:lpstr>Cambria Math</vt:lpstr>
      <vt:lpstr>Garamond</vt:lpstr>
      <vt:lpstr>Noto Sans CJK SC Regular</vt:lpstr>
      <vt:lpstr>Wingdings</vt:lpstr>
      <vt:lpstr>Office Theme</vt:lpstr>
      <vt:lpstr>   Learning using Decision Trees</vt:lpstr>
      <vt:lpstr>Decision Trees</vt:lpstr>
      <vt:lpstr>A decision tree friendly problem</vt:lpstr>
      <vt:lpstr>Learning Decision Trees with Supervision</vt:lpstr>
      <vt:lpstr>Decision Trees for Classification</vt:lpstr>
      <vt:lpstr>Decision Trees for Classification: Another Example</vt:lpstr>
      <vt:lpstr>Decision Trees: Some Considerations</vt:lpstr>
      <vt:lpstr>How to Split at Internal Nodes?</vt:lpstr>
      <vt:lpstr>Techniques to Split at Internal Nodes</vt:lpstr>
      <vt:lpstr>Constructing Decision Trees</vt:lpstr>
      <vt:lpstr>Decision Tree Construction: An Example</vt:lpstr>
      <vt:lpstr>Entropy and Information Gain</vt:lpstr>
      <vt:lpstr>Entropy and Information Gain</vt:lpstr>
      <vt:lpstr>Growing the tree</vt:lpstr>
      <vt:lpstr>When to stop growing the tree?</vt:lpstr>
      <vt:lpstr>Avoiding Overfitting in DTs</vt:lpstr>
      <vt:lpstr>Decision Trees: Some Comments</vt:lpstr>
      <vt:lpstr>An Illustration: DT with Real-Valued Features</vt:lpstr>
      <vt:lpstr>Decision Trees for Regression</vt:lpstr>
      <vt:lpstr>Decision Trees: A Summary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Nisheeth Srivastava</dc:creator>
  <cp:lastModifiedBy>Microsoft Office User</cp:lastModifiedBy>
  <cp:revision>745</cp:revision>
  <dcterms:created xsi:type="dcterms:W3CDTF">2020-07-07T20:42:16Z</dcterms:created>
  <dcterms:modified xsi:type="dcterms:W3CDTF">2025-02-27T16:13:25Z</dcterms:modified>
</cp:coreProperties>
</file>