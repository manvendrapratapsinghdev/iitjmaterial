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ed2ca1f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ded2ca1fd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ed2ca1fd3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ded2ca1fd3_0_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ed2ca1fd3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ded2ca1fd3_0_4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ed2ca1fd3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ded2ca1fd3_0_5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ed2ca1fd3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ded2ca1fd3_0_5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ed2ca1fd3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ded2ca1fd3_0_6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play.google.com/store/apps/details?id=com.tacrotech.careerpath" TargetMode="External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fmla="val 16667" name="adj"/>
            </a:avLst>
          </a:prstGeom>
          <a:solidFill>
            <a:srgbClr val="388E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834850" y="438920"/>
            <a:ext cx="10058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CareerPath</a:t>
            </a:r>
            <a:endParaRPr sz="2300"/>
          </a:p>
        </p:txBody>
      </p:sp>
      <p:sp>
        <p:nvSpPr>
          <p:cNvPr id="86" name="Google Shape;86;p13"/>
          <p:cNvSpPr txBox="1"/>
          <p:nvPr/>
        </p:nvSpPr>
        <p:spPr>
          <a:xfrm>
            <a:off x="1371600" y="1499613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 Structured Career Guidance Platform for Students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3615100" y="2116100"/>
            <a:ext cx="4497900" cy="73200"/>
          </a:xfrm>
          <a:prstGeom prst="roundRect">
            <a:avLst>
              <a:gd fmla="val 0" name="adj"/>
            </a:avLst>
          </a:prstGeom>
          <a:solidFill>
            <a:srgbClr val="388E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371600" y="536399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Name: </a:t>
            </a:r>
            <a:r>
              <a:rPr b="0" i="0" lang="en-US" sz="1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Manvendra Pratap Singh </a:t>
            </a:r>
            <a:endParaRPr sz="19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Roll No:</a:t>
            </a:r>
            <a:r>
              <a:rPr b="0" i="0" lang="en-US" sz="1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M25AI2122</a:t>
            </a:r>
            <a:endParaRPr sz="1500"/>
          </a:p>
        </p:txBody>
      </p:sp>
      <p:sp>
        <p:nvSpPr>
          <p:cNvPr id="89" name="Google Shape;89;p13"/>
          <p:cNvSpPr txBox="1"/>
          <p:nvPr/>
        </p:nvSpPr>
        <p:spPr>
          <a:xfrm>
            <a:off x="1371600" y="4640538"/>
            <a:ext cx="9144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Supervisor</a:t>
            </a:r>
            <a:r>
              <a:rPr b="1" i="0" lang="en-US" sz="2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: Dr. Dinesh Mohan Joshi</a:t>
            </a:r>
            <a:endParaRPr b="1" sz="2000"/>
          </a:p>
        </p:txBody>
      </p:sp>
      <p:sp>
        <p:nvSpPr>
          <p:cNvPr id="90" name="Google Shape;90;p13"/>
          <p:cNvSpPr txBox="1"/>
          <p:nvPr/>
        </p:nvSpPr>
        <p:spPr>
          <a:xfrm>
            <a:off x="1508763" y="6144785"/>
            <a:ext cx="914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IIT Jodhpur  </a:t>
            </a:r>
            <a:r>
              <a:rPr lang="en-US"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School of AI &amp; Data Science  </a:t>
            </a:r>
            <a:r>
              <a:rPr lang="en-US"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M.Tech  </a:t>
            </a:r>
            <a:r>
              <a:rPr lang="en-US"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April 2026</a:t>
            </a:r>
            <a:endParaRPr sz="1600"/>
          </a:p>
        </p:txBody>
      </p:sp>
      <p:sp>
        <p:nvSpPr>
          <p:cNvPr id="91" name="Google Shape;91;p13"/>
          <p:cNvSpPr/>
          <p:nvPr/>
        </p:nvSpPr>
        <p:spPr>
          <a:xfrm>
            <a:off x="0" y="6784848"/>
            <a:ext cx="12191695" cy="73152"/>
          </a:xfrm>
          <a:prstGeom prst="roundRect">
            <a:avLst>
              <a:gd fmla="val 16667" name="adj"/>
            </a:avLst>
          </a:prstGeom>
          <a:solidFill>
            <a:srgbClr val="388E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5107680" y="2448616"/>
            <a:ext cx="1746600" cy="1746600"/>
          </a:xfrm>
          <a:prstGeom prst="ellipse">
            <a:avLst/>
          </a:prstGeom>
          <a:solidFill>
            <a:schemeClr val="lt2"/>
          </a:solidFill>
          <a:ln cap="flat" cmpd="sng" w="12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400" lIns="116400" spcFirstLastPara="1" rIns="116400" wrap="square" tIns="116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83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6286" y="2489088"/>
            <a:ext cx="1427948" cy="156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fmla="val 16667" name="adj"/>
            </a:avLst>
          </a:prstGeom>
          <a:solidFill>
            <a:srgbClr val="E539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69867" y="445319"/>
            <a:ext cx="1097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Problem: A Discovery Gap in Career Guidance</a:t>
            </a:r>
            <a:endParaRPr sz="1600"/>
          </a:p>
        </p:txBody>
      </p:sp>
      <p:sp>
        <p:nvSpPr>
          <p:cNvPr id="100" name="Google Shape;100;p14"/>
          <p:cNvSpPr/>
          <p:nvPr/>
        </p:nvSpPr>
        <p:spPr>
          <a:xfrm>
            <a:off x="682336" y="1594366"/>
            <a:ext cx="5303400" cy="2926200"/>
          </a:xfrm>
          <a:prstGeom prst="roundRect">
            <a:avLst>
              <a:gd fmla="val 16667" name="adj"/>
            </a:avLst>
          </a:prstGeom>
          <a:solidFill>
            <a:srgbClr val="1A3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910936" y="1777246"/>
            <a:ext cx="484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Urban Student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956661" y="2441290"/>
            <a:ext cx="4755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School counselors &amp; coaching centres</a:t>
            </a:r>
            <a:endParaRPr b="0" i="0" sz="21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Career fairs &amp; workshops nearby</a:t>
            </a:r>
            <a:endParaRPr sz="21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Peer network with informed parents</a:t>
            </a:r>
            <a:endParaRPr sz="21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Easy access to verified information</a:t>
            </a:r>
            <a:endParaRPr sz="21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625936" y="1594366"/>
            <a:ext cx="5303400" cy="2926200"/>
          </a:xfrm>
          <a:prstGeom prst="roundRect">
            <a:avLst>
              <a:gd fmla="val 16667" name="adj"/>
            </a:avLst>
          </a:prstGeom>
          <a:solidFill>
            <a:srgbClr val="4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854536" y="1777246"/>
            <a:ext cx="484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Rural / Semi-Urban Student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854536" y="2441291"/>
            <a:ext cx="5029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600"/>
              <a:buFont typeface="Calibri"/>
              <a:buChar char="●"/>
            </a:pPr>
            <a:r>
              <a:rPr lang="en-US" sz="2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No counselors, no career fairs</a:t>
            </a:r>
            <a:endParaRPr sz="21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600"/>
              <a:buFont typeface="Calibri"/>
              <a:buChar char="●"/>
            </a:pPr>
            <a:r>
              <a:rPr lang="en-US" sz="2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Unaware of many career options</a:t>
            </a:r>
            <a:endParaRPr sz="21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600"/>
              <a:buFont typeface="Calibri"/>
              <a:buChar char="●"/>
            </a:pPr>
            <a:r>
              <a:rPr lang="en-US" sz="2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Misses scholarships &amp; affordable paths</a:t>
            </a:r>
            <a:endParaRPr sz="21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600"/>
              <a:buFont typeface="Calibri"/>
              <a:buChar char="●"/>
            </a:pPr>
            <a:r>
              <a:rPr lang="en-US" sz="2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Relies on word-of-mouth</a:t>
            </a:r>
            <a:endParaRPr sz="21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711536" y="2600206"/>
            <a:ext cx="10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8F00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1298388" y="5028929"/>
            <a:ext cx="9594900" cy="1185000"/>
          </a:xfrm>
          <a:prstGeom prst="roundRect">
            <a:avLst>
              <a:gd fmla="val 16667" name="adj"/>
            </a:avLst>
          </a:prstGeom>
          <a:solidFill>
            <a:srgbClr val="2A2A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718475" y="5169811"/>
            <a:ext cx="900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"If a student doesn't know a career option exists, they can never search for it."</a:t>
            </a:r>
            <a:br>
              <a:rPr b="0" i="0" lang="en-US" sz="1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This is the Discovery Gap — and no amount of searching can fix what you don't know to look for.</a:t>
            </a:r>
            <a:endParaRPr sz="1700"/>
          </a:p>
        </p:txBody>
      </p:sp>
      <p:sp>
        <p:nvSpPr>
          <p:cNvPr id="109" name="Google Shape;109;p14"/>
          <p:cNvSpPr/>
          <p:nvPr/>
        </p:nvSpPr>
        <p:spPr>
          <a:xfrm>
            <a:off x="0" y="6784848"/>
            <a:ext cx="12191695" cy="73152"/>
          </a:xfrm>
          <a:prstGeom prst="roundRect">
            <a:avLst>
              <a:gd fmla="val 16667" name="adj"/>
            </a:avLst>
          </a:prstGeom>
          <a:solidFill>
            <a:srgbClr val="E539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/>
          <p:nvPr/>
        </p:nvSpPr>
        <p:spPr>
          <a:xfrm>
            <a:off x="0" y="0"/>
            <a:ext cx="12191700" cy="63900"/>
          </a:xfrm>
          <a:prstGeom prst="rect">
            <a:avLst/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0" y="6793992"/>
            <a:ext cx="12191700" cy="63900"/>
          </a:xfrm>
          <a:prstGeom prst="rect">
            <a:avLst/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739140" y="320040"/>
            <a:ext cx="1109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sz="1600"/>
          </a:p>
        </p:txBody>
      </p:sp>
      <p:sp>
        <p:nvSpPr>
          <p:cNvPr id="117" name="Google Shape;117;p15"/>
          <p:cNvSpPr txBox="1"/>
          <p:nvPr/>
        </p:nvSpPr>
        <p:spPr>
          <a:xfrm>
            <a:off x="739140" y="960120"/>
            <a:ext cx="1109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lang="en-US" sz="22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Career Path</a:t>
            </a:r>
            <a:r>
              <a:rPr b="0" i="0" lang="en-US" sz="2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aims to achieve — bridging the career-guidance gap for every student.</a:t>
            </a:r>
            <a:endParaRPr sz="2200"/>
          </a:p>
        </p:txBody>
      </p:sp>
      <p:sp>
        <p:nvSpPr>
          <p:cNvPr id="118" name="Google Shape;118;p15"/>
          <p:cNvSpPr/>
          <p:nvPr/>
        </p:nvSpPr>
        <p:spPr>
          <a:xfrm>
            <a:off x="858136" y="1693025"/>
            <a:ext cx="5303400" cy="1828800"/>
          </a:xfrm>
          <a:prstGeom prst="roundRect">
            <a:avLst>
              <a:gd fmla="val 16667" name="adj"/>
            </a:avLst>
          </a:prstGeom>
          <a:solidFill>
            <a:srgbClr val="202440"/>
          </a:solidFill>
          <a:ln cap="flat" cmpd="sng" w="19050">
            <a:solidFill>
              <a:srgbClr val="388E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891387" y="1850726"/>
            <a:ext cx="365700" cy="365700"/>
          </a:xfrm>
          <a:prstGeom prst="ellipse">
            <a:avLst/>
          </a:prstGeom>
          <a:solidFill>
            <a:srgbClr val="388E3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891387" y="1879936"/>
            <a:ext cx="36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348587" y="1802753"/>
            <a:ext cx="448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Structured Discovery</a:t>
            </a:r>
            <a:endParaRPr sz="1600"/>
          </a:p>
        </p:txBody>
      </p:sp>
      <p:sp>
        <p:nvSpPr>
          <p:cNvPr id="122" name="Google Shape;122;p15"/>
          <p:cNvSpPr txBox="1"/>
          <p:nvPr/>
        </p:nvSpPr>
        <p:spPr>
          <a:xfrm>
            <a:off x="1178176" y="2273489"/>
            <a:ext cx="4755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Build a hierarchical, browsable career knowledge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base — Stream → Category → Branch → Career —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so students discover options without prior knowledge.</a:t>
            </a:r>
            <a:endParaRPr sz="1700"/>
          </a:p>
        </p:txBody>
      </p:sp>
      <p:sp>
        <p:nvSpPr>
          <p:cNvPr id="123" name="Google Shape;123;p15"/>
          <p:cNvSpPr/>
          <p:nvPr/>
        </p:nvSpPr>
        <p:spPr>
          <a:xfrm>
            <a:off x="6445674" y="1693025"/>
            <a:ext cx="5303400" cy="1828800"/>
          </a:xfrm>
          <a:prstGeom prst="roundRect">
            <a:avLst>
              <a:gd fmla="val 16667" name="adj"/>
            </a:avLst>
          </a:prstGeom>
          <a:solidFill>
            <a:srgbClr val="202440"/>
          </a:solidFill>
          <a:ln cap="flat" cmpd="sng" w="1905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6652107" y="1859009"/>
            <a:ext cx="365700" cy="365700"/>
          </a:xfrm>
          <a:prstGeom prst="ellipse">
            <a:avLst/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652107" y="1865985"/>
            <a:ext cx="36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109307" y="1802753"/>
            <a:ext cx="448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88E5"/>
                </a:solidFill>
                <a:latin typeface="Calibri"/>
                <a:ea typeface="Calibri"/>
                <a:cs typeface="Calibri"/>
                <a:sym typeface="Calibri"/>
              </a:rPr>
              <a:t>Mobile-First Access</a:t>
            </a:r>
            <a:endParaRPr sz="1600"/>
          </a:p>
        </p:txBody>
      </p:sp>
      <p:sp>
        <p:nvSpPr>
          <p:cNvPr id="127" name="Google Shape;127;p15"/>
          <p:cNvSpPr txBox="1"/>
          <p:nvPr/>
        </p:nvSpPr>
        <p:spPr>
          <a:xfrm>
            <a:off x="6765714" y="2353048"/>
            <a:ext cx="4755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Deliver a lightweight Flutter app that works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on low-end devices with offline caching, targeting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rural and semi-urban students.</a:t>
            </a:r>
            <a:endParaRPr sz="1700"/>
          </a:p>
        </p:txBody>
      </p:sp>
      <p:sp>
        <p:nvSpPr>
          <p:cNvPr id="128" name="Google Shape;128;p15"/>
          <p:cNvSpPr/>
          <p:nvPr/>
        </p:nvSpPr>
        <p:spPr>
          <a:xfrm>
            <a:off x="858136" y="3668684"/>
            <a:ext cx="5303400" cy="1828800"/>
          </a:xfrm>
          <a:prstGeom prst="roundRect">
            <a:avLst>
              <a:gd fmla="val 16667" name="adj"/>
            </a:avLst>
          </a:prstGeom>
          <a:solidFill>
            <a:srgbClr val="202440"/>
          </a:solidFill>
          <a:ln cap="flat" cmpd="sng" w="19050">
            <a:solidFill>
              <a:srgbClr val="FF8F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995296" y="3862527"/>
            <a:ext cx="365700" cy="365700"/>
          </a:xfrm>
          <a:prstGeom prst="ellipse">
            <a:avLst/>
          </a:prstGeom>
          <a:solidFill>
            <a:srgbClr val="FF8F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995296" y="3895004"/>
            <a:ext cx="36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452496" y="3847684"/>
            <a:ext cx="448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8F00"/>
                </a:solidFill>
                <a:latin typeface="Calibri"/>
                <a:ea typeface="Calibri"/>
                <a:cs typeface="Calibri"/>
                <a:sym typeface="Calibri"/>
              </a:rPr>
              <a:t>Verified </a:t>
            </a:r>
            <a:r>
              <a:rPr b="1" i="0" lang="en-US" sz="2000" u="none" cap="none" strike="noStrike">
                <a:solidFill>
                  <a:srgbClr val="FF8F00"/>
                </a:solidFill>
                <a:latin typeface="Calibri"/>
                <a:ea typeface="Calibri"/>
                <a:cs typeface="Calibri"/>
                <a:sym typeface="Calibri"/>
              </a:rPr>
              <a:t>Content</a:t>
            </a:r>
            <a:endParaRPr sz="1600"/>
          </a:p>
        </p:txBody>
      </p:sp>
      <p:sp>
        <p:nvSpPr>
          <p:cNvPr id="132" name="Google Shape;132;p15"/>
          <p:cNvSpPr txBox="1"/>
          <p:nvPr/>
        </p:nvSpPr>
        <p:spPr>
          <a:xfrm>
            <a:off x="1178176" y="4312795"/>
            <a:ext cx="4755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Provide an Admin Panel where educators </a:t>
            </a: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counsellors add, update, and verify career data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in real time — no developer needed.</a:t>
            </a:r>
            <a:endParaRPr sz="1700"/>
          </a:p>
        </p:txBody>
      </p:sp>
      <p:sp>
        <p:nvSpPr>
          <p:cNvPr id="133" name="Google Shape;133;p15"/>
          <p:cNvSpPr/>
          <p:nvPr/>
        </p:nvSpPr>
        <p:spPr>
          <a:xfrm>
            <a:off x="6445674" y="3668684"/>
            <a:ext cx="5303400" cy="1828800"/>
          </a:xfrm>
          <a:prstGeom prst="roundRect">
            <a:avLst>
              <a:gd fmla="val 16667" name="adj"/>
            </a:avLst>
          </a:prstGeom>
          <a:solidFill>
            <a:srgbClr val="202440"/>
          </a:solidFill>
          <a:ln cap="flat" cmpd="sng" w="1905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6652107" y="3895657"/>
            <a:ext cx="365700" cy="365700"/>
          </a:xfrm>
          <a:prstGeom prst="ellipse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6652107" y="3887375"/>
            <a:ext cx="36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7040034" y="3847684"/>
            <a:ext cx="448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Scalable Backend</a:t>
            </a:r>
            <a:endParaRPr sz="1600"/>
          </a:p>
        </p:txBody>
      </p:sp>
      <p:sp>
        <p:nvSpPr>
          <p:cNvPr id="137" name="Google Shape;137;p15"/>
          <p:cNvSpPr txBox="1"/>
          <p:nvPr/>
        </p:nvSpPr>
        <p:spPr>
          <a:xfrm>
            <a:off x="6765714" y="4296883"/>
            <a:ext cx="4755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Design a modular Flask REST API with JWT auth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and SQLite storage that can grow to support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100+ career paths and future AI features.</a:t>
            </a:r>
            <a:endParaRPr sz="1700"/>
          </a:p>
        </p:txBody>
      </p:sp>
      <p:sp>
        <p:nvSpPr>
          <p:cNvPr id="138" name="Google Shape;138;p15"/>
          <p:cNvSpPr/>
          <p:nvPr/>
        </p:nvSpPr>
        <p:spPr>
          <a:xfrm>
            <a:off x="1097275" y="5763300"/>
            <a:ext cx="10003800" cy="820500"/>
          </a:xfrm>
          <a:prstGeom prst="roundRect">
            <a:avLst>
              <a:gd fmla="val 16667" name="adj"/>
            </a:avLst>
          </a:prstGeom>
          <a:solidFill>
            <a:srgbClr val="2A2A4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1371600" y="5857009"/>
            <a:ext cx="9418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800" u="none" cap="none" strike="noStrik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 student should never miss</a:t>
            </a:r>
            <a:endParaRPr sz="1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a career opportunity simply because they didn't know it existed.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fmla="val 16667" name="adj"/>
            </a:avLst>
          </a:prstGeom>
          <a:solidFill>
            <a:srgbClr val="FF8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739140" y="279169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Not Just Use </a:t>
            </a: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 GPT</a:t>
            </a: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/ LLMs?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39140" y="105156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LLMs are powerful — but they solve a different problem.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922025" y="1471753"/>
            <a:ext cx="5191200" cy="677100"/>
          </a:xfrm>
          <a:prstGeom prst="roundRect">
            <a:avLst>
              <a:gd fmla="val 16667" name="adj"/>
            </a:avLst>
          </a:prstGeom>
          <a:solidFill>
            <a:srgbClr val="4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1059175" y="1570421"/>
            <a:ext cx="4663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ChatGPT / LLMs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591300" y="1471754"/>
            <a:ext cx="5029200" cy="677100"/>
          </a:xfrm>
          <a:prstGeom prst="roundRect">
            <a:avLst>
              <a:gd fmla="val 16667" name="adj"/>
            </a:avLst>
          </a:prstGeom>
          <a:solidFill>
            <a:srgbClr val="1A3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6728451" y="1570421"/>
            <a:ext cx="4355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CareerPath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922020" y="2286000"/>
            <a:ext cx="5029200" cy="804600"/>
          </a:xfrm>
          <a:prstGeom prst="roundRect">
            <a:avLst>
              <a:gd fmla="val 16667" name="adj"/>
            </a:avLst>
          </a:prstGeom>
          <a:solidFill>
            <a:srgbClr val="2528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1104900" y="2445743"/>
            <a:ext cx="4663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Requires the student to ask</a:t>
            </a:r>
            <a:r>
              <a:rPr lang="en-US" sz="1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the right question</a:t>
            </a:r>
            <a:endParaRPr sz="1900"/>
          </a:p>
        </p:txBody>
      </p:sp>
      <p:sp>
        <p:nvSpPr>
          <p:cNvPr id="153" name="Google Shape;153;p16"/>
          <p:cNvSpPr/>
          <p:nvPr/>
        </p:nvSpPr>
        <p:spPr>
          <a:xfrm>
            <a:off x="6591300" y="2286000"/>
            <a:ext cx="5029200" cy="804600"/>
          </a:xfrm>
          <a:prstGeom prst="roundRect">
            <a:avLst>
              <a:gd fmla="val 16667" name="adj"/>
            </a:avLst>
          </a:prstGeom>
          <a:solidFill>
            <a:srgbClr val="2528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6774180" y="2359152"/>
            <a:ext cx="4663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Browse &amp; discover options</a:t>
            </a:r>
            <a:r>
              <a:rPr lang="en-US" sz="1900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9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without prior knowledge</a:t>
            </a:r>
            <a:endParaRPr sz="1900"/>
          </a:p>
        </p:txBody>
      </p:sp>
      <p:sp>
        <p:nvSpPr>
          <p:cNvPr id="155" name="Google Shape;155;p16"/>
          <p:cNvSpPr/>
          <p:nvPr/>
        </p:nvSpPr>
        <p:spPr>
          <a:xfrm>
            <a:off x="922020" y="3145536"/>
            <a:ext cx="5029200" cy="804600"/>
          </a:xfrm>
          <a:prstGeom prst="roundRect">
            <a:avLst>
              <a:gd fmla="val 16667" name="adj"/>
            </a:avLst>
          </a:prstGeom>
          <a:solidFill>
            <a:srgbClr val="2528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1104900" y="3218688"/>
            <a:ext cx="4663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Answers may be generic,</a:t>
            </a:r>
            <a:r>
              <a:rPr lang="en-US" sz="1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outdated, or hallucinated</a:t>
            </a:r>
            <a:endParaRPr sz="1900"/>
          </a:p>
        </p:txBody>
      </p:sp>
      <p:sp>
        <p:nvSpPr>
          <p:cNvPr id="157" name="Google Shape;157;p16"/>
          <p:cNvSpPr/>
          <p:nvPr/>
        </p:nvSpPr>
        <p:spPr>
          <a:xfrm>
            <a:off x="6591300" y="3145536"/>
            <a:ext cx="5029200" cy="804600"/>
          </a:xfrm>
          <a:prstGeom prst="roundRect">
            <a:avLst>
              <a:gd fmla="val 16667" name="adj"/>
            </a:avLst>
          </a:prstGeom>
          <a:solidFill>
            <a:srgbClr val="2528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6774180" y="3218688"/>
            <a:ext cx="4663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Curated, verified, and</a:t>
            </a:r>
            <a:r>
              <a:rPr lang="en-US" sz="1900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9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structured data</a:t>
            </a:r>
            <a:endParaRPr sz="1900"/>
          </a:p>
        </p:txBody>
      </p:sp>
      <p:sp>
        <p:nvSpPr>
          <p:cNvPr id="159" name="Google Shape;159;p16"/>
          <p:cNvSpPr/>
          <p:nvPr/>
        </p:nvSpPr>
        <p:spPr>
          <a:xfrm>
            <a:off x="922020" y="4005072"/>
            <a:ext cx="5029200" cy="804600"/>
          </a:xfrm>
          <a:prstGeom prst="roundRect">
            <a:avLst>
              <a:gd fmla="val 16667" name="adj"/>
            </a:avLst>
          </a:prstGeom>
          <a:solidFill>
            <a:srgbClr val="2528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1104900" y="4078224"/>
            <a:ext cx="4663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No persistent, navigable</a:t>
            </a:r>
            <a:r>
              <a:rPr lang="en-US" sz="1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knowledge structure</a:t>
            </a:r>
            <a:endParaRPr sz="1900"/>
          </a:p>
        </p:txBody>
      </p:sp>
      <p:sp>
        <p:nvSpPr>
          <p:cNvPr id="161" name="Google Shape;161;p16"/>
          <p:cNvSpPr/>
          <p:nvPr/>
        </p:nvSpPr>
        <p:spPr>
          <a:xfrm>
            <a:off x="6591300" y="4005072"/>
            <a:ext cx="5029200" cy="804600"/>
          </a:xfrm>
          <a:prstGeom prst="roundRect">
            <a:avLst>
              <a:gd fmla="val 16667" name="adj"/>
            </a:avLst>
          </a:prstGeom>
          <a:solidFill>
            <a:srgbClr val="2528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6774180" y="4078224"/>
            <a:ext cx="4663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Hierarchical: Stream </a:t>
            </a:r>
            <a:r>
              <a:rPr lang="en-US" sz="1900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=&gt;</a:t>
            </a:r>
            <a:r>
              <a:rPr b="0" i="0" lang="en-US" sz="19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 Category</a:t>
            </a:r>
            <a:r>
              <a:rPr lang="en-US" sz="1900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 =&gt; </a:t>
            </a:r>
            <a:r>
              <a:rPr b="0" i="0" lang="en-US" sz="19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 Branch </a:t>
            </a:r>
            <a:r>
              <a:rPr lang="en-US" sz="1900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=&gt;</a:t>
            </a:r>
            <a:r>
              <a:rPr b="0" i="0" lang="en-US" sz="19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 Career Path</a:t>
            </a:r>
            <a:endParaRPr sz="1900"/>
          </a:p>
        </p:txBody>
      </p:sp>
      <p:sp>
        <p:nvSpPr>
          <p:cNvPr id="163" name="Google Shape;163;p16"/>
          <p:cNvSpPr/>
          <p:nvPr/>
        </p:nvSpPr>
        <p:spPr>
          <a:xfrm>
            <a:off x="922020" y="4864608"/>
            <a:ext cx="5029200" cy="804600"/>
          </a:xfrm>
          <a:prstGeom prst="roundRect">
            <a:avLst>
              <a:gd fmla="val 16667" name="adj"/>
            </a:avLst>
          </a:prstGeom>
          <a:solidFill>
            <a:srgbClr val="2528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1104900" y="4920442"/>
            <a:ext cx="4663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Cannot be administered or</a:t>
            </a:r>
            <a:r>
              <a:rPr lang="en-US" sz="1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updated by domain experts</a:t>
            </a:r>
            <a:endParaRPr sz="1900"/>
          </a:p>
        </p:txBody>
      </p:sp>
      <p:sp>
        <p:nvSpPr>
          <p:cNvPr id="165" name="Google Shape;165;p16"/>
          <p:cNvSpPr/>
          <p:nvPr/>
        </p:nvSpPr>
        <p:spPr>
          <a:xfrm>
            <a:off x="6591300" y="4864608"/>
            <a:ext cx="5029200" cy="804600"/>
          </a:xfrm>
          <a:prstGeom prst="roundRect">
            <a:avLst>
              <a:gd fmla="val 16667" name="adj"/>
            </a:avLst>
          </a:prstGeom>
          <a:solidFill>
            <a:srgbClr val="2528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6774180" y="4937760"/>
            <a:ext cx="4663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Admin panel for real-time</a:t>
            </a:r>
            <a:r>
              <a:rPr lang="en-US" sz="1900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9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content management</a:t>
            </a:r>
            <a:endParaRPr sz="1900"/>
          </a:p>
        </p:txBody>
      </p:sp>
      <p:sp>
        <p:nvSpPr>
          <p:cNvPr id="167" name="Google Shape;167;p16"/>
          <p:cNvSpPr/>
          <p:nvPr/>
        </p:nvSpPr>
        <p:spPr>
          <a:xfrm>
            <a:off x="922020" y="5724144"/>
            <a:ext cx="5029200" cy="804600"/>
          </a:xfrm>
          <a:prstGeom prst="roundRect">
            <a:avLst>
              <a:gd fmla="val 16667" name="adj"/>
            </a:avLst>
          </a:prstGeom>
          <a:solidFill>
            <a:srgbClr val="2528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1104900" y="5797296"/>
            <a:ext cx="4663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Needs reliable internet &amp;</a:t>
            </a:r>
            <a:r>
              <a:rPr lang="en-US" sz="1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can be expensive</a:t>
            </a:r>
            <a:endParaRPr sz="1900"/>
          </a:p>
        </p:txBody>
      </p:sp>
      <p:sp>
        <p:nvSpPr>
          <p:cNvPr id="169" name="Google Shape;169;p16"/>
          <p:cNvSpPr/>
          <p:nvPr/>
        </p:nvSpPr>
        <p:spPr>
          <a:xfrm>
            <a:off x="6591300" y="5724144"/>
            <a:ext cx="5029200" cy="804600"/>
          </a:xfrm>
          <a:prstGeom prst="roundRect">
            <a:avLst>
              <a:gd fmla="val 16667" name="adj"/>
            </a:avLst>
          </a:prstGeom>
          <a:solidFill>
            <a:srgbClr val="2528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6774180" y="5797296"/>
            <a:ext cx="4663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Offline-friendly mobile app</a:t>
            </a:r>
            <a:r>
              <a:rPr lang="en-US" sz="1900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9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with cached data</a:t>
            </a:r>
            <a:endParaRPr sz="1900"/>
          </a:p>
        </p:txBody>
      </p:sp>
      <p:sp>
        <p:nvSpPr>
          <p:cNvPr id="171" name="Google Shape;171;p16"/>
          <p:cNvSpPr/>
          <p:nvPr/>
        </p:nvSpPr>
        <p:spPr>
          <a:xfrm>
            <a:off x="0" y="6784848"/>
            <a:ext cx="12191695" cy="73152"/>
          </a:xfrm>
          <a:prstGeom prst="roundRect">
            <a:avLst>
              <a:gd fmla="val 16667" name="adj"/>
            </a:avLst>
          </a:prstGeom>
          <a:solidFill>
            <a:srgbClr val="FF8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/>
          <p:nvPr/>
        </p:nvSpPr>
        <p:spPr>
          <a:xfrm>
            <a:off x="0" y="0"/>
            <a:ext cx="12191700" cy="63900"/>
          </a:xfrm>
          <a:prstGeom prst="rect">
            <a:avLst/>
          </a:prstGeom>
          <a:solidFill>
            <a:srgbClr val="388E3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0" y="6793992"/>
            <a:ext cx="12191700" cy="63900"/>
          </a:xfrm>
          <a:prstGeom prst="rect">
            <a:avLst/>
          </a:prstGeom>
          <a:solidFill>
            <a:srgbClr val="388E3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756458" y="320040"/>
            <a:ext cx="1109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Solution: Structured Discovery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756458" y="960120"/>
            <a:ext cx="1109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CareerPath organises career knowledge into a browsable hierarchy — like a map, not a search engine.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1442798" y="2029968"/>
            <a:ext cx="10241400" cy="54900"/>
          </a:xfrm>
          <a:prstGeom prst="rect">
            <a:avLst/>
          </a:prstGeom>
          <a:solidFill>
            <a:srgbClr val="353A5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1044341" y="1728216"/>
            <a:ext cx="658500" cy="658500"/>
          </a:xfrm>
          <a:prstGeom prst="ellipse">
            <a:avLst/>
          </a:prstGeom>
          <a:solidFill>
            <a:srgbClr val="388E3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1044341" y="1814807"/>
            <a:ext cx="658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2161985" y="1929376"/>
            <a:ext cx="6264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481985" y="2496312"/>
            <a:ext cx="178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Stream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672485" y="3167565"/>
            <a:ext cx="1783200" cy="1600200"/>
          </a:xfrm>
          <a:prstGeom prst="roundRect">
            <a:avLst>
              <a:gd fmla="val 16667" name="adj"/>
            </a:avLst>
          </a:prstGeom>
          <a:solidFill>
            <a:srgbClr val="202440"/>
          </a:solidFill>
          <a:ln cap="flat" cmpd="sng" w="19050">
            <a:solidFill>
              <a:srgbClr val="3035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712940" y="3333127"/>
            <a:ext cx="156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Science</a:t>
            </a:r>
            <a:endParaRPr sz="1600"/>
          </a:p>
        </p:txBody>
      </p:sp>
      <p:sp>
        <p:nvSpPr>
          <p:cNvPr id="187" name="Google Shape;187;p17"/>
          <p:cNvSpPr txBox="1"/>
          <p:nvPr/>
        </p:nvSpPr>
        <p:spPr>
          <a:xfrm>
            <a:off x="712940" y="3772039"/>
            <a:ext cx="156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Commerce</a:t>
            </a:r>
            <a:endParaRPr sz="1600"/>
          </a:p>
        </p:txBody>
      </p:sp>
      <p:sp>
        <p:nvSpPr>
          <p:cNvPr id="188" name="Google Shape;188;p17"/>
          <p:cNvSpPr txBox="1"/>
          <p:nvPr/>
        </p:nvSpPr>
        <p:spPr>
          <a:xfrm>
            <a:off x="712940" y="4210951"/>
            <a:ext cx="156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Arts</a:t>
            </a:r>
            <a:endParaRPr sz="1600"/>
          </a:p>
        </p:txBody>
      </p:sp>
      <p:sp>
        <p:nvSpPr>
          <p:cNvPr id="189" name="Google Shape;189;p17"/>
          <p:cNvSpPr/>
          <p:nvPr/>
        </p:nvSpPr>
        <p:spPr>
          <a:xfrm>
            <a:off x="3483434" y="1728216"/>
            <a:ext cx="658500" cy="658500"/>
          </a:xfrm>
          <a:prstGeom prst="ellipse">
            <a:avLst/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3483434" y="1832125"/>
            <a:ext cx="658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4531817" y="1929375"/>
            <a:ext cx="6585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2921078" y="2496312"/>
            <a:ext cx="178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88E5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2921078" y="3150247"/>
            <a:ext cx="1783200" cy="1600200"/>
          </a:xfrm>
          <a:prstGeom prst="roundRect">
            <a:avLst>
              <a:gd fmla="val 16667" name="adj"/>
            </a:avLst>
          </a:prstGeom>
          <a:solidFill>
            <a:srgbClr val="202440"/>
          </a:solidFill>
          <a:ln cap="flat" cmpd="sng" w="19050">
            <a:solidFill>
              <a:srgbClr val="3035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3030806" y="3333127"/>
            <a:ext cx="156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sz="1600"/>
          </a:p>
        </p:txBody>
      </p:sp>
      <p:sp>
        <p:nvSpPr>
          <p:cNvPr id="195" name="Google Shape;195;p17"/>
          <p:cNvSpPr txBox="1"/>
          <p:nvPr/>
        </p:nvSpPr>
        <p:spPr>
          <a:xfrm>
            <a:off x="3030806" y="3772039"/>
            <a:ext cx="156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▸  Medical</a:t>
            </a:r>
            <a:endParaRPr sz="1600"/>
          </a:p>
        </p:txBody>
      </p:sp>
      <p:sp>
        <p:nvSpPr>
          <p:cNvPr id="196" name="Google Shape;196;p17"/>
          <p:cNvSpPr txBox="1"/>
          <p:nvPr/>
        </p:nvSpPr>
        <p:spPr>
          <a:xfrm>
            <a:off x="3030806" y="4210951"/>
            <a:ext cx="156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▸  Design</a:t>
            </a:r>
            <a:endParaRPr sz="1600"/>
          </a:p>
        </p:txBody>
      </p:sp>
      <p:sp>
        <p:nvSpPr>
          <p:cNvPr id="197" name="Google Shape;197;p17"/>
          <p:cNvSpPr/>
          <p:nvPr/>
        </p:nvSpPr>
        <p:spPr>
          <a:xfrm>
            <a:off x="5766663" y="1728216"/>
            <a:ext cx="658500" cy="658500"/>
          </a:xfrm>
          <a:prstGeom prst="ellipse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5766663" y="1814807"/>
            <a:ext cx="658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6966639" y="1929375"/>
            <a:ext cx="6585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8F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5204307" y="2496312"/>
            <a:ext cx="178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5360171" y="3150247"/>
            <a:ext cx="1783200" cy="1600200"/>
          </a:xfrm>
          <a:prstGeom prst="roundRect">
            <a:avLst>
              <a:gd fmla="val 16667" name="adj"/>
            </a:avLst>
          </a:prstGeom>
          <a:solidFill>
            <a:srgbClr val="202440"/>
          </a:solidFill>
          <a:ln cap="flat" cmpd="sng" w="19050">
            <a:solidFill>
              <a:srgbClr val="3035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5469899" y="3333127"/>
            <a:ext cx="156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▸  Computer Sci.</a:t>
            </a:r>
            <a:endParaRPr sz="1600"/>
          </a:p>
        </p:txBody>
      </p:sp>
      <p:sp>
        <p:nvSpPr>
          <p:cNvPr id="203" name="Google Shape;203;p17"/>
          <p:cNvSpPr txBox="1"/>
          <p:nvPr/>
        </p:nvSpPr>
        <p:spPr>
          <a:xfrm>
            <a:off x="5469899" y="3772039"/>
            <a:ext cx="156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▸  Mechanical</a:t>
            </a:r>
            <a:endParaRPr sz="1600"/>
          </a:p>
        </p:txBody>
      </p:sp>
      <p:sp>
        <p:nvSpPr>
          <p:cNvPr id="204" name="Google Shape;204;p17"/>
          <p:cNvSpPr txBox="1"/>
          <p:nvPr/>
        </p:nvSpPr>
        <p:spPr>
          <a:xfrm>
            <a:off x="5469899" y="4210951"/>
            <a:ext cx="156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▸  Biotech</a:t>
            </a:r>
            <a:endParaRPr sz="1600"/>
          </a:p>
        </p:txBody>
      </p:sp>
      <p:sp>
        <p:nvSpPr>
          <p:cNvPr id="205" name="Google Shape;205;p17"/>
          <p:cNvSpPr/>
          <p:nvPr/>
        </p:nvSpPr>
        <p:spPr>
          <a:xfrm>
            <a:off x="8326983" y="1728216"/>
            <a:ext cx="658500" cy="658500"/>
          </a:xfrm>
          <a:prstGeom prst="ellipse">
            <a:avLst/>
          </a:prstGeom>
          <a:solidFill>
            <a:srgbClr val="FF8F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8326983" y="1797489"/>
            <a:ext cx="658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9459007" y="1929375"/>
            <a:ext cx="7932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D54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7764627" y="2496312"/>
            <a:ext cx="178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8F00"/>
                </a:solidFill>
                <a:latin typeface="Calibri"/>
                <a:ea typeface="Calibri"/>
                <a:cs typeface="Calibri"/>
                <a:sym typeface="Calibri"/>
              </a:rPr>
              <a:t>Career Path</a:t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7764627" y="3150247"/>
            <a:ext cx="1783200" cy="1600200"/>
          </a:xfrm>
          <a:prstGeom prst="roundRect">
            <a:avLst>
              <a:gd fmla="val 16667" name="adj"/>
            </a:avLst>
          </a:prstGeom>
          <a:solidFill>
            <a:srgbClr val="202440"/>
          </a:solidFill>
          <a:ln cap="flat" cmpd="sng" w="19050">
            <a:solidFill>
              <a:srgbClr val="3035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7874355" y="3333127"/>
            <a:ext cx="156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▸  Software Dev</a:t>
            </a:r>
            <a:endParaRPr sz="1600"/>
          </a:p>
        </p:txBody>
      </p:sp>
      <p:sp>
        <p:nvSpPr>
          <p:cNvPr id="211" name="Google Shape;211;p17"/>
          <p:cNvSpPr txBox="1"/>
          <p:nvPr/>
        </p:nvSpPr>
        <p:spPr>
          <a:xfrm>
            <a:off x="7874355" y="3772039"/>
            <a:ext cx="156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▸  Data Scientist</a:t>
            </a:r>
            <a:endParaRPr sz="1600"/>
          </a:p>
        </p:txBody>
      </p:sp>
      <p:sp>
        <p:nvSpPr>
          <p:cNvPr id="212" name="Google Shape;212;p17"/>
          <p:cNvSpPr txBox="1"/>
          <p:nvPr/>
        </p:nvSpPr>
        <p:spPr>
          <a:xfrm>
            <a:off x="7874355" y="4210951"/>
            <a:ext cx="156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▸  Researcher</a:t>
            </a:r>
            <a:endParaRPr sz="1600"/>
          </a:p>
        </p:txBody>
      </p:sp>
      <p:sp>
        <p:nvSpPr>
          <p:cNvPr id="213" name="Google Shape;213;p17"/>
          <p:cNvSpPr/>
          <p:nvPr/>
        </p:nvSpPr>
        <p:spPr>
          <a:xfrm>
            <a:off x="10679485" y="1728216"/>
            <a:ext cx="658500" cy="658500"/>
          </a:xfrm>
          <a:prstGeom prst="ellipse">
            <a:avLst/>
          </a:prstGeom>
          <a:solidFill>
            <a:srgbClr val="FFD54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10679485" y="1814807"/>
            <a:ext cx="658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10117129" y="2496312"/>
            <a:ext cx="178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endParaRPr/>
          </a:p>
        </p:txBody>
      </p:sp>
      <p:sp>
        <p:nvSpPr>
          <p:cNvPr id="216" name="Google Shape;216;p17"/>
          <p:cNvSpPr/>
          <p:nvPr/>
        </p:nvSpPr>
        <p:spPr>
          <a:xfrm>
            <a:off x="10013220" y="3150247"/>
            <a:ext cx="1783200" cy="1600200"/>
          </a:xfrm>
          <a:prstGeom prst="roundRect">
            <a:avLst>
              <a:gd fmla="val 16667" name="adj"/>
            </a:avLst>
          </a:prstGeom>
          <a:solidFill>
            <a:srgbClr val="202440"/>
          </a:solidFill>
          <a:ln cap="flat" cmpd="sng" w="19050">
            <a:solidFill>
              <a:srgbClr val="3035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10122948" y="3333127"/>
            <a:ext cx="156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▸  Books</a:t>
            </a:r>
            <a:endParaRPr sz="1600"/>
          </a:p>
        </p:txBody>
      </p:sp>
      <p:sp>
        <p:nvSpPr>
          <p:cNvPr id="218" name="Google Shape;218;p17"/>
          <p:cNvSpPr txBox="1"/>
          <p:nvPr/>
        </p:nvSpPr>
        <p:spPr>
          <a:xfrm>
            <a:off x="10122948" y="3772039"/>
            <a:ext cx="156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▸  Institutes</a:t>
            </a:r>
            <a:endParaRPr sz="1600"/>
          </a:p>
        </p:txBody>
      </p:sp>
      <p:sp>
        <p:nvSpPr>
          <p:cNvPr id="219" name="Google Shape;219;p17"/>
          <p:cNvSpPr txBox="1"/>
          <p:nvPr/>
        </p:nvSpPr>
        <p:spPr>
          <a:xfrm>
            <a:off x="10122948" y="4210951"/>
            <a:ext cx="156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▸  Job Sectors</a:t>
            </a:r>
            <a:endParaRPr sz="1600"/>
          </a:p>
        </p:txBody>
      </p:sp>
      <p:sp>
        <p:nvSpPr>
          <p:cNvPr id="220" name="Google Shape;220;p17"/>
          <p:cNvSpPr/>
          <p:nvPr/>
        </p:nvSpPr>
        <p:spPr>
          <a:xfrm>
            <a:off x="1253139" y="5152216"/>
            <a:ext cx="10241400" cy="1377600"/>
          </a:xfrm>
          <a:prstGeom prst="roundRect">
            <a:avLst>
              <a:gd fmla="val 16667" name="adj"/>
            </a:avLst>
          </a:prstGeom>
          <a:solidFill>
            <a:srgbClr val="2A2A4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>
            <a:off x="1371600" y="5446616"/>
            <a:ext cx="951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Students start from what they know (a stream) and progressively discover</a:t>
            </a:r>
            <a:endParaRPr sz="2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specific career paths, resources, institutes, and job opportunities.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fmla="val 16667" name="adj"/>
            </a:avLst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831275" y="292450"/>
            <a:ext cx="1069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1700"/>
          </a:p>
        </p:txBody>
      </p:sp>
      <p:sp>
        <p:nvSpPr>
          <p:cNvPr id="228" name="Google Shape;228;p18"/>
          <p:cNvSpPr/>
          <p:nvPr/>
        </p:nvSpPr>
        <p:spPr>
          <a:xfrm>
            <a:off x="0" y="6784848"/>
            <a:ext cx="12191695" cy="73152"/>
          </a:xfrm>
          <a:prstGeom prst="roundRect">
            <a:avLst>
              <a:gd fmla="val 16667" name="adj"/>
            </a:avLst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8" title="ChatGPT Image Apr 16, 2026, 08_44_57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0200" y="1158250"/>
            <a:ext cx="8193431" cy="5462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fmla="val 16667" name="adj"/>
            </a:avLst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669867" y="365760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Features &amp; Deliverables</a:t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710743" y="1562100"/>
            <a:ext cx="3670800" cy="4297800"/>
          </a:xfrm>
          <a:prstGeom prst="roundRect">
            <a:avLst>
              <a:gd fmla="val 16667" name="adj"/>
            </a:avLst>
          </a:prstGeom>
          <a:solidFill>
            <a:srgbClr val="202440"/>
          </a:solidFill>
          <a:ln cap="flat" cmpd="sng" w="25400">
            <a:solidFill>
              <a:srgbClr val="388E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893618" y="1699260"/>
            <a:ext cx="31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Student App</a:t>
            </a:r>
            <a:endParaRPr b="1" sz="2800"/>
          </a:p>
        </p:txBody>
      </p:sp>
      <p:sp>
        <p:nvSpPr>
          <p:cNvPr id="238" name="Google Shape;238;p19"/>
          <p:cNvSpPr/>
          <p:nvPr/>
        </p:nvSpPr>
        <p:spPr>
          <a:xfrm>
            <a:off x="1167938" y="2254135"/>
            <a:ext cx="2560200" cy="27300"/>
          </a:xfrm>
          <a:prstGeom prst="roundRect">
            <a:avLst>
              <a:gd fmla="val 16667" name="adj"/>
            </a:avLst>
          </a:prstGeom>
          <a:solidFill>
            <a:srgbClr val="388E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811893" y="2572526"/>
            <a:ext cx="34746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Profile &amp; onboarding</a:t>
            </a:r>
            <a:endParaRPr b="0" i="0" sz="20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Stream-based suggestions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Hierarchical drill-down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Search &amp; bookmarks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Offline data caching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Quiz &amp; feedback support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4551218" y="1562100"/>
            <a:ext cx="3474600" cy="4297800"/>
          </a:xfrm>
          <a:prstGeom prst="roundRect">
            <a:avLst>
              <a:gd fmla="val 16667" name="adj"/>
            </a:avLst>
          </a:prstGeom>
          <a:solidFill>
            <a:srgbClr val="202440"/>
          </a:solidFill>
          <a:ln cap="flat" cmpd="sng" w="254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4734098" y="1699260"/>
            <a:ext cx="31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E88E5"/>
                </a:solidFill>
                <a:latin typeface="Calibri"/>
                <a:ea typeface="Calibri"/>
                <a:cs typeface="Calibri"/>
                <a:sym typeface="Calibri"/>
              </a:rPr>
              <a:t>Admin Panel</a:t>
            </a:r>
            <a:endParaRPr sz="2800"/>
          </a:p>
        </p:txBody>
      </p:sp>
      <p:sp>
        <p:nvSpPr>
          <p:cNvPr id="242" name="Google Shape;242;p19"/>
          <p:cNvSpPr/>
          <p:nvPr/>
        </p:nvSpPr>
        <p:spPr>
          <a:xfrm>
            <a:off x="5008418" y="2202180"/>
            <a:ext cx="2560200" cy="27300"/>
          </a:xfrm>
          <a:prstGeom prst="roundRect">
            <a:avLst>
              <a:gd fmla="val 16667" name="adj"/>
            </a:avLst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4551227" y="2572525"/>
            <a:ext cx="34584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CRUD for all entities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Stream &amp; node management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Book &amp; institute Management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No-code content updates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Real-time API integration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8391698" y="1562100"/>
            <a:ext cx="3474600" cy="4297800"/>
          </a:xfrm>
          <a:prstGeom prst="roundRect">
            <a:avLst>
              <a:gd fmla="val 16667" name="adj"/>
            </a:avLst>
          </a:prstGeom>
          <a:solidFill>
            <a:srgbClr val="202440"/>
          </a:solidFill>
          <a:ln cap="flat" cmpd="sng" w="25400">
            <a:solidFill>
              <a:srgbClr val="FF8F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8574578" y="1699260"/>
            <a:ext cx="31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8F00"/>
                </a:solidFill>
                <a:latin typeface="Calibri"/>
                <a:ea typeface="Calibri"/>
                <a:cs typeface="Calibri"/>
                <a:sym typeface="Calibri"/>
              </a:rPr>
              <a:t>Backend API</a:t>
            </a:r>
            <a:endParaRPr sz="2800"/>
          </a:p>
        </p:txBody>
      </p:sp>
      <p:sp>
        <p:nvSpPr>
          <p:cNvPr id="246" name="Google Shape;246;p19"/>
          <p:cNvSpPr/>
          <p:nvPr/>
        </p:nvSpPr>
        <p:spPr>
          <a:xfrm>
            <a:off x="8848898" y="2202180"/>
            <a:ext cx="2560200" cy="27300"/>
          </a:xfrm>
          <a:prstGeom prst="roundRect">
            <a:avLst>
              <a:gd fmla="val 16667" name="adj"/>
            </a:avLst>
          </a:prstGeom>
          <a:solidFill>
            <a:srgbClr val="FF8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8528803" y="2598955"/>
            <a:ext cx="32004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Public read endpoints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Admin write endpoints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Blueprint-based routes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JWT access control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CORS support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Modular &amp; extensible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0" y="6784848"/>
            <a:ext cx="12191695" cy="73152"/>
          </a:xfrm>
          <a:prstGeom prst="roundRect">
            <a:avLst>
              <a:gd fmla="val 16667" name="adj"/>
            </a:avLst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"/>
          <p:cNvSpPr/>
          <p:nvPr/>
        </p:nvSpPr>
        <p:spPr>
          <a:xfrm>
            <a:off x="0" y="0"/>
            <a:ext cx="12191700" cy="63900"/>
          </a:xfrm>
          <a:prstGeom prst="rect">
            <a:avLst/>
          </a:prstGeom>
          <a:solidFill>
            <a:srgbClr val="388E3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0" y="6793992"/>
            <a:ext cx="12191700" cy="63900"/>
          </a:xfrm>
          <a:prstGeom prst="rect">
            <a:avLst/>
          </a:prstGeom>
          <a:solidFill>
            <a:srgbClr val="388E3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739149" y="320050"/>
            <a:ext cx="9859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is Live — Early Access on Google Play Store</a:t>
            </a:r>
            <a:endParaRPr sz="1500"/>
          </a:p>
        </p:txBody>
      </p:sp>
      <p:sp>
        <p:nvSpPr>
          <p:cNvPr id="256" name="Google Shape;256;p20"/>
          <p:cNvSpPr txBox="1"/>
          <p:nvPr/>
        </p:nvSpPr>
        <p:spPr>
          <a:xfrm>
            <a:off x="739149" y="960127"/>
            <a:ext cx="985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CareerPath is already published and available for initial feedback</a:t>
            </a:r>
            <a:r>
              <a:rPr lang="en-US" sz="1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/>
          </a:p>
        </p:txBody>
      </p:sp>
      <p:sp>
        <p:nvSpPr>
          <p:cNvPr id="257" name="Google Shape;257;p20"/>
          <p:cNvSpPr/>
          <p:nvPr/>
        </p:nvSpPr>
        <p:spPr>
          <a:xfrm>
            <a:off x="756450" y="1554475"/>
            <a:ext cx="6217800" cy="4257900"/>
          </a:xfrm>
          <a:prstGeom prst="roundRect">
            <a:avLst>
              <a:gd fmla="val 16667" name="adj"/>
            </a:avLst>
          </a:prstGeom>
          <a:solidFill>
            <a:srgbClr val="1A3A1A"/>
          </a:solidFill>
          <a:ln cap="flat" cmpd="sng" w="19050">
            <a:solidFill>
              <a:srgbClr val="388E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967740" y="1691640"/>
            <a:ext cx="576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What's Already Live</a:t>
            </a:r>
            <a:endParaRPr sz="2400"/>
          </a:p>
        </p:txBody>
      </p:sp>
      <p:sp>
        <p:nvSpPr>
          <p:cNvPr id="259" name="Google Shape;259;p20"/>
          <p:cNvSpPr txBox="1"/>
          <p:nvPr/>
        </p:nvSpPr>
        <p:spPr>
          <a:xfrm>
            <a:off x="799968" y="2367075"/>
            <a:ext cx="59922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asic career data populated across multiple streams</a:t>
            </a:r>
            <a:endParaRPr b="0" i="0" sz="24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Stream → Category → Sub-Category hierarchy browsable</a:t>
            </a:r>
            <a:endParaRPr sz="24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Student onboarding &amp; profile setup</a:t>
            </a:r>
            <a:endParaRPr sz="24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Search and explore career paths</a:t>
            </a:r>
            <a:endParaRPr sz="23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Bookmark and save interesting options</a:t>
            </a:r>
            <a:endParaRPr sz="24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7223760" y="1554480"/>
            <a:ext cx="4389000" cy="4114800"/>
          </a:xfrm>
          <a:prstGeom prst="roundRect">
            <a:avLst>
              <a:gd fmla="val 16667" name="adj"/>
            </a:avLst>
          </a:prstGeom>
          <a:solidFill>
            <a:srgbClr val="202440"/>
          </a:solidFill>
          <a:ln cap="flat" cmpd="sng" w="1905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1523850" y="5997745"/>
            <a:ext cx="9074700" cy="554100"/>
          </a:xfrm>
          <a:prstGeom prst="roundRect">
            <a:avLst>
              <a:gd fmla="val 16667" name="adj"/>
            </a:avLst>
          </a:prstGeom>
          <a:solidFill>
            <a:srgbClr val="388E3C"/>
          </a:solidFill>
          <a:ln>
            <a:noFill/>
          </a:ln>
          <a:effectLst>
            <a:outerShdw blurRad="39698" rotWithShape="0" dir="5400000" dist="22826">
              <a:srgbClr val="000000">
                <a:alpha val="34900"/>
              </a:srgbClr>
            </a:outerShdw>
          </a:effectLst>
        </p:spPr>
        <p:txBody>
          <a:bodyPr anchorCtr="0" anchor="ctr" bIns="45350" lIns="90725" spcFirstLastPara="1" rIns="90725" wrap="square" tIns="45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1523850" y="6049700"/>
            <a:ext cx="90747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350" lIns="90725" spcFirstLastPara="1" rIns="90725" wrap="square" tIns="453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89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Download now</a:t>
            </a:r>
            <a:r>
              <a:rPr lang="en-US" sz="2189"/>
              <a:t> !!</a:t>
            </a:r>
            <a:endParaRPr sz="2189"/>
          </a:p>
        </p:txBody>
      </p:sp>
      <p:pic>
        <p:nvPicPr>
          <p:cNvPr id="263" name="Google Shape;263;p20" title="image.jpeg"/>
          <p:cNvPicPr preferRelativeResize="0"/>
          <p:nvPr/>
        </p:nvPicPr>
        <p:blipFill rotWithShape="1">
          <a:blip r:embed="rId4">
            <a:alphaModFix/>
          </a:blip>
          <a:srcRect b="35117" l="0" r="0" t="4884"/>
          <a:stretch/>
        </p:blipFill>
        <p:spPr>
          <a:xfrm>
            <a:off x="7920538" y="1602700"/>
            <a:ext cx="2995425" cy="401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"/>
          <p:cNvSpPr/>
          <p:nvPr/>
        </p:nvSpPr>
        <p:spPr>
          <a:xfrm>
            <a:off x="0" y="0"/>
            <a:ext cx="12191700" cy="63900"/>
          </a:xfrm>
          <a:prstGeom prst="rect">
            <a:avLst/>
          </a:prstGeom>
          <a:solidFill>
            <a:srgbClr val="388E3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0" y="6793992"/>
            <a:ext cx="12191700" cy="63900"/>
          </a:xfrm>
          <a:prstGeom prst="rect">
            <a:avLst/>
          </a:prstGeom>
          <a:solidFill>
            <a:srgbClr val="388E3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548640" y="425873"/>
            <a:ext cx="110943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Road Ahead</a:t>
            </a:r>
            <a:endParaRPr sz="1500"/>
          </a:p>
        </p:txBody>
      </p:sp>
      <p:sp>
        <p:nvSpPr>
          <p:cNvPr id="271" name="Google Shape;271;p21"/>
          <p:cNvSpPr/>
          <p:nvPr/>
        </p:nvSpPr>
        <p:spPr>
          <a:xfrm>
            <a:off x="548650" y="1554474"/>
            <a:ext cx="5303400" cy="3303300"/>
          </a:xfrm>
          <a:prstGeom prst="roundRect">
            <a:avLst>
              <a:gd fmla="val 16667" name="adj"/>
            </a:avLst>
          </a:prstGeom>
          <a:solidFill>
            <a:srgbClr val="1A3A1A"/>
          </a:solidFill>
          <a:ln cap="flat" cmpd="sng" w="19050">
            <a:solidFill>
              <a:srgbClr val="388E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777240" y="1691640"/>
            <a:ext cx="484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E88E5"/>
                </a:solidFill>
                <a:latin typeface="Calibri"/>
                <a:ea typeface="Calibri"/>
                <a:cs typeface="Calibri"/>
                <a:sym typeface="Calibri"/>
              </a:rPr>
              <a:t>What We Built</a:t>
            </a:r>
            <a:endParaRPr b="1" sz="2700">
              <a:solidFill>
                <a:srgbClr val="1E88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6173600" y="1554475"/>
            <a:ext cx="5591400" cy="3303300"/>
          </a:xfrm>
          <a:prstGeom prst="roundRect">
            <a:avLst>
              <a:gd fmla="val 16667" name="adj"/>
            </a:avLst>
          </a:prstGeom>
          <a:solidFill>
            <a:srgbClr val="2A2A4A"/>
          </a:solidFill>
          <a:ln cap="flat" cmpd="sng" w="1905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548650" y="2342878"/>
            <a:ext cx="52194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Structured, hierarchical career data model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Flutter app for students (on Play Store)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Admin panel for content management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Flask backend with REST APIs &amp; JWT auth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Bridges the discovery gap for rural students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6537960" y="1691640"/>
            <a:ext cx="484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88E5"/>
                </a:solidFill>
                <a:latin typeface="Calibri"/>
                <a:ea typeface="Calibri"/>
                <a:cs typeface="Calibri"/>
                <a:sym typeface="Calibri"/>
              </a:rPr>
              <a:t>Road Ahead (Semester 4)</a:t>
            </a:r>
            <a:endParaRPr b="1" sz="2100"/>
          </a:p>
        </p:txBody>
      </p:sp>
      <p:sp>
        <p:nvSpPr>
          <p:cNvPr id="276" name="Google Shape;276;p21"/>
          <p:cNvSpPr txBox="1"/>
          <p:nvPr/>
        </p:nvSpPr>
        <p:spPr>
          <a:xfrm>
            <a:off x="6255800" y="2382250"/>
            <a:ext cx="54270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Populate 100+ career paths with verified data</a:t>
            </a:r>
            <a:endParaRPr b="0" i="0" sz="20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Advanced search &amp; strength-based filtering</a:t>
            </a:r>
            <a:endParaRPr sz="20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Analytics dashboard for usage insights</a:t>
            </a:r>
            <a:endParaRPr sz="19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AI-powered recommendation engine</a:t>
            </a:r>
            <a:endParaRPr sz="19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Multi-language / localization support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5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1097250" y="5221202"/>
            <a:ext cx="9966900" cy="1200900"/>
          </a:xfrm>
          <a:prstGeom prst="roundRect">
            <a:avLst>
              <a:gd fmla="val 16667" name="adj"/>
            </a:avLst>
          </a:prstGeom>
          <a:solidFill>
            <a:srgbClr val="2A2A4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1371600" y="5463282"/>
            <a:ext cx="9418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CareerPath</a:t>
            </a:r>
            <a:r>
              <a:rPr b="0" i="0" lang="en-US" sz="2200" u="none" cap="none" strike="noStrik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 is not a replacement for LLMs — it's the structured map</a:t>
            </a:r>
            <a:endParaRPr sz="19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that helps students know what to explore, even before they know what to ask.</a:t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/>
          <p:nvPr/>
        </p:nvSpPr>
        <p:spPr>
          <a:xfrm>
            <a:off x="0" y="0"/>
            <a:ext cx="12191700" cy="63900"/>
          </a:xfrm>
          <a:prstGeom prst="rect">
            <a:avLst/>
          </a:prstGeom>
          <a:solidFill>
            <a:srgbClr val="FF8F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0" y="6793992"/>
            <a:ext cx="12191700" cy="63900"/>
          </a:xfrm>
          <a:prstGeom prst="rect">
            <a:avLst/>
          </a:prstGeom>
          <a:solidFill>
            <a:srgbClr val="FF8F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548640" y="320040"/>
            <a:ext cx="1109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Vision — Beyond M.Tech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548640" y="960120"/>
            <a:ext cx="1109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CareerPath doesn't end with the degree</a:t>
            </a: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it evolves into a long-term ecosystem.</a:t>
            </a:r>
            <a:endParaRPr/>
          </a:p>
        </p:txBody>
      </p:sp>
      <p:sp>
        <p:nvSpPr>
          <p:cNvPr id="287" name="Google Shape;287;p22"/>
          <p:cNvSpPr/>
          <p:nvPr/>
        </p:nvSpPr>
        <p:spPr>
          <a:xfrm>
            <a:off x="426500" y="1584012"/>
            <a:ext cx="3461400" cy="3665700"/>
          </a:xfrm>
          <a:prstGeom prst="roundRect">
            <a:avLst>
              <a:gd fmla="val 16667" name="adj"/>
            </a:avLst>
          </a:prstGeom>
          <a:solidFill>
            <a:srgbClr val="202440"/>
          </a:solidFill>
          <a:ln cap="flat" cmpd="sng" w="1905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716442" y="1885508"/>
            <a:ext cx="365700" cy="365700"/>
          </a:xfrm>
          <a:prstGeom prst="ellipse">
            <a:avLst/>
          </a:prstGeom>
          <a:solidFill>
            <a:srgbClr val="1E88E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716455" y="1864395"/>
            <a:ext cx="3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/>
          </a:p>
        </p:txBody>
      </p:sp>
      <p:sp>
        <p:nvSpPr>
          <p:cNvPr id="290" name="Google Shape;290;p22"/>
          <p:cNvSpPr txBox="1"/>
          <p:nvPr/>
        </p:nvSpPr>
        <p:spPr>
          <a:xfrm>
            <a:off x="1143017" y="1721178"/>
            <a:ext cx="2651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88E5"/>
                </a:solidFill>
                <a:latin typeface="Calibri"/>
                <a:ea typeface="Calibri"/>
                <a:cs typeface="Calibri"/>
                <a:sym typeface="Calibri"/>
              </a:rPr>
              <a:t>Scholarship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88E5"/>
                </a:solidFill>
                <a:latin typeface="Calibri"/>
                <a:ea typeface="Calibri"/>
                <a:cs typeface="Calibri"/>
                <a:sym typeface="Calibri"/>
              </a:rPr>
              <a:t>Discovery</a:t>
            </a:r>
            <a:endParaRPr sz="1800"/>
          </a:p>
        </p:txBody>
      </p:sp>
      <p:sp>
        <p:nvSpPr>
          <p:cNvPr id="291" name="Google Shape;291;p22"/>
          <p:cNvSpPr txBox="1"/>
          <p:nvPr/>
        </p:nvSpPr>
        <p:spPr>
          <a:xfrm>
            <a:off x="426500" y="2700543"/>
            <a:ext cx="3461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List colleges &amp; institutes that</a:t>
            </a: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offer scholarships</a:t>
            </a:r>
            <a:endParaRPr sz="15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Show eligibility &amp; steps to apply for each scholarship</a:t>
            </a:r>
            <a:endParaRPr sz="15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Help students find affordable paths</a:t>
            </a:r>
            <a:endParaRPr sz="15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8252977" y="1554475"/>
            <a:ext cx="3461400" cy="3665700"/>
          </a:xfrm>
          <a:prstGeom prst="roundRect">
            <a:avLst>
              <a:gd fmla="val 16667" name="adj"/>
            </a:avLst>
          </a:prstGeom>
          <a:solidFill>
            <a:srgbClr val="202440"/>
          </a:solidFill>
          <a:ln cap="flat" cmpd="sng" w="19050">
            <a:solidFill>
              <a:srgbClr val="FF8F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8417767" y="1821157"/>
            <a:ext cx="365700" cy="365700"/>
          </a:xfrm>
          <a:prstGeom prst="ellipse">
            <a:avLst/>
          </a:prstGeom>
          <a:solidFill>
            <a:srgbClr val="FF8F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8409256" y="1819352"/>
            <a:ext cx="3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/>
          </a:p>
        </p:txBody>
      </p:sp>
      <p:sp>
        <p:nvSpPr>
          <p:cNvPr id="295" name="Google Shape;295;p22"/>
          <p:cNvSpPr txBox="1"/>
          <p:nvPr/>
        </p:nvSpPr>
        <p:spPr>
          <a:xfrm>
            <a:off x="8793327" y="1691640"/>
            <a:ext cx="2651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8F00"/>
                </a:solidFill>
                <a:latin typeface="Calibri"/>
                <a:ea typeface="Calibri"/>
                <a:cs typeface="Calibri"/>
                <a:sym typeface="Calibri"/>
              </a:rPr>
              <a:t>More on the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8F00"/>
                </a:solidFill>
                <a:latin typeface="Calibri"/>
                <a:ea typeface="Calibri"/>
                <a:cs typeface="Calibri"/>
                <a:sym typeface="Calibri"/>
              </a:rPr>
              <a:t>Horizon</a:t>
            </a:r>
            <a:endParaRPr sz="1800"/>
          </a:p>
        </p:txBody>
      </p:sp>
      <p:sp>
        <p:nvSpPr>
          <p:cNvPr id="296" name="Google Shape;296;p22"/>
          <p:cNvSpPr txBox="1"/>
          <p:nvPr/>
        </p:nvSpPr>
        <p:spPr>
          <a:xfrm>
            <a:off x="8291340" y="2673018"/>
            <a:ext cx="33846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Mentorship matching — connect </a:t>
            </a: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students with alumni</a:t>
            </a:r>
            <a:endParaRPr sz="15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Regional language support for wider accessibility</a:t>
            </a:r>
            <a:endParaRPr sz="15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Community forums for peer help</a:t>
            </a:r>
            <a:endParaRPr sz="15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1097275" y="5519599"/>
            <a:ext cx="9966900" cy="902700"/>
          </a:xfrm>
          <a:prstGeom prst="roundRect">
            <a:avLst>
              <a:gd fmla="val 16667" name="adj"/>
            </a:avLst>
          </a:prstGeom>
          <a:solidFill>
            <a:srgbClr val="2A2A4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1371595" y="5623508"/>
            <a:ext cx="9418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We will keep evolving, onboarding more colleges, adding scholarship data,</a:t>
            </a:r>
            <a:endParaRPr sz="1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and building community-driven features to make career guidance truly accessible.</a:t>
            </a:r>
            <a:endParaRPr sz="1800"/>
          </a:p>
        </p:txBody>
      </p:sp>
      <p:sp>
        <p:nvSpPr>
          <p:cNvPr id="299" name="Google Shape;299;p22"/>
          <p:cNvSpPr/>
          <p:nvPr/>
        </p:nvSpPr>
        <p:spPr>
          <a:xfrm>
            <a:off x="4222800" y="1584000"/>
            <a:ext cx="3592200" cy="3665700"/>
          </a:xfrm>
          <a:prstGeom prst="roundRect">
            <a:avLst>
              <a:gd fmla="val 16667" name="adj"/>
            </a:avLst>
          </a:prstGeom>
          <a:solidFill>
            <a:srgbClr val="202440"/>
          </a:solidFill>
          <a:ln cap="flat" cmpd="sng" w="19050">
            <a:solidFill>
              <a:srgbClr val="388E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4501295" y="1796108"/>
            <a:ext cx="365700" cy="365700"/>
          </a:xfrm>
          <a:prstGeom prst="ellipse">
            <a:avLst/>
          </a:prstGeom>
          <a:solidFill>
            <a:srgbClr val="388E3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4501307" y="1767752"/>
            <a:ext cx="3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/>
          </a:p>
        </p:txBody>
      </p:sp>
      <p:sp>
        <p:nvSpPr>
          <p:cNvPr id="302" name="Google Shape;302;p22"/>
          <p:cNvSpPr txBox="1"/>
          <p:nvPr/>
        </p:nvSpPr>
        <p:spPr>
          <a:xfrm>
            <a:off x="4853869" y="1721178"/>
            <a:ext cx="2651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College &amp; Counselor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Onboarding</a:t>
            </a:r>
            <a:endParaRPr sz="1800"/>
          </a:p>
        </p:txBody>
      </p:sp>
      <p:sp>
        <p:nvSpPr>
          <p:cNvPr id="303" name="Google Shape;303;p22"/>
          <p:cNvSpPr txBox="1"/>
          <p:nvPr/>
        </p:nvSpPr>
        <p:spPr>
          <a:xfrm>
            <a:off x="4222825" y="2643775"/>
            <a:ext cx="35922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Partner with colleges to onboard </a:t>
            </a:r>
            <a:r>
              <a:rPr lang="en-US" sz="16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their career counselors</a:t>
            </a:r>
            <a:endParaRPr sz="16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Counselors recommend paths directly to students</a:t>
            </a:r>
            <a:endParaRPr sz="16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Build a verified counselor network</a:t>
            </a:r>
            <a:endParaRPr sz="16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/>
          <p:nvPr/>
        </p:nvSpPr>
        <p:spPr>
          <a:xfrm>
            <a:off x="0" y="0"/>
            <a:ext cx="12191700" cy="63900"/>
          </a:xfrm>
          <a:prstGeom prst="rect">
            <a:avLst/>
          </a:prstGeom>
          <a:solidFill>
            <a:srgbClr val="388E3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0" y="6793992"/>
            <a:ext cx="12191700" cy="63900"/>
          </a:xfrm>
          <a:prstGeom prst="rect">
            <a:avLst/>
          </a:prstGeom>
          <a:solidFill>
            <a:srgbClr val="388E3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1371600" y="1285009"/>
            <a:ext cx="9418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CareerPath is not just an app —</a:t>
            </a:r>
            <a:endParaRPr sz="1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it's a mission to ensure no student</a:t>
            </a:r>
            <a:endParaRPr sz="1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is left behind because of lack of guidance.</a:t>
            </a:r>
            <a:endParaRPr sz="1800"/>
          </a:p>
        </p:txBody>
      </p:sp>
      <p:sp>
        <p:nvSpPr>
          <p:cNvPr id="311" name="Google Shape;311;p23"/>
          <p:cNvSpPr/>
          <p:nvPr/>
        </p:nvSpPr>
        <p:spPr>
          <a:xfrm>
            <a:off x="5029200" y="3017520"/>
            <a:ext cx="2103000" cy="36600"/>
          </a:xfrm>
          <a:prstGeom prst="rect">
            <a:avLst/>
          </a:prstGeom>
          <a:solidFill>
            <a:srgbClr val="388E3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 txBox="1"/>
          <p:nvPr/>
        </p:nvSpPr>
        <p:spPr>
          <a:xfrm>
            <a:off x="1371600" y="3521825"/>
            <a:ext cx="9418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1371600" y="4527665"/>
            <a:ext cx="9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Manvendra Pratap Singh  |  M25AI2122  |  IIT Jodhpur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1388918" y="4967547"/>
            <a:ext cx="9418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Supervisor</a:t>
            </a:r>
            <a:r>
              <a:rPr b="1" lang="en-US" sz="22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: Dr. Dinesh Mohan Joshi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